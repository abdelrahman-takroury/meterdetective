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26dc5d80fb4d1f" /><Relationship Type="http://schemas.openxmlformats.org/officeDocument/2006/relationships/extended-properties" Target="/docProps/app.xml" Id="R8053b836c828494c" /><Relationship Type="http://schemas.openxmlformats.org/officeDocument/2006/relationships/officeDocument" Target="/ppt/presentation.xml" Id="Rbd3276556b6d4289" /></Relationships>
</file>

<file path=ppt/presentation.xml><?xml version="1.0" encoding="utf-8"?>
<p:presentation xmlns:p="http://schemas.openxmlformats.org/presentationml/2006/main">
  <p:sldMasterIdLst>
    <p:sldMasterId xmlns:r="http://schemas.openxmlformats.org/officeDocument/2006/relationships" id="2147483648" r:id="Rc36ec34d48684c0f"/>
  </p:sldMasterIdLst>
  <p:notesMasterIdLst>
    <p:notesMasterId xmlns:r="http://schemas.openxmlformats.org/officeDocument/2006/relationships" r:id="Rf5c9f67f58ef40e5"/>
  </p:notesMasterIdLst>
  <p:sldIdLst>
    <p:sldId xmlns:r="http://schemas.openxmlformats.org/officeDocument/2006/relationships" id="256" r:id="R4f072c5af6b9453e"/>
    <p:sldId xmlns:r="http://schemas.openxmlformats.org/officeDocument/2006/relationships" id="257" r:id="Re729e9c4c25c4085"/>
    <p:sldId xmlns:r="http://schemas.openxmlformats.org/officeDocument/2006/relationships" id="258" r:id="Re9ec16ad151d4a0f"/>
    <p:sldId xmlns:r="http://schemas.openxmlformats.org/officeDocument/2006/relationships" id="259" r:id="R22bddf13f58f418b"/>
    <p:sldId xmlns:r="http://schemas.openxmlformats.org/officeDocument/2006/relationships" id="260" r:id="R057f182823db4333"/>
    <p:sldId xmlns:r="http://schemas.openxmlformats.org/officeDocument/2006/relationships" id="261" r:id="Rf189b02f7a1244a8"/>
    <p:sldId xmlns:r="http://schemas.openxmlformats.org/officeDocument/2006/relationships" id="262" r:id="R3dfbe69227df486f"/>
    <p:sldId xmlns:r="http://schemas.openxmlformats.org/officeDocument/2006/relationships" id="263" r:id="R00f19211e02649be"/>
    <p:sldId xmlns:r="http://schemas.openxmlformats.org/officeDocument/2006/relationships" id="264" r:id="Ra2c14339a22147e2"/>
    <p:sldId xmlns:r="http://schemas.openxmlformats.org/officeDocument/2006/relationships" id="265" r:id="R4652b4cc83444260"/>
    <p:sldId xmlns:r="http://schemas.openxmlformats.org/officeDocument/2006/relationships" id="266" r:id="Rad292e0b8839427e"/>
    <p:sldId xmlns:r="http://schemas.openxmlformats.org/officeDocument/2006/relationships" id="267" r:id="R1889841802e54ca2"/>
    <p:sldId xmlns:r="http://schemas.openxmlformats.org/officeDocument/2006/relationships" id="268" r:id="Rbaf5371f09f24503"/>
    <p:sldId xmlns:r="http://schemas.openxmlformats.org/officeDocument/2006/relationships" id="269" r:id="Rdd3e7dc6bfb9498e"/>
    <p:sldId xmlns:r="http://schemas.openxmlformats.org/officeDocument/2006/relationships" id="270" r:id="R9698d93a324f4562"/>
    <p:sldId xmlns:r="http://schemas.openxmlformats.org/officeDocument/2006/relationships" id="271" r:id="Rf12b67d0b0e74e46"/>
    <p:sldId xmlns:r="http://schemas.openxmlformats.org/officeDocument/2006/relationships" id="272" r:id="R4bd88774761a4acf"/>
    <p:sldId xmlns:r="http://schemas.openxmlformats.org/officeDocument/2006/relationships" id="273" r:id="R99aacbda376f4178"/>
    <p:sldId xmlns:r="http://schemas.openxmlformats.org/officeDocument/2006/relationships" id="274" r:id="Rd80ba216f2a84688"/>
    <p:sldId xmlns:r="http://schemas.openxmlformats.org/officeDocument/2006/relationships" id="275" r:id="R9fcbd8d4af464775"/>
    <p:sldId xmlns:r="http://schemas.openxmlformats.org/officeDocument/2006/relationships" id="276" r:id="R72df909099544170"/>
    <p:sldId xmlns:r="http://schemas.openxmlformats.org/officeDocument/2006/relationships" id="277" r:id="R4bba655f52414f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ace676069c4492" /><Relationship Type="http://schemas.openxmlformats.org/officeDocument/2006/relationships/slideMaster" Target="/ppt/slideMasters/slideMaster1.xml" Id="Rc36ec34d48684c0f" /><Relationship Type="http://schemas.openxmlformats.org/officeDocument/2006/relationships/notesMaster" Target="/ppt/notesMasters/notesMaster1.xml" Id="Rf5c9f67f58ef40e5" /><Relationship Type="http://schemas.openxmlformats.org/officeDocument/2006/relationships/presProps" Target="/ppt/presProps.xml" Id="R20e07a42d0b34a5e" /><Relationship Type="http://schemas.openxmlformats.org/officeDocument/2006/relationships/viewProps" Target="/ppt/viewProps.xml" Id="R0c2682b87fd24911" /><Relationship Type="http://schemas.openxmlformats.org/officeDocument/2006/relationships/tableStyles" Target="/ppt/tableStyles.xml" Id="R7e94eb328f6e4fa6" /><Relationship Type="http://schemas.openxmlformats.org/officeDocument/2006/relationships/slide" Target="/ppt/slides/slide1.xml" Id="R4f072c5af6b9453e" /><Relationship Type="http://schemas.openxmlformats.org/officeDocument/2006/relationships/slide" Target="/ppt/slides/slide2.xml" Id="Re729e9c4c25c4085" /><Relationship Type="http://schemas.openxmlformats.org/officeDocument/2006/relationships/slide" Target="/ppt/slides/slide3.xml" Id="Re9ec16ad151d4a0f" /><Relationship Type="http://schemas.openxmlformats.org/officeDocument/2006/relationships/slide" Target="/ppt/slides/slide4.xml" Id="R22bddf13f58f418b" /><Relationship Type="http://schemas.openxmlformats.org/officeDocument/2006/relationships/slide" Target="/ppt/slides/slide5.xml" Id="R057f182823db4333" /><Relationship Type="http://schemas.openxmlformats.org/officeDocument/2006/relationships/slide" Target="/ppt/slides/slide6.xml" Id="Rf189b02f7a1244a8" /><Relationship Type="http://schemas.openxmlformats.org/officeDocument/2006/relationships/slide" Target="/ppt/slides/slide7.xml" Id="R3dfbe69227df486f" /><Relationship Type="http://schemas.openxmlformats.org/officeDocument/2006/relationships/slide" Target="/ppt/slides/slide8.xml" Id="R00f19211e02649be" /><Relationship Type="http://schemas.openxmlformats.org/officeDocument/2006/relationships/slide" Target="/ppt/slides/slide9.xml" Id="Ra2c14339a22147e2" /><Relationship Type="http://schemas.openxmlformats.org/officeDocument/2006/relationships/slide" Target="/ppt/slides/slide10.xml" Id="R4652b4cc83444260" /><Relationship Type="http://schemas.openxmlformats.org/officeDocument/2006/relationships/slide" Target="/ppt/slides/slide11.xml" Id="Rad292e0b8839427e" /><Relationship Type="http://schemas.openxmlformats.org/officeDocument/2006/relationships/slide" Target="/ppt/slides/slide12.xml" Id="R1889841802e54ca2" /><Relationship Type="http://schemas.openxmlformats.org/officeDocument/2006/relationships/slide" Target="/ppt/slides/slide13.xml" Id="Rbaf5371f09f24503" /><Relationship Type="http://schemas.openxmlformats.org/officeDocument/2006/relationships/slide" Target="/ppt/slides/slide14.xml" Id="Rdd3e7dc6bfb9498e" /><Relationship Type="http://schemas.openxmlformats.org/officeDocument/2006/relationships/slide" Target="/ppt/slides/slide15.xml" Id="R9698d93a324f4562" /><Relationship Type="http://schemas.openxmlformats.org/officeDocument/2006/relationships/slide" Target="/ppt/slides/slide16.xml" Id="Rf12b67d0b0e74e46" /><Relationship Type="http://schemas.openxmlformats.org/officeDocument/2006/relationships/slide" Target="/ppt/slides/slide17.xml" Id="R4bd88774761a4acf" /><Relationship Type="http://schemas.openxmlformats.org/officeDocument/2006/relationships/slide" Target="/ppt/slides/slide18.xml" Id="R99aacbda376f4178" /><Relationship Type="http://schemas.openxmlformats.org/officeDocument/2006/relationships/slide" Target="/ppt/slides/slide19.xml" Id="Rd80ba216f2a84688" /><Relationship Type="http://schemas.openxmlformats.org/officeDocument/2006/relationships/slide" Target="/ppt/slides/slide20.xml" Id="R9fcbd8d4af464775" /><Relationship Type="http://schemas.openxmlformats.org/officeDocument/2006/relationships/slide" Target="/ppt/slides/slide21.xml" Id="R72df909099544170" /><Relationship Type="http://schemas.openxmlformats.org/officeDocument/2006/relationships/slide" Target="/ppt/slides/slide22.xml" Id="R4bba655f52414f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69e03705ab46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BOT Color Palette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150ed6c93f485b" /><Relationship Type="http://schemas.openxmlformats.org/officeDocument/2006/relationships/notesMaster" Target="/ppt/notesMasters/notesMaster1.xml" Id="R3a2a3dd6dc6541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9926f3324a4df9" /><Relationship Type="http://schemas.openxmlformats.org/officeDocument/2006/relationships/notesMaster" Target="/ppt/notesMasters/notesMaster1.xml" Id="R107d11742a3445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f8602327ea41da" /><Relationship Type="http://schemas.openxmlformats.org/officeDocument/2006/relationships/notesMaster" Target="/ppt/notesMasters/notesMaster1.xml" Id="Rd966cdd3772547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28ea9ebf6945ee" /><Relationship Type="http://schemas.openxmlformats.org/officeDocument/2006/relationships/notesMaster" Target="/ppt/notesMasters/notesMaster1.xml" Id="Ref3f103ee98143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c87f41bf24e86" /><Relationship Type="http://schemas.openxmlformats.org/officeDocument/2006/relationships/notesMaster" Target="/ppt/notesMasters/notesMaster1.xml" Id="R798741e1dc7e4d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0509aee2754248" /><Relationship Type="http://schemas.openxmlformats.org/officeDocument/2006/relationships/notesMaster" Target="/ppt/notesMasters/notesMaster1.xml" Id="R081dc1fae96f4a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0f57d672514ecb" /><Relationship Type="http://schemas.openxmlformats.org/officeDocument/2006/relationships/notesMaster" Target="/ppt/notesMasters/notesMaster1.xml" Id="R7d68ff9f23a943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46ea7fc6c94a51" /><Relationship Type="http://schemas.openxmlformats.org/officeDocument/2006/relationships/notesMaster" Target="/ppt/notesMasters/notesMaster1.xml" Id="R6f2f4e2d81ef4f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f22f9182a94f7f" /><Relationship Type="http://schemas.openxmlformats.org/officeDocument/2006/relationships/notesMaster" Target="/ppt/notesMasters/notesMaster1.xml" Id="Rf67c805ebb7745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87967f39b0458f" /><Relationship Type="http://schemas.openxmlformats.org/officeDocument/2006/relationships/notesMaster" Target="/ppt/notesMasters/notesMaster1.xml" Id="Re232f413fe0340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b3014a49a14ac9" /><Relationship Type="http://schemas.openxmlformats.org/officeDocument/2006/relationships/notesMaster" Target="/ppt/notesMasters/notesMaster1.xml" Id="Rc3de59aa794242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ed102e7dd04e4c" /><Relationship Type="http://schemas.openxmlformats.org/officeDocument/2006/relationships/notesMaster" Target="/ppt/notesMasters/notesMaster1.xml" Id="Rfe1de089c98d4a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386bbd835f4c68" /><Relationship Type="http://schemas.openxmlformats.org/officeDocument/2006/relationships/notesMaster" Target="/ppt/notesMasters/notesMaster1.xml" Id="Rc233b910a01a49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dc22fb23124d33" /><Relationship Type="http://schemas.openxmlformats.org/officeDocument/2006/relationships/notesMaster" Target="/ppt/notesMasters/notesMaster1.xml" Id="R1e861c4e7cba4d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2a6c2839ec4436" /><Relationship Type="http://schemas.openxmlformats.org/officeDocument/2006/relationships/notesMaster" Target="/ppt/notesMasters/notesMaster1.xml" Id="Rdf9e5fa1d6614c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28b4018eb04919" /><Relationship Type="http://schemas.openxmlformats.org/officeDocument/2006/relationships/notesMaster" Target="/ppt/notesMasters/notesMaster1.xml" Id="Rd4db14f03a1248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300e8eba9b497d" /><Relationship Type="http://schemas.openxmlformats.org/officeDocument/2006/relationships/notesMaster" Target="/ppt/notesMasters/notesMaster1.xml" Id="R8377f1fa179642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2c10d0138b4a74" /><Relationship Type="http://schemas.openxmlformats.org/officeDocument/2006/relationships/notesMaster" Target="/ppt/notesMasters/notesMaster1.xml" Id="R8a5fbb36c68643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e0a6e6354949be" /><Relationship Type="http://schemas.openxmlformats.org/officeDocument/2006/relationships/notesMaster" Target="/ppt/notesMasters/notesMaster1.xml" Id="R1110e55f8f4e48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0c7daeb8b64d3e" /><Relationship Type="http://schemas.openxmlformats.org/officeDocument/2006/relationships/notesMaster" Target="/ppt/notesMasters/notesMaster1.xml" Id="R12dbceb438294bc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5e6d03bd3b492f" /><Relationship Type="http://schemas.openxmlformats.org/officeDocument/2006/relationships/notesMaster" Target="/ppt/notesMasters/notesMaster1.xml" Id="Rfd041ec3da9d40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fab1b99fb74e8f" /><Relationship Type="http://schemas.openxmlformats.org/officeDocument/2006/relationships/notesMaster" Target="/ppt/notesMasters/notesMaster1.xml" Id="Rd4e32589307a4d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0:00-0:45 | PRESENTER 1</a:t>
            </a:r>
            <a:endParaRPr/>
          </a:p>
          <a:p xmlns:a="http://schemas.openxmlformats.org/drawingml/2006/main">
            <a:r>
              <a:t/>
            </a:r>
            <a:endParaRPr/>
          </a:p>
          <a:p xmlns:a="http://schemas.openxmlformats.org/drawingml/2006/main">
            <a:r>
              <a:t>Opening hook:</a:t>
            </a:r>
            <a:endParaRPr/>
          </a:p>
          <a:p xmlns:a="http://schemas.openxmlformats.org/drawingml/2006/main">
            <a:r>
              <a:t>"A smart meter alert tells an operations team that something looks unusual. It does not tell them whether the data is wrong, whether the problem affects one customer or a whole transformer, what action to take, or whether that action worked. MeterDetective closes that gap."</a:t>
            </a:r>
            <a:endParaRPr/>
          </a:p>
          <a:p xmlns:a="http://schemas.openxmlformats.org/drawingml/2006/main">
            <a:r>
              <a:t/>
            </a:r>
            <a:endParaRPr/>
          </a:p>
          <a:p xmlns:a="http://schemas.openxmlformats.org/drawingml/2006/main">
            <a:r>
              <a:t>One-sentence pitch:</a:t>
            </a:r>
            <a:endParaRPr/>
          </a:p>
          <a:p xmlns:a="http://schemas.openxmlformats.org/drawingml/2006/main">
            <a:r>
              <a:t>"MeterDetective turns a meter anomaly into a prioritized, evidence-backed and auditable investigation while keeping the operator in control."</a:t>
            </a:r>
            <a:endParaRPr/>
          </a:p>
          <a:p xmlns:a="http://schemas.openxmlformats.org/drawingml/2006/main">
            <a:r>
              <a:t/>
            </a:r>
            <a:endParaRPr/>
          </a:p>
          <a:p xmlns:a="http://schemas.openxmlformats.org/drawingml/2006/main">
            <a:r>
              <a:t>Pause after the first sentence and face the judges. Do not explain the technology yet.</a:t>
            </a:r>
            <a:endParaRPr/>
          </a:p>
          <a:p xmlns:a="http://schemas.openxmlformats.org/drawingml/2006/main">
            <a:r>
              <a:t/>
            </a:r>
            <a:endParaRPr/>
          </a:p>
          <a:p xmlns:a="http://schemas.openxmlformats.org/drawingml/2006/main">
            <a:r>
              <a:t>Transition: "Let us begin with the operational problem behind every unexplained alert."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0:45-1:45 | PRESENTER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cost of an alert is not the notification. The cost is the investigation that follows. An operator has to check data quality, compare history, inspect related meters, decide whether the issue is local or shared, estimate impact and choose a safe response. After the response, the team still needs evidence that the condition recovered.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When these steps live across dashboards, spreadsheets and individual experience, response becomes slow and inconsistent. Alert fatigue grows because every signal asks for attention but offers little guidance."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Business message: The pain is manual investigation and uncertain decisions, not a lack of alerts.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"We designed MeterDetective to turn that fragmented process into one evidence trail."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1:45-2:45 | PRESENTER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"MeterDetective creates an investigation rather than another isolated alert. It first validates the data. It then gathers evidence from the meter's seasonal history, comparable meters, the network topology, transformer balance and available context.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system maintains competing explanations. New evidence can strengthen one explanation and weaken another. It estimates Revenue at Risk in Jordanian dinars, ranks the case against active work and proposes a next step. A person remains responsible for consequential decisions. Follow-up readings determine whether the case should close, continue monitoring or reopen."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Handoff to Presenter 2:</a:t>
            </a:r>
            <a:endParaRPr/>
          </a:p>
          <a:p xmlns:a="http://schemas.openxmlformats.org/drawingml/2006/main">
            <a:pPr marL="0" lvl="0" indent="0" algn="l">
              <a:spcBef>
                <a:spcPts val="0"/>
              </a:spcBef>
              <a:spcAft>
                <a:spcPts val="0"/>
              </a:spcAft>
              <a:buNone/>
            </a:pPr>
            <a:r>
              <a:t>"[PRESENTER 2] will now show how we built this investigation so that every conclusion remains traceable."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2:45-3:50 | PRESENTER 2</a:t>
            </a:r>
          </a:p>
          <a:p xmlns:a="http://schemas.openxmlformats.org/drawingml/2006/main">
            <a:r>
              <a:t/>
            </a:r>
          </a:p>
          <a:p xmlns:a="http://schemas.openxmlformats.org/drawingml/2006/main">
            <a:r>
              <a:t>"A reading enters an event-driven pipeline. Deterministic checks validate the data and calculate statistical anomaly signals. A persistent state machine then selects from a registry of typed tools. Those tools collect evidence, compare competing hypotheses, calculate financial exposure and place the case in the active queue.</a:t>
            </a:r>
          </a:p>
          <a:p xmlns:a="http://schemas.openxmlformats.org/drawingml/2006/main">
            <a:r>
              <a:t/>
            </a:r>
          </a:p>
          <a:p xmlns:a="http://schemas.openxmlformats.org/drawingml/2006/main">
            <a:r>
              <a:t>Any consequential recommendation passes through a recorded human approval. Follow-up readings then test whether the condition recovered.</a:t>
            </a:r>
          </a:p>
          <a:p xmlns:a="http://schemas.openxmlformats.org/drawingml/2006/main">
            <a:r>
              <a:t/>
            </a:r>
          </a:p>
          <a:p xmlns:a="http://schemas.openxmlformats.org/drawingml/2006/main">
            <a:r>
              <a:t>PostgreSQL and pgvector sit below the complete workflow. We persist the event, evidence, tool inputs and outputs, hypothesis history, approval, action and each report version. This makes the system inspectable after the demonstration and resilient to repeated event delivery."</a:t>
            </a:r>
          </a:p>
          <a:p xmlns:a="http://schemas.openxmlformats.org/drawingml/2006/main">
            <a:r>
              <a:t/>
            </a:r>
          </a:p>
          <a:p xmlns:a="http://schemas.openxmlformats.org/drawingml/2006/main">
            <a:r>
              <a:t>Technical proof points: FastAPI routes remain thin. Pydantic contracts reject invalid structures. SQLAlchemy and Alembic manage persistence and schema history. Idempotency prevents duplicate cases when an event is replayed.</a:t>
            </a:r>
          </a:p>
          <a:p xmlns:a="http://schemas.openxmlformats.org/drawingml/2006/main">
            <a:r>
              <a:t/>
            </a:r>
          </a:p>
          <a:p xmlns:a="http://schemas.openxmlformats.org/drawingml/2006/main">
            <a:r>
              <a:t>Transition: "The analytical design combines machine learning with evidence that operators can explain."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3:50-4:55 | PRESENTER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use a hybrid analytical approach. Isolation Forest provides an unsupervised machine learning signal. It helps identify unusual observations without requiring a labeled fraud dataset. We combine that signal with deterministic evidence: robust weekday and half-hour baselines, Pearson correlation for peer selection, transformer energy reconciliation and policy-based severity and triage.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matters because a utility operator needs more than a score. They need to know which reading failed, which peers disagreed, which threshold applied and which evidence changed the conclusion.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also prevent data leakage. Baselines and peer selection use only pre-event readings. Evaluation labels remain outside the runtime data mounted into the application."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Important wording: Say "unsupervised anomaly signal," not "a model trained to detect fraud."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"Around that analytical core, we built the engineering foundation required for a repeatable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4:55-5:55 | PRESENTER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product demonstrates more than analytics. The agentic workflow coordinates typed tools and stores every execution. RAG retrieves curated guidance with title, source, license, section and relevance. The default embedding is a reproducible feature-hashing baseline for offline use. We do not present it as production semantic search. A stronger embedding provider is a clear roadmap item.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FastAPI and Pydantic define strict API boundaries. PostgreSQL and pgvector preserve operational and retrieval data. SQLAlchemy and Alembic give us maintainable persistence and versioned migrations. Docker Compose packages the API and database. Automated tests cover analytics, idempotency, approvals, failure behavior and verification.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 OpenAI-compatible LLM can produce a structured narrative, but deterministic Python tools own numerical conclusions. The demo remains reproducible without an external LLM."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"Those technical choices support the most important product requirement: trust."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5:55-6:55 | PRESENTER 2</a:t>
            </a:r>
          </a:p>
          <a:p xmlns:a="http://schemas.openxmlformats.org/drawingml/2006/main">
            <a:r>
              <a:t/>
            </a:r>
          </a:p>
          <a:p xmlns:a="http://schemas.openxmlformats.org/drawingml/2006/main">
            <a:r>
              <a:t>"We designed the prototype as decision support. It never treats an anomaly as proof of fraud. It never controls field equipment. In the demonstration, actions are simulated.</a:t>
            </a:r>
          </a:p>
          <a:p xmlns:a="http://schemas.openxmlformats.org/drawingml/2006/main">
            <a:r>
              <a:t/>
            </a:r>
          </a:p>
          <a:p xmlns:a="http://schemas.openxmlformats.org/drawingml/2006/main">
            <a:r>
              <a:t>High-impact recommendations require a persisted approval. Missing information remains Unknown. The system records supporting and contradicting evidence and keeps earlier report versions. Approval also does not equal success. A separate verification policy compares follow-up readings with the pre-event baseline and peers. The case can resolve, reopen or continue monitoring.</a:t>
            </a:r>
          </a:p>
          <a:p xmlns:a="http://schemas.openxmlformats.org/drawingml/2006/main">
            <a:r>
              <a:t/>
            </a:r>
          </a:p>
          <a:p xmlns:a="http://schemas.openxmlformats.org/drawingml/2006/main">
            <a:r>
              <a:t>This separation gives companies a safer path to adopt AI in regulated operations."</a:t>
            </a:r>
          </a:p>
          <a:p xmlns:a="http://schemas.openxmlformats.org/drawingml/2006/main">
            <a:r>
              <a:t/>
            </a:r>
          </a:p>
          <a:p xmlns:a="http://schemas.openxmlformats.org/drawingml/2006/main">
            <a:r>
              <a:t>Transition to demo: "I will now show the complete evidence flow in the Live Operations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6:55-10:55 | PRESENTER 2 | SWITCH TO THE BROWSER</a:t>
            </a:r>
            <a:endParaRPr/>
          </a:p>
          <a:p xmlns:a="http://schemas.openxmlformats.org/drawingml/2006/main">
            <a:r>
              <a:t/>
            </a:r>
            <a:endParaRPr/>
          </a:p>
          <a:p xmlns:a="http://schemas.openxmlformats.org/drawingml/2006/main">
            <a:r>
              <a:t>PRE-STAGE BEFORE THE PRESENTATION</a:t>
            </a:r>
            <a:endParaRPr/>
          </a:p>
          <a:p xmlns:a="http://schemas.openxmlformats.org/drawingml/2006/main">
            <a:r>
              <a:t>1. Start Docker Compose and confirm /api/health returns healthy.</a:t>
            </a:r>
            <a:endParaRPr/>
          </a:p>
          <a:p xmlns:a="http://schemas.openxmlformats.org/drawingml/2006/main">
            <a:r>
              <a:t>2. Open http://localhost:8000/#/live.</a:t>
            </a:r>
            <a:endParaRPr/>
          </a:p>
          <a:p xmlns:a="http://schemas.openxmlformats.org/drawingml/2006/main">
            <a:r>
              <a:t>3. Click Reset demonstration before the judges enter. Confirm the page says Ready to demonstrate.</a:t>
            </a:r>
            <a:endParaRPr/>
          </a:p>
          <a:p xmlns:a="http://schemas.openxmlformats.org/drawingml/2006/main">
            <a:r>
              <a:t>4. Keep one backup tab open on the case queue and prepare screenshots or a short recording.</a:t>
            </a:r>
            <a:endParaRPr/>
          </a:p>
          <a:p xmlns:a="http://schemas.openxmlformats.org/drawingml/2006/main">
            <a:r>
              <a:t/>
            </a:r>
            <a:endParaRPr/>
          </a:p>
          <a:p xmlns:a="http://schemas.openxmlformats.org/drawingml/2006/main">
            <a:r>
              <a:t>LIVE DEMO RUNBOOK</a:t>
            </a:r>
            <a:endParaRPr/>
          </a:p>
          <a:p xmlns:a="http://schemas.openxmlformats.org/drawingml/2006/main">
            <a:r>
              <a:t/>
            </a:r>
            <a:endParaRPr/>
          </a:p>
          <a:p xmlns:a="http://schemas.openxmlformats.org/drawingml/2006/main">
            <a:r>
              <a:t>0:00-0:25 | Click "Play demonstration stream"</a:t>
            </a:r>
            <a:endParaRPr/>
          </a:p>
          <a:p xmlns:a="http://schemas.openxmlformats.org/drawingml/2006/main">
            <a:r>
              <a:t>Expected: Normal prepared readings begin to arrive and the progress indicator advances.</a:t>
            </a:r>
            <a:endParaRPr/>
          </a:p>
          <a:p xmlns:a="http://schemas.openxmlformats.org/drawingml/2006/main">
            <a:r>
              <a:t>Say: "These first readings are normal. They pass through the same event pipeline, but the system does not create unnecessary cases."</a:t>
            </a:r>
            <a:endParaRPr/>
          </a:p>
          <a:p xmlns:a="http://schemas.openxmlformats.org/drawingml/2006/main">
            <a:r>
              <a:t>Business point: The platform filters normal operations before consuming analyst attention.</a:t>
            </a:r>
            <a:endParaRPr/>
          </a:p>
          <a:p xmlns:a="http://schemas.openxmlformats.org/drawingml/2006/main">
            <a:r>
              <a:t>Slow fallback: "The stream is intentionally paced so we can see each event. The same workflow also accepts batch readings."</a:t>
            </a:r>
            <a:endParaRPr/>
          </a:p>
          <a:p xmlns:a="http://schemas.openxmlformats.org/drawingml/2006/main">
            <a:r>
              <a:t/>
            </a:r>
            <a:endParaRPr/>
          </a:p>
          <a:p xmlns:a="http://schemas.openxmlformats.org/drawingml/2006/main">
            <a:r>
              <a:t>0:25-1:05 | Point to the chart and Investigation activity when the anomaly arrives</a:t>
            </a:r>
            <a:endParaRPr/>
          </a:p>
          <a:p xmlns:a="http://schemas.openxmlformats.org/drawingml/2006/main">
            <a:r>
              <a:t>Expected: An anomaly triggers a case and evidence tools begin to appear.</a:t>
            </a:r>
            <a:endParaRPr/>
          </a:p>
          <a:p xmlns:a="http://schemas.openxmlformats.org/drawingml/2006/main">
            <a:r>
              <a:t>Say: "This drop crosses the evidence-based threshold. MeterDetective validates the data before treating it as a genuine anomaly."</a:t>
            </a:r>
            <a:endParaRPr/>
          </a:p>
          <a:p xmlns:a="http://schemas.openxmlformats.org/drawingml/2006/main">
            <a:r>
              <a:t>Business point: Data-quality problems and operational anomalies follow different paths.</a:t>
            </a:r>
            <a:endParaRPr/>
          </a:p>
          <a:p xmlns:a="http://schemas.openxmlformats.org/drawingml/2006/main">
            <a:r>
              <a:t>Slow fallback: "The dashboard is waiting for the next prepared event. Every accepted reading is already stored idempotently."</a:t>
            </a:r>
            <a:endParaRPr/>
          </a:p>
          <a:p xmlns:a="http://schemas.openxmlformats.org/drawingml/2006/main">
            <a:r>
              <a:t/>
            </a:r>
            <a:endParaRPr/>
          </a:p>
          <a:p xmlns:a="http://schemas.openxmlformats.org/drawingml/2006/main">
            <a:r>
              <a:t>1:05-1:50 | Scroll to Evidence and competing explanations</a:t>
            </a:r>
            <a:endParaRPr/>
          </a:p>
          <a:p xmlns:a="http://schemas.openxmlformats.org/drawingml/2006/main">
            <a:r>
              <a:t>Expected: History, peers, topology, transformer evidence and limitations are visible. Hypothesis confidence changes as related readings arrive.</a:t>
            </a:r>
            <a:endParaRPr/>
          </a:p>
          <a:p xmlns:a="http://schemas.openxmlformats.org/drawingml/2006/main">
            <a:r>
              <a:t>Say: "The first explanation may be an individual meter problem. Related readings can contradict it and increase support for a shared upstream issue. We preserve both the evidence and the confidence history."</a:t>
            </a:r>
            <a:endParaRPr/>
          </a:p>
          <a:p xmlns:a="http://schemas.openxmlformats.org/drawingml/2006/main">
            <a:r>
              <a:t>Business point: New evidence revises the same investigation rather than creating disconnected alerts.</a:t>
            </a:r>
            <a:endParaRPr/>
          </a:p>
          <a:p xmlns:a="http://schemas.openxmlformats.org/drawingml/2006/main">
            <a:r>
              <a:t>Slow fallback: "If the related event has not arrived, the current explanation remains provisional and clearly labeled."</a:t>
            </a:r>
            <a:endParaRPr/>
          </a:p>
          <a:p xmlns:a="http://schemas.openxmlformats.org/drawingml/2006/main">
            <a:r>
              <a:t/>
            </a:r>
            <a:endParaRPr/>
          </a:p>
          <a:p xmlns:a="http://schemas.openxmlformats.org/drawingml/2006/main">
            <a:r>
              <a:t>1:50-2:25 | Open Investigation plan and, if available, the case tool trace</a:t>
            </a:r>
            <a:endParaRPr/>
          </a:p>
          <a:p xmlns:a="http://schemas.openxmlformats.org/drawingml/2006/main">
            <a:r>
              <a:t>Expected: Plan versions and the ordered tool activity show what ran and why.</a:t>
            </a:r>
            <a:endParaRPr/>
          </a:p>
          <a:p xmlns:a="http://schemas.openxmlformats.org/drawingml/2006/main">
            <a:r>
              <a:t>Say: "Each tool call has typed input, output, status, latency and safe error handling. This gives IT teams an audit trail rather than a black-box answer."</a:t>
            </a:r>
            <a:endParaRPr/>
          </a:p>
          <a:p xmlns:a="http://schemas.openxmlformats.org/drawingml/2006/main">
            <a:r>
              <a:t>Business point: Technical transparency supports governance and troubleshooting.</a:t>
            </a:r>
            <a:endParaRPr/>
          </a:p>
          <a:p xmlns:a="http://schemas.openxmlformats.org/drawingml/2006/main">
            <a:r>
              <a:t>Slow fallback: "The stored trace remains available from the case detail even if this panel is still refreshing."</a:t>
            </a:r>
            <a:endParaRPr/>
          </a:p>
          <a:p xmlns:a="http://schemas.openxmlformats.org/drawingml/2006/main">
            <a:r>
              <a:t/>
            </a:r>
            <a:endParaRPr/>
          </a:p>
          <a:p xmlns:a="http://schemas.openxmlformats.org/drawingml/2006/main">
            <a:r>
              <a:t>2:25-2:55 | Show Revenue at Risk and triage priority</a:t>
            </a:r>
            <a:endParaRPr/>
          </a:p>
          <a:p xmlns:a="http://schemas.openxmlformats.org/drawingml/2006/main">
            <a:r>
              <a:t>Expected: The case shows JOD exposure and a P1-P4 rank when the required evidence is available.</a:t>
            </a:r>
            <a:endParaRPr/>
          </a:p>
          <a:p xmlns:a="http://schemas.openxmlformats.org/drawingml/2006/main">
            <a:r>
              <a:t>Say: "The platform translates technical severity into an operational queue. Financial exposure is calculated by a deterministic tool using the stored tariff version, not invented by an LLM."</a:t>
            </a:r>
            <a:endParaRPr/>
          </a:p>
          <a:p xmlns:a="http://schemas.openxmlformats.org/drawingml/2006/main">
            <a:r>
              <a:t>Business point: Teams can allocate limited resources using technical and financial evidence.</a:t>
            </a:r>
            <a:endParaRPr/>
          </a:p>
          <a:p xmlns:a="http://schemas.openxmlformats.org/drawingml/2006/main">
            <a:r>
              <a:t>Slow fallback: "When a tariff or forecast is unavailable, the system reports the financial result as Unknown."</a:t>
            </a:r>
            <a:endParaRPr/>
          </a:p>
          <a:p xmlns:a="http://schemas.openxmlformats.org/drawingml/2006/main">
            <a:r>
              <a:t/>
            </a:r>
            <a:endParaRPr/>
          </a:p>
          <a:p xmlns:a="http://schemas.openxmlformats.org/drawingml/2006/main">
            <a:r>
              <a:t>2:55-3:40 | Show Recommended next step and approve the simulated action</a:t>
            </a:r>
            <a:endParaRPr/>
          </a:p>
          <a:p xmlns:a="http://schemas.openxmlformats.org/drawingml/2006/main">
            <a:r>
              <a:t>Click: Enter a prepared operator label such as "Demo Operator" and click Approve simulated action.</a:t>
            </a:r>
            <a:endParaRPr/>
          </a:p>
          <a:p xmlns:a="http://schemas.openxmlformats.org/drawingml/2006/main">
            <a:r>
              <a:t>Expected: The approval decision and audit information appear.</a:t>
            </a:r>
            <a:endParaRPr/>
          </a:p>
          <a:p xmlns:a="http://schemas.openxmlformats.org/drawingml/2006/main">
            <a:r>
              <a:t>Say: "The recommendation cannot bypass a person. I am approving a simulated inspection. This records a decision only. It does not control any meter, transformer or field device."</a:t>
            </a:r>
            <a:endParaRPr/>
          </a:p>
          <a:p xmlns:a="http://schemas.openxmlformats.org/drawingml/2006/main">
            <a:r>
              <a:t>Business point: The system accelerates analysis without removing accountability.</a:t>
            </a:r>
            <a:endParaRPr/>
          </a:p>
          <a:p xmlns:a="http://schemas.openxmlformats.org/drawingml/2006/main">
            <a:r>
              <a:t>Slow fallback: "The approval endpoint is idempotent. Repeating the request cannot create duplicate decisions."</a:t>
            </a:r>
            <a:endParaRPr/>
          </a:p>
          <a:p xmlns:a="http://schemas.openxmlformats.org/drawingml/2006/main">
            <a:r>
              <a:t/>
            </a:r>
            <a:endParaRPr/>
          </a:p>
          <a:p xmlns:a="http://schemas.openxmlformats.org/drawingml/2006/main">
            <a:r>
              <a:t>3:40-4:00 | Explain verification or open a prepared resolved Scenario 1 case</a:t>
            </a:r>
            <a:endParaRPr/>
          </a:p>
          <a:p xmlns:a="http://schemas.openxmlformats.org/drawingml/2006/main">
            <a:r>
              <a:t>Say: "Approval is not proof of recovery. Follow-up readings are checked against the pre-event baseline and peers. The result can resolve the case, reopen it, remain ambiguous or request more observations."</a:t>
            </a:r>
            <a:endParaRPr/>
          </a:p>
          <a:p xmlns:a="http://schemas.openxmlformats.org/drawingml/2006/main">
            <a:r>
              <a:t>Business point: MeterDetective closes the operational loop.</a:t>
            </a:r>
            <a:endParaRPr/>
          </a:p>
          <a:p xmlns:a="http://schemas.openxmlformats.org/drawingml/2006/main">
            <a:r>
              <a:t/>
            </a:r>
            <a:endParaRPr/>
          </a:p>
          <a:p xmlns:a="http://schemas.openxmlformats.org/drawingml/2006/main">
            <a:r>
              <a:t>SWITCH BACK TO THE DECK</a:t>
            </a:r>
            <a:endParaRPr/>
          </a:p>
          <a:p xmlns:a="http://schemas.openxmlformats.org/drawingml/2006/main">
            <a:r>
              <a:t>"What you have seen is a repeatable synthetic scenario. The next step is to measure its value beside a real utility team."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10:55-12:45 | PRESENTER 1</a:t>
            </a:r>
          </a:p>
          <a:p xmlns:a="http://schemas.openxmlformats.org/drawingml/2006/main">
            <a:r>
              <a:t/>
            </a:r>
          </a:p>
          <a:p xmlns:a="http://schemas.openxmlformats.org/drawingml/2006/main">
            <a:r>
              <a:t>"We are not claiming production savings from synthetic data. We propose a controlled 90-day pilot to create that evidence.</a:t>
            </a:r>
          </a:p>
          <a:p xmlns:a="http://schemas.openxmlformats.org/drawingml/2006/main">
            <a:r>
              <a:t/>
            </a:r>
          </a:p>
          <a:p xmlns:a="http://schemas.openxmlformats.org/drawingml/2006/main">
            <a:r>
              <a:t>During the first month, we integrate a limited historical and live data scope, complete the security review and measure the current manual process. During the second month, MeterDetective runs in shadow mode. Operators remain responsible for decisions while we compare evidence, priority and recommendations with expert judgment. During the final month, we evaluate results and decide whether expansion is justified.</a:t>
            </a:r>
          </a:p>
          <a:p xmlns:a="http://schemas.openxmlformats.org/drawingml/2006/main">
            <a:r>
              <a:t/>
            </a:r>
          </a:p>
          <a:p xmlns:a="http://schemas.openxmlformats.org/drawingml/2006/main">
            <a:r>
              <a:t>We would measure investigation time, alert reduction, evidence completeness, triage agreement, false-positive rate, time to resolution and the financial exposure identified. Expansion requires agreed thresholds for performance, security, operator trust and integration reliability."</a:t>
            </a:r>
          </a:p>
          <a:p xmlns:a="http://schemas.openxmlformats.org/drawingml/2006/main">
            <a:r>
              <a:t/>
            </a:r>
          </a:p>
          <a:p xmlns:a="http://schemas.openxmlformats.org/drawingml/2006/main">
            <a:r>
              <a:t>Illustrative ROI framework, not a claim:</a:t>
            </a:r>
          </a:p>
          <a:p xmlns:a="http://schemas.openxmlformats.org/drawingml/2006/main">
            <a:r>
              <a:t>Annual value can be estimated as cases per year multiplied by minutes saved per case multiplied by loaded analyst cost, plus validated loss reduction, minus platform and integration cost. Use customer data during the pilot.</a:t>
            </a:r>
          </a:p>
          <a:p xmlns:a="http://schemas.openxmlformats.org/drawingml/2006/main">
            <a:r>
              <a:t/>
            </a:r>
          </a:p>
          <a:p xmlns:a="http://schemas.openxmlformats.org/drawingml/2006/main">
            <a:r>
              <a:t>Commercial options after a successful pilot:</a:t>
            </a:r>
          </a:p>
          <a:p xmlns:a="http://schemas.openxmlformats.org/drawingml/2006/main">
            <a:r>
              <a:t>Enterprise SaaS priced by monitored meters or investigation volume, a private on-premises deployment for regulated utilities, and integration or customization services.</a:t>
            </a:r>
          </a:p>
          <a:p xmlns:a="http://schemas.openxmlformats.org/drawingml/2006/main">
            <a:r>
              <a:t/>
            </a:r>
          </a:p>
          <a:p xmlns:a="http://schemas.openxmlformats.org/drawingml/2006/main">
            <a:r>
              <a:t>Transition: "Our request is simple: give us one bounded operational problem and the experts who understand it best."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12:45-15:00 | PRESENTER 1 LEADS, PRESENTER 2 CLOSES</a:t>
            </a:r>
            <a:endParaRPr/>
          </a:p>
          <a:p xmlns:a="http://schemas.openxmlformats.org/drawingml/2006/main">
            <a:r>
              <a:t/>
            </a:r>
            <a:endParaRPr/>
          </a:p>
          <a:p xmlns:a="http://schemas.openxmlformats.org/drawingml/2006/main">
            <a:r>
              <a:t>PRESENTER 1, 12:45-14:30:</a:t>
            </a:r>
            <a:endParaRPr/>
          </a:p>
          <a:p xmlns:a="http://schemas.openxmlformats.org/drawingml/2006/main">
            <a:r>
              <a:t>"MeterDetective addresses a practical gap between detecting an anomaly and making a responsible operational decision. It combines machine learning, deterministic analytics, grounded knowledge and an auditable workflow. The operator keeps authority, and the system keeps the evidence.</a:t>
            </a:r>
            <a:endParaRPr/>
          </a:p>
          <a:p xmlns:a="http://schemas.openxmlformats.org/drawingml/2006/main">
            <a:r>
              <a:t/>
            </a:r>
            <a:endParaRPr/>
          </a:p>
          <a:p xmlns:a="http://schemas.openxmlformats.org/drawingml/2006/main">
            <a:r>
              <a:t>Our initial customers are electricity distribution companies, utility operations centers, metering and billing teams, revenue-protection groups and organizations managing large smart-meter fleets.</a:t>
            </a:r>
            <a:endParaRPr/>
          </a:p>
          <a:p xmlns:a="http://schemas.openxmlformats.org/drawingml/2006/main">
            <a:r>
              <a:t/>
            </a:r>
            <a:endParaRPr/>
          </a:p>
          <a:p xmlns:a="http://schemas.openxmlformats.org/drawingml/2006/main">
            <a:r>
              <a:t>We invite a company partner to define one bounded use case and one measurable baseline for a 90-day pilot. We invite the judges to evaluate us on the quality of the investigation, not only on the number of technologies used."</a:t>
            </a:r>
            <a:endParaRPr/>
          </a:p>
          <a:p xmlns:a="http://schemas.openxmlformats.org/drawingml/2006/main">
            <a:r>
              <a:t/>
            </a:r>
            <a:endParaRPr/>
          </a:p>
          <a:p xmlns:a="http://schemas.openxmlformats.org/drawingml/2006/main">
            <a:r>
              <a:t>HANDOFF:</a:t>
            </a:r>
            <a:endParaRPr/>
          </a:p>
          <a:p xmlns:a="http://schemas.openxmlformats.org/drawingml/2006/main">
            <a:r>
              <a:t>"[PRESENTER 2], please leave the judges with the engineering promise behind MeterDetective."</a:t>
            </a:r>
            <a:endParaRPr/>
          </a:p>
          <a:p xmlns:a="http://schemas.openxmlformats.org/drawingml/2006/main">
            <a:r>
              <a:t/>
            </a:r>
            <a:endParaRPr/>
          </a:p>
          <a:p xmlns:a="http://schemas.openxmlformats.org/drawingml/2006/main">
            <a:r>
              <a:t>PRESENTER 2, 14:30-15:00:</a:t>
            </a:r>
            <a:endParaRPr/>
          </a:p>
          <a:p xmlns:a="http://schemas.openxmlformats.org/drawingml/2006/main">
            <a:r>
              <a:t>"Every alert should lead to evidence. Every recommendation should remain explainable. Every action should end with verification. MeterDetective gives operations teams that complete chain. We are ready to test it with real experts and earn the right to scale. Thank you."</a:t>
            </a:r>
            <a:endParaRPr/>
          </a:p>
          <a:p xmlns:a="http://schemas.openxmlformats.org/drawingml/2006/main">
            <a:r>
              <a:t/>
            </a:r>
            <a:endParaRPr/>
          </a:p>
          <a:p xmlns:a="http://schemas.openxmlformats.org/drawingml/2006/main">
            <a:r>
              <a:t>CALL TO ACTION</a:t>
            </a:r>
            <a:endParaRPr/>
          </a:p>
          <a:p xmlns:a="http://schemas.openxmlformats.org/drawingml/2006/main">
            <a:r>
              <a:t>Judges: assess the complete evidence and safety loop.</a:t>
            </a:r>
            <a:endParaRPr/>
          </a:p>
          <a:p xmlns:a="http://schemas.openxmlformats.org/drawingml/2006/main">
            <a:r>
              <a:t>Companies: sponsor a limited pilot and provide expert feedback.</a:t>
            </a:r>
            <a:endParaRPr/>
          </a:p>
          <a:p xmlns:a="http://schemas.openxmlformats.org/drawingml/2006/main">
            <a:r>
              <a:t>Investors: help turn the prototype into a secure, integrated utility product.</a:t>
            </a:r>
            <a:endParaRPr/>
          </a:p>
          <a:p xmlns:a="http://schemas.openxmlformats.org/drawingml/2006/main">
            <a:r>
              <a:t/>
            </a:r>
            <a:endParaRPr/>
          </a:p>
          <a:p xmlns:a="http://schemas.openxmlformats.org/drawingml/2006/main">
            <a:r>
              <a:t>THREE LINES TO REPEAT</a:t>
            </a:r>
            <a:endParaRPr/>
          </a:p>
          <a:p xmlns:a="http://schemas.openxmlformats.org/drawingml/2006/main">
            <a:r>
              <a:t>1. "An alert is the start of an investigation, not the end."</a:t>
            </a:r>
            <a:endParaRPr/>
          </a:p>
          <a:p xmlns:a="http://schemas.openxmlformats.org/drawingml/2006/main">
            <a:r>
              <a:t>2. "Numerical conclusions come from traceable tools."</a:t>
            </a:r>
            <a:endParaRPr/>
          </a:p>
          <a:p xmlns:a="http://schemas.openxmlformats.org/drawingml/2006/main">
            <a:r>
              <a:t>3. "Approval starts an action. Verification closes the case."</a:t>
            </a:r>
            <a:endParaRPr/>
          </a:p>
          <a:p xmlns:a="http://schemas.openxmlformats.org/drawingml/2006/main">
            <a:r>
              <a:t/>
            </a:r>
            <a:endParaRPr/>
          </a:p>
          <a:p xmlns:a="http://schemas.openxmlformats.org/drawingml/2006/main">
            <a:r>
              <a:t>FIVE THINGS THE JUDGES MUST REMEMBER</a:t>
            </a:r>
            <a:endParaRPr/>
          </a:p>
          <a:p xmlns:a="http://schemas.openxmlformats.org/drawingml/2006/main">
            <a:r>
              <a:t>1. MeterDetective transforms anomalies into investigations.</a:t>
            </a:r>
            <a:endParaRPr/>
          </a:p>
          <a:p xmlns:a="http://schemas.openxmlformats.org/drawingml/2006/main">
            <a:r>
              <a:t>2. The hybrid analytical design balances detection with explanation.</a:t>
            </a:r>
            <a:endParaRPr/>
          </a:p>
          <a:p xmlns:a="http://schemas.openxmlformats.org/drawingml/2006/main">
            <a:r>
              <a:t>3. RAG and the optional LLM add context without owning numerical facts.</a:t>
            </a:r>
            <a:endParaRPr/>
          </a:p>
          <a:p xmlns:a="http://schemas.openxmlformats.org/drawingml/2006/main">
            <a:r>
              <a:t>4. Human approval and outcome verification keep the operator in control.</a:t>
            </a:r>
            <a:endParaRPr/>
          </a:p>
          <a:p xmlns:a="http://schemas.openxmlformats.org/drawingml/2006/main">
            <a:r>
              <a:t>5. A 90-day pilot can test measurable value without exaggerated claims.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SKILLS MATRIX</a:t>
            </a:r>
            <a:endParaRPr/>
          </a:p>
          <a:p xmlns:a="http://schemas.openxmlformats.org/drawingml/2006/main">
            <a:pPr marL="0" lvl="0" indent="0" algn="l">
              <a:spcBef>
                <a:spcPts val="0"/>
              </a:spcBef>
              <a:spcAft>
                <a:spcPts val="0"/>
              </a:spcAft>
              <a:buNone/>
            </a:pPr>
            <a:r>
              <a:t>Use this slide only when a judge asks which skills the team used and why. Lead with customer value, then show the technical proof in the dashboard or trace.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SKILLS MATRIX</a:t>
            </a:r>
            <a:endParaRPr/>
          </a:p>
          <a:p xmlns:a="http://schemas.openxmlformats.org/drawingml/2006/main">
            <a:pPr marL="0" lvl="0" indent="0" algn="l">
              <a:spcBef>
                <a:spcPts val="0"/>
              </a:spcBef>
              <a:spcAft>
                <a:spcPts val="0"/>
              </a:spcAft>
              <a:buNone/>
            </a:pPr>
            <a:r>
              <a:t>Use this slide only when a judge asks which skills the team used and why. Lead with customer value, then show the technical proof in the dashboard or trace.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SKILLS MATRIX</a:t>
            </a:r>
            <a:endParaRPr/>
          </a:p>
          <a:p xmlns:a="http://schemas.openxmlformats.org/drawingml/2006/main">
            <a:pPr marL="0" lvl="0" indent="0" algn="l">
              <a:spcBef>
                <a:spcPts val="0"/>
              </a:spcBef>
              <a:spcAft>
                <a:spcPts val="0"/>
              </a:spcAft>
              <a:buNone/>
            </a:pPr>
            <a:r>
              <a:t>Use this slide only when a judge asks which skills the team used and why. Lead with customer value, then show the technical proof in the dashboard or trace.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PLAIN-LANGUAGE GLOSSARY</a:t>
            </a:r>
            <a:endParaRPr/>
          </a:p>
          <a:p xmlns:a="http://schemas.openxmlformats.org/drawingml/2006/main">
            <a:pPr marL="0" lvl="0" indent="0" algn="l">
              <a:spcBef>
                <a:spcPts val="0"/>
              </a:spcBef>
              <a:spcAft>
                <a:spcPts val="0"/>
              </a:spcAft>
              <a:buNone/>
            </a:pPr>
            <a:r>
              <a:t>Use the business explanation first. Add the technical detail only when a judge 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PLAIN-LANGUAGE GLOSSARY</a:t>
            </a:r>
            <a:endParaRPr/>
          </a:p>
          <a:p xmlns:a="http://schemas.openxmlformats.org/drawingml/2006/main">
            <a:pPr marL="0" lvl="0" indent="0" algn="l">
              <a:spcBef>
                <a:spcPts val="0"/>
              </a:spcBef>
              <a:spcAft>
                <a:spcPts val="0"/>
              </a:spcAft>
              <a:buNone/>
            </a:pPr>
            <a:r>
              <a:t>Use the business explanation first. Add the technical detail only when a judge 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HARD QUESTIONS</a:t>
            </a:r>
            <a:endParaRPr/>
          </a:p>
          <a:p xmlns:a="http://schemas.openxmlformats.org/drawingml/2006/main">
            <a:pPr marL="0" lvl="0" indent="0" algn="l">
              <a:spcBef>
                <a:spcPts val="0"/>
              </a:spcBef>
              <a:spcAft>
                <a:spcPts val="0"/>
              </a:spcAft>
              <a:buNone/>
            </a:pPr>
            <a:r>
              <a:t>Keep each spoken answer under 30 seconds. Do not hide a prototype limitation. Name it and connect it to the pilot or production roadmap.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HARD QUESTIONS</a:t>
            </a:r>
            <a:endParaRPr/>
          </a:p>
          <a:p xmlns:a="http://schemas.openxmlformats.org/drawingml/2006/main">
            <a:pPr marL="0" lvl="0" indent="0" algn="l">
              <a:spcBef>
                <a:spcPts val="0"/>
              </a:spcBef>
              <a:spcAft>
                <a:spcPts val="0"/>
              </a:spcAft>
              <a:buNone/>
            </a:pPr>
            <a:r>
              <a:t>Keep each spoken answer under 30 seconds. Do not hide a prototype limitation. Name it and connect it to the pilot or production roadmap.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HARD QUESTIONS</a:t>
            </a:r>
            <a:endParaRPr/>
          </a:p>
          <a:p xmlns:a="http://schemas.openxmlformats.org/drawingml/2006/main">
            <a:pPr marL="0" lvl="0" indent="0" algn="l">
              <a:spcBef>
                <a:spcPts val="0"/>
              </a:spcBef>
              <a:spcAft>
                <a:spcPts val="0"/>
              </a:spcAft>
              <a:buNone/>
            </a:pPr>
            <a:r>
              <a:t>Keep each spoken answer under 30 seconds. Do not hide a prototype limitation. Name it and connect it to the pilot or production roadmap.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HARD QUESTIONS</a:t>
            </a:r>
            <a:endParaRPr/>
          </a:p>
          <a:p xmlns:a="http://schemas.openxmlformats.org/drawingml/2006/main">
            <a:pPr marL="0" lvl="0" indent="0" algn="l">
              <a:spcBef>
                <a:spcPts val="0"/>
              </a:spcBef>
              <a:spcAft>
                <a:spcPts val="0"/>
              </a:spcAft>
              <a:buNone/>
            </a:pPr>
            <a:r>
              <a:t>Keep each spoken answer under 30 seconds. Do not hide a prototype limitation. Name it and connect it to the pilot or production roadmap.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HARD QUESTIONS</a:t>
            </a:r>
            <a:endParaRPr/>
          </a:p>
          <a:p xmlns:a="http://schemas.openxmlformats.org/drawingml/2006/main">
            <a:pPr marL="0" lvl="0" indent="0" algn="l">
              <a:spcBef>
                <a:spcPts val="0"/>
              </a:spcBef>
              <a:spcAft>
                <a:spcPts val="0"/>
              </a:spcAft>
              <a:buNone/>
            </a:pPr>
            <a:r>
              <a:t>Keep each spoken answer under 30 seconds. Do not hide a prototype limitation. Name it and connect it to the pilot or production roadmap.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DEMO CONTINGENCY</a:t>
            </a:r>
            <a:endParaRPr/>
          </a:p>
          <a:p xmlns:a="http://schemas.openxmlformats.org/drawingml/2006/main">
            <a:pPr marL="0" lvl="0" indent="0" algn="l">
              <a:spcBef>
                <a:spcPts val="0"/>
              </a:spcBef>
              <a:spcAft>
                <a:spcPts val="0"/>
              </a:spcAft>
              <a:buNone/>
            </a:pPr>
            <a:r>
              <a:t>Prepare the five screenshots listed here and one short local recording. Store all backup material on the presentation laptop, not only in cloud storage.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 REHEARSAL</a:t>
            </a:r>
            <a:endParaRPr/>
          </a:p>
          <a:p xmlns:a="http://schemas.openxmlformats.org/drawingml/2006/main">
            <a:pPr marL="0" lvl="0" indent="0" algn="l">
              <a:spcBef>
                <a:spcPts val="0"/>
              </a:spcBef>
              <a:spcAft>
                <a:spcPts val="0"/>
              </a:spcAft>
              <a:buNone/>
            </a:pPr>
            <a:r>
              <a:t>Presenter 1 owns timing. Presenter 2 owns technical readiness. Both presenters know the 30-second closing.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f8be90ece4f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522ae78dd04a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487038acbd4c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799616f5634f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7c7a2bc34440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75548b2e0f491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6a1a63ef8e440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a69f7e2749f45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5d45385d651411a" /><Relationship Type="http://schemas.openxmlformats.org/officeDocument/2006/relationships/image" Target="/ppt/media/image.png" Id="Rdf348b397e354e4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141bdafec204089" /><Relationship Type="http://schemas.openxmlformats.org/officeDocument/2006/relationships/image" Target="/ppt/media/image2.png" Id="Rc8b6ca5384f44b9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df348b397e354e41">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c8b6ca5384f44b94">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16c13182f849c9" /><Relationship Type="http://schemas.openxmlformats.org/officeDocument/2006/relationships/slideLayout" Target="/ppt/slideLayouts/slideLayout1.xml" Id="Rcd5a9b11169e482d" /><Relationship Type="http://schemas.openxmlformats.org/officeDocument/2006/relationships/slideLayout" Target="/ppt/slideLayouts/slideLayout2.xml" Id="Rebbdfe2cba9544b2" /><Relationship Type="http://schemas.openxmlformats.org/officeDocument/2006/relationships/slideLayout" Target="/ppt/slideLayouts/slideLayout3.xml" Id="R62bc6d564e3a4611" /><Relationship Type="http://schemas.openxmlformats.org/officeDocument/2006/relationships/slideLayout" Target="/ppt/slideLayouts/slideLayout4.xml" Id="R4656c5d7ab0d458f" /><Relationship Type="http://schemas.openxmlformats.org/officeDocument/2006/relationships/slideLayout" Target="/ppt/slideLayouts/slideLayout5.xml" Id="R2d66de3be6594df3" /><Relationship Type="http://schemas.openxmlformats.org/officeDocument/2006/relationships/slideLayout" Target="/ppt/slideLayouts/slideLayout6.xml" Id="Ra68ae063f11a4ba6" /><Relationship Type="http://schemas.openxmlformats.org/officeDocument/2006/relationships/slideLayout" Target="/ppt/slideLayouts/slideLayout7.xml" Id="Ra9bdf96c3fa342f6" /><Relationship Type="http://schemas.openxmlformats.org/officeDocument/2006/relationships/slideLayout" Target="/ppt/slideLayouts/slideLayout8.xml" Id="Rd7baad96c84e4199" /><Relationship Type="http://schemas.openxmlformats.org/officeDocument/2006/relationships/slideLayout" Target="/ppt/slideLayouts/slideLayout9.xml" Id="Ref7d6f21ecf34323" /><Relationship Type="http://schemas.openxmlformats.org/officeDocument/2006/relationships/slideLayout" Target="/ppt/slideLayouts/slideLayout10.xml" Id="R57de3b1b851943b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900">
                <a:solidFill>
                  <a:schemeClr val="tx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900" kern="1200">
                <a:solidFill>
                  <a:schemeClr val="tx1"/>
                </a:solidFill>
                <a:latin typeface="+mn-lt"/>
                <a:ea typeface="+mn-lt"/>
                <a:cs typeface="+mn-lt"/>
              </a:defRPr>
            </a:lvl1pPr>
          </a:lstStyle>
          <a:p xmlns:a="http://schemas.openxmlformats.org/drawingml/2006/main">
            <a:fld id="{8574A810-7A8E-054F-9F6B-09E9C694ECF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5a9b11169e482d"/>
    <p:sldLayoutId xmlns:r="http://schemas.openxmlformats.org/officeDocument/2006/relationships" id="2147483650" r:id="Rebbdfe2cba9544b2"/>
    <p:sldLayoutId xmlns:r="http://schemas.openxmlformats.org/officeDocument/2006/relationships" id="2147483651" r:id="R62bc6d564e3a4611"/>
    <p:sldLayoutId xmlns:r="http://schemas.openxmlformats.org/officeDocument/2006/relationships" id="2147483652" r:id="R4656c5d7ab0d458f"/>
    <p:sldLayoutId xmlns:r="http://schemas.openxmlformats.org/officeDocument/2006/relationships" id="2147483653" r:id="R2d66de3be6594df3"/>
    <p:sldLayoutId xmlns:r="http://schemas.openxmlformats.org/officeDocument/2006/relationships" id="2147483654" r:id="Ra68ae063f11a4ba6"/>
    <p:sldLayoutId xmlns:r="http://schemas.openxmlformats.org/officeDocument/2006/relationships" id="2147483655" r:id="Ra9bdf96c3fa342f6"/>
    <p:sldLayoutId xmlns:r="http://schemas.openxmlformats.org/officeDocument/2006/relationships" id="2147483656" r:id="Rd7baad96c84e4199"/>
    <p:sldLayoutId xmlns:r="http://schemas.openxmlformats.org/officeDocument/2006/relationships" id="2147483657" r:id="Ref7d6f21ecf34323"/>
    <p:sldLayoutId xmlns:r="http://schemas.openxmlformats.org/officeDocument/2006/relationships" id="2147483658" r:id="R57de3b1b851943b0"/>
  </p:sldLayoutIdLst>
  <p:hf hdr="0" dt="0"/>
  <p:txStyles>
    <p:titleStyle>
      <a:lvl1pPr xmlns:a="http://schemas.openxmlformats.org/drawingml/2006/main" algn="l" defTabSz="914400">
        <a:lnSpc>
          <a:spcPct val="90000"/>
        </a:lnSpc>
        <a:spcBef>
          <a:spcPct val="0"/>
        </a:spcBef>
        <a:buNone/>
        <a:defRPr sz="26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BOT Color Palette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3b46d566e645ff" /><Relationship Type="http://schemas.openxmlformats.org/officeDocument/2006/relationships/notesSlide" Target="/ppt/notesSlides/notesSlide1.xml" Id="R60d3eadbbdb14d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eaeeacd7334e4c" /><Relationship Type="http://schemas.openxmlformats.org/officeDocument/2006/relationships/notesSlide" Target="/ppt/notesSlides/notesSlide2.xml" Id="Rd118fc52de3742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404579636e47e6" /><Relationship Type="http://schemas.openxmlformats.org/officeDocument/2006/relationships/notesSlide" Target="/ppt/notesSlides/notesSlide3.xml" Id="R03155f24a08241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f21965744f7b4204" /><Relationship Type="http://schemas.openxmlformats.org/officeDocument/2006/relationships/notesSlide" Target="/ppt/notesSlides/notesSlide4.xml" Id="R9326f3c57f7a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f1f8f62b6f4770" /><Relationship Type="http://schemas.openxmlformats.org/officeDocument/2006/relationships/notesSlide" Target="/ppt/notesSlides/notesSlide5.xml" Id="Rb9c809b88ee244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76bc48b67f624e4b" /><Relationship Type="http://schemas.openxmlformats.org/officeDocument/2006/relationships/notesSlide" Target="/ppt/notesSlides/notesSlide6.xml" Id="R4568ed1c0b8040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3f1d14a8f36049d8" /><Relationship Type="http://schemas.openxmlformats.org/officeDocument/2006/relationships/notesSlide" Target="/ppt/notesSlides/notesSlide7.xml" Id="R7016f7b979d245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f9b3045c304d42" /><Relationship Type="http://schemas.openxmlformats.org/officeDocument/2006/relationships/notesSlide" Target="/ppt/notesSlides/notesSlide8.xml" Id="R804295bbf4c44e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133d54d359cb495f" /><Relationship Type="http://schemas.openxmlformats.org/officeDocument/2006/relationships/notesSlide" Target="/ppt/notesSlides/notesSlide9.xml" Id="R1381d12b274049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55479bc1004831" /><Relationship Type="http://schemas.openxmlformats.org/officeDocument/2006/relationships/notesSlide" Target="/ppt/notesSlides/notesSlide10.xml" Id="R1057b198aff247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049b46995740d8" /><Relationship Type="http://schemas.openxmlformats.org/officeDocument/2006/relationships/notesSlide" Target="/ppt/notesSlides/notesSlide11.xml" Id="R3496d55101354d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6e4e512564431b" /><Relationship Type="http://schemas.openxmlformats.org/officeDocument/2006/relationships/notesSlide" Target="/ppt/notesSlides/notesSlide12.xml" Id="R2bfe6d9a1c1744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b5b0e22c4e4693" /><Relationship Type="http://schemas.openxmlformats.org/officeDocument/2006/relationships/notesSlide" Target="/ppt/notesSlides/notesSlide13.xml" Id="Ree576dde7b8943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8ad1f49f58ac43ea" /><Relationship Type="http://schemas.openxmlformats.org/officeDocument/2006/relationships/notesSlide" Target="/ppt/notesSlides/notesSlide14.xml" Id="R6f5630d959da44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28838ed8a49348a6" /><Relationship Type="http://schemas.openxmlformats.org/officeDocument/2006/relationships/notesSlide" Target="/ppt/notesSlides/notesSlide15.xml" Id="Re5d210b46a524b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da1714b64384b9b" /><Relationship Type="http://schemas.openxmlformats.org/officeDocument/2006/relationships/notesSlide" Target="/ppt/notesSlides/notesSlide16.xml" Id="Ra51c87a1be5f4b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fa92d0266d3475e" /><Relationship Type="http://schemas.openxmlformats.org/officeDocument/2006/relationships/notesSlide" Target="/ppt/notesSlides/notesSlide17.xml" Id="Rd00d273f0d4748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3f418c6babd4a29" /><Relationship Type="http://schemas.openxmlformats.org/officeDocument/2006/relationships/notesSlide" Target="/ppt/notesSlides/notesSlide18.xml" Id="R99f96bbed0684c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a2838ab9f284bec" /><Relationship Type="http://schemas.openxmlformats.org/officeDocument/2006/relationships/notesSlide" Target="/ppt/notesSlides/notesSlide19.xml" Id="R73a4a04a158345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eb3ae0eafb545c7" /><Relationship Type="http://schemas.openxmlformats.org/officeDocument/2006/relationships/notesSlide" Target="/ppt/notesSlides/notesSlide20.xml" Id="Rf059c09205434f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6252c60aa6a4bcd" /><Relationship Type="http://schemas.openxmlformats.org/officeDocument/2006/relationships/notesSlide" Target="/ppt/notesSlides/notesSlide21.xml" Id="Rc4ac6abf98884e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2d1cb6519b6e4d1f" /><Relationship Type="http://schemas.openxmlformats.org/officeDocument/2006/relationships/notesSlide" Target="/ppt/notesSlides/notesSlide22.xml" Id="R8e34cdd92d6a4178" /></Relationships>
</file>

<file path=ppt/slides/slide1.xml><?xml version="1.0" encoding="utf-8"?>
<p:sld xmlns:p="http://schemas.openxmlformats.org/presentationml/2006/main">
  <p:cSld>
    <p:bg>
      <p:bgPr>
        <a:gradFill xmlns:a="http://schemas.openxmlformats.org/drawingml/2006/main" rotWithShape="1">
          <a:gsLst>
            <a:gs pos="0">
              <a:srgbClr val="0C3666"/>
            </a:gs>
            <a:gs pos="100000">
              <a:srgbClr val="061C39"/>
            </a:gs>
          </a:gsLst>
          <a:lin ang="13500000" scaled="1"/>
          <a:tileRect/>
        </a:gra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0F24658D-7578-8E1B-095D-2634178665BE}"/>
              </a:ext>
            </a:extLst>
          </p:cNvPr>
          <p:cNvSpPr>
            <a:spLocks xmlns:a="http://schemas.openxmlformats.org/drawingml/2006/main" noGrp="1"/>
          </p:cNvSpPr>
          <p:nvPr>
            <p:ph type="ctrTitle" idx="0"/>
          </p:nvPr>
        </p:nvSpPr>
        <p:spPr>
          <a:xfrm xmlns:a="http://schemas.openxmlformats.org/drawingml/2006/main">
            <a:off x="384537" y="1850746"/>
            <a:ext cx="9448800" cy="2491490"/>
          </a:xfrm>
        </p:spPr>
        <p:txBody>
          <a:bodyPr xmlns:a="http://schemas.openxmlformats.org/drawingml/2006/main">
            <a:normAutofit fontScale="100000"/>
          </a:bodyPr>
          <a:lstStyle xmlns:a="http://schemas.openxmlformats.org/drawingml/2006/main"/>
          <a:p xmlns:a="http://schemas.openxmlformats.org/drawingml/2006/main">
            <a:pPr>
              <a:defRPr sz="3750" b="0">
                <a:solidFill>
                  <a:srgbClr val="F9FCFF"/>
                </a:solidFill>
                <a:latin typeface="Helvetica Neue"/>
                <a:ea typeface="Helvetica Neue"/>
                <a:cs typeface="Helvetica Neue"/>
              </a:defRPr>
            </a:pPr>
            <a:r>
              <a:rPr sz="3750" b="0">
                <a:solidFill>
                  <a:srgbClr val="F9FCFF"/>
                </a:solidFill>
                <a:latin typeface="Helvetica Neue"/>
                <a:ea typeface="Helvetica Neue"/>
                <a:cs typeface="Helvetica Neue"/>
              </a:rPr>
              <a:t>MeterDetective AI</a:t>
            </a:r>
          </a:p>
          <a:p xmlns:a="http://schemas.openxmlformats.org/drawingml/2006/main">
            <a:pPr>
              <a:defRPr sz="3750" b="0">
                <a:solidFill>
                  <a:srgbClr val="F9FCFF"/>
                </a:solidFill>
                <a:latin typeface="Helvetica Neue"/>
                <a:ea typeface="Helvetica Neue"/>
                <a:cs typeface="Helvetica Neue"/>
              </a:defRPr>
            </a:pPr>
            <a:r>
              <a:rPr sz="3750" b="0">
                <a:solidFill>
                  <a:srgbClr val="F9FCFF"/>
                </a:solidFill>
                <a:latin typeface="Helvetica Neue"/>
                <a:ea typeface="Helvetica Neue"/>
                <a:cs typeface="Helvetica Neue"/>
              </a:rPr>
              <a:t>Evidence-led smart meter investigations</a:t>
            </a:r>
          </a:p>
        </p:txBody>
      </p:sp>
      <p:sp>
        <p:nvSpPr>
          <p:cNvPr id="5" name="Subtitle 4">
            <a:extLst xmlns:a="http://schemas.openxmlformats.org/drawingml/2006/main">
              <a:ext uri="{FF2B5EF4-FFF2-40B4-BE49-F238E27FC236}">
                <a16:creationId xmlns:a16="http://schemas.microsoft.com/office/drawing/2014/main" id="{9CFCDDD1-6B62-D648-FCD8-F519A8EBFE03}"/>
              </a:ext>
            </a:extLst>
          </p:cNvPr>
          <p:cNvSpPr>
            <a:spLocks xmlns:a="http://schemas.openxmlformats.org/drawingml/2006/main" noGrp="1"/>
          </p:cNvSpPr>
          <p:nvPr>
            <p:ph type="subTitle" idx="1"/>
          </p:nvPr>
        </p:nvSpPr>
        <p:spPr>
          <a:xfrm xmlns:a="http://schemas.openxmlformats.org/drawingml/2006/main">
            <a:off x="393700" y="5170707"/>
            <a:ext cx="3568700" cy="647700"/>
          </a:xfrm>
        </p:spPr>
        <p:txBody>
          <a:bodyPr xmlns:a="http://schemas.openxmlformats.org/drawingml/2006/main">
            <a:normAutofit fontScale="100000"/>
          </a:bodyPr>
          <a:lstStyle xmlns:a="http://schemas.openxmlformats.org/drawingml/2006/main"/>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Industry presentation</a:t>
            </a:r>
          </a:p>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1 October 2026</a:t>
            </a:r>
          </a:p>
        </p:txBody>
      </p:sp>
      <p:sp>
        <p:nvSpPr>
          <p:cNvPr id="2" name="Subtitle 4">
            <a:extLst xmlns:a="http://schemas.openxmlformats.org/drawingml/2006/main">
              <a:ext uri="{FF2B5EF4-FFF2-40B4-BE49-F238E27FC236}">
                <a16:creationId xmlns:a16="http://schemas.microsoft.com/office/drawing/2014/main" id="{7DE36FE5-F5E6-DBA2-7BCD-BDE05B2A17C3}"/>
              </a:ext>
            </a:extLst>
          </p:cNvPr>
          <p:cNvSpPr>
            <a:spLocks xmlns:a="http://schemas.openxmlformats.org/drawingml/2006/main" noGrp="1"/>
          </p:cNvSpPr>
          <p:nvPr/>
        </p:nvSpPr>
        <p:spPr>
          <a:xfrm xmlns:a="http://schemas.openxmlformats.org/drawingml/2006/main">
            <a:off x="4370789" y="5170707"/>
            <a:ext cx="35687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Presented by</a:t>
            </a:r>
          </a:p>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[PRESENTER 1] and [PRESENTER 2]</a:t>
            </a:r>
          </a:p>
        </p:txBody>
      </p:sp>
      <p:sp>
        <p:nvSpPr>
          <p:cNvPr id="3" name="Subtitle 4">
            <a:extLst xmlns:a="http://schemas.openxmlformats.org/drawingml/2006/main">
              <a:ext uri="{FF2B5EF4-FFF2-40B4-BE49-F238E27FC236}">
                <a16:creationId xmlns:a16="http://schemas.microsoft.com/office/drawing/2014/main" id="{1855E0C5-A5E4-590B-0D77-15A6F24D051A}"/>
              </a:ext>
            </a:extLst>
          </p:cNvPr>
          <p:cNvSpPr>
            <a:spLocks xmlns:a="http://schemas.openxmlformats.org/drawingml/2006/main" noGrp="1"/>
          </p:cNvSpPr>
          <p:nvPr/>
        </p:nvSpPr>
        <p:spPr>
          <a:xfrm xmlns:a="http://schemas.openxmlformats.org/drawingml/2006/main">
            <a:off x="8608228" y="623595"/>
            <a:ext cx="3199235"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defRPr sz="1050" b="0">
                <a:solidFill>
                  <a:srgbClr val="89C3F7"/>
                </a:solidFill>
                <a:latin typeface="Helvetica Neue"/>
                <a:ea typeface="Helvetica Neue"/>
                <a:cs typeface="Helvetica Neue"/>
              </a:defRPr>
            </a:pPr>
            <a:r>
              <a:rPr sz="1050" b="0">
                <a:solidFill>
                  <a:srgbClr val="89C3F7"/>
                </a:solidFill>
                <a:latin typeface="Helvetica Neue"/>
                <a:ea typeface="Helvetica Neue"/>
                <a:cs typeface="Helvetica Neue"/>
              </a:rPr>
              <a:t>15-minute pitch + live demo</a:t>
            </a:r>
          </a:p>
        </p:txBody>
      </p:sp>
      <p:sp>
        <p:nvSpPr>
          <p:cNvPr id="7" name="Subtitle 4">
            <a:extLst xmlns:a="http://schemas.openxmlformats.org/drawingml/2006/main">
              <a:ext uri="{FF2B5EF4-FFF2-40B4-BE49-F238E27FC236}">
                <a16:creationId xmlns:a16="http://schemas.microsoft.com/office/drawing/2014/main" id="{5794C0B2-4912-64A0-21CF-60B66252E5AC}"/>
              </a:ext>
            </a:extLst>
          </p:cNvPr>
          <p:cNvSpPr>
            <a:spLocks xmlns:a="http://schemas.openxmlformats.org/drawingml/2006/main" noGrp="1"/>
          </p:cNvSpPr>
          <p:nvPr/>
        </p:nvSpPr>
        <p:spPr>
          <a:xfrm xmlns:a="http://schemas.openxmlformats.org/drawingml/2006/main">
            <a:off x="393700" y="623595"/>
            <a:ext cx="5537200" cy="64915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050" b="0">
                <a:solidFill>
                  <a:srgbClr val="89C3F7"/>
                </a:solidFill>
                <a:latin typeface="Helvetica Neue"/>
                <a:ea typeface="Helvetica Neue"/>
                <a:cs typeface="Helvetica Neue"/>
              </a:defRPr>
            </a:pPr>
            <a:r>
              <a:rPr sz="1050" b="0">
                <a:solidFill>
                  <a:srgbClr val="89C3F7"/>
                </a:solidFill>
                <a:latin typeface="Helvetica Neue"/>
                <a:ea typeface="Helvetica Neue"/>
                <a:cs typeface="Helvetica Neue"/>
              </a:rPr>
              <a:t>MeterDetective AI</a:t>
            </a:r>
          </a:p>
        </p:txBody>
      </p:sp>
      <p:sp>
        <p:nvSpPr>
          <p:cNvPr id="8" name="Straight Connector 7">
            <a:extLst xmlns:a="http://schemas.openxmlformats.org/drawingml/2006/main">
              <a:ext uri="{FF2B5EF4-FFF2-40B4-BE49-F238E27FC236}">
                <a16:creationId xmlns:a16="http://schemas.microsoft.com/office/drawing/2014/main" id="{12A6D15C-D86F-48BB-BA34-EFA3F65B8EF2}"/>
              </a:ext>
            </a:extLst>
          </p:cNvPr>
          <p:cNvSpPr>
            <a:spLocks xmlns:a="http://schemas.openxmlformats.org/drawingml/2006/main" noGrp="1"/>
          </p:cNvSpPr>
          <p:nvPr/>
        </p:nvSpPr>
        <p:spPr>
          <a:xfrm xmlns:a="http://schemas.openxmlformats.org/drawingml/2006/main">
            <a:off x="384537" y="374574"/>
            <a:ext cx="11422926" cy="0"/>
          </a:xfrm>
          <a:prstGeom xmlns:a="http://schemas.openxmlformats.org/drawingml/2006/main" prst="line">
            <a:avLst/>
          </a:prstGeom>
          <a:ln xmlns:a="http://schemas.openxmlformats.org/drawingml/2006/main">
            <a:solidFill>
              <a:srgbClr val="7A8CA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9869472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An alert leaves critical operational questions unanswered</a:t>
            </a:r>
            <a:endParaRP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Incident scope</a:t>
            </a:r>
          </a:p>
          <a:p xmlns:a="http://schemas.openxmlformats.org/drawingml/2006/main">
            <a:pPr marL="0" indent="0">
              <a:lnSpc>
                <a:spcPct val="100000"/>
              </a:lnSpc>
              <a:spcBef>
                <a:spcPts val="1300"/>
              </a:spcBef>
              <a:spcAft>
                <a:spcPts val="1300"/>
              </a:spcAft>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Does the issue affect one meter, similar customers or a shared transformer?</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10000"/>
              </a:lnSpc>
              <a:spcBef>
                <a:spcPts val="0"/>
              </a:spcBef>
              <a:spcAft>
                <a:spcPts val="0"/>
              </a:spcAft>
              <a:buClrTx/>
              <a:buSzTx/>
              <a:buFontTx/>
              <a:buNone/>
              <a:defRPr sz="1350" b="0">
                <a:solidFill>
                  <a:srgbClr val="08284F"/>
                </a:solidFill>
                <a:latin typeface="Helvetica Neue"/>
                <a:ea typeface="Helvetica Neue"/>
                <a:cs typeface="Helvetica Neue"/>
              </a:defRPr>
            </a:pPr>
            <a:r>
              <a:rPr sz="1350" b="0" i="0" u="none" cap="none" spc="0">
                <a:ln>
                  <a:noFill/>
                </a:ln>
                <a:solidFill>
                  <a:srgbClr val="08284F"/>
                </a:solidFill>
                <a:latin typeface="Helvetica Neue"/>
                <a:ea typeface="Helvetica Neue"/>
                <a:cs typeface="Helvetica Neue"/>
              </a:rPr>
              <a:t>Data reliability</a:t>
            </a:r>
          </a:p>
          <a:p xmlns:a="http://schemas.openxmlformats.org/drawingml/2006/main">
            <a:pPr marL="0" marR="0" lvl="0" indent="0" algn="l" defTabSz="914400">
              <a:lnSpc>
                <a:spcPct val="100000"/>
              </a:lnSpc>
              <a:spcBef>
                <a:spcPts val="1300"/>
              </a:spcBef>
              <a:spcAft>
                <a:spcPts val="1300"/>
              </a:spcAft>
              <a:buClrTx/>
              <a:buSzTx/>
              <a:buFontTx/>
              <a:buNone/>
              <a:defRPr sz="1350" b="0">
                <a:solidFill>
                  <a:srgbClr val="08284F"/>
                </a:solidFill>
                <a:latin typeface="Helvetica Neue"/>
                <a:ea typeface="Helvetica Neue"/>
                <a:cs typeface="Helvetica Neue"/>
              </a:defRPr>
            </a:pPr>
            <a:r>
              <a:rPr sz="1350" b="0" i="0" u="none" cap="none" spc="0">
                <a:ln>
                  <a:noFill/>
                </a:ln>
                <a:solidFill>
                  <a:srgbClr val="08284F"/>
                </a:solidFill>
                <a:latin typeface="Helvetica Neue"/>
                <a:ea typeface="Helvetica Neue"/>
                <a:cs typeface="Helvetica Neue"/>
              </a:rPr>
              <a:t>Is the reading valid, missing, duplicated or physically impossible?</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Verified outcome</a:t>
            </a:r>
          </a:p>
          <a:p xmlns:a="http://schemas.openxmlformats.org/drawingml/2006/main">
            <a:pPr marL="0" indent="0">
              <a:lnSpc>
                <a:spcPct val="100000"/>
              </a:lnSpc>
              <a:spcBef>
                <a:spcPts val="1300"/>
              </a:spcBef>
              <a:spcAft>
                <a:spcPts val="1300"/>
              </a:spcAft>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What action is justified, and did conditions improve afterward?</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Operational priority</a:t>
            </a:r>
          </a:p>
          <a:p xmlns:a="http://schemas.openxmlformats.org/drawingml/2006/main">
            <a:pPr marL="0" indent="0">
              <a:lnSpc>
                <a:spcPct val="100000"/>
              </a:lnSpc>
              <a:spcBef>
                <a:spcPts val="1300"/>
              </a:spcBef>
              <a:spcAft>
                <a:spcPts val="1300"/>
              </a:spcAft>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Which case should the team handle first, and what revenue may be exposed?</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500" b="0">
                <a:solidFill>
                  <a:srgbClr val="08284F"/>
                </a:solidFill>
                <a:latin typeface="Helvetica Neue"/>
                <a:ea typeface="Helvetica Neue"/>
                <a:cs typeface="Helvetica Neue"/>
              </a:defRPr>
            </a:pPr>
            <a:r>
              <a:rPr sz="1500" b="0">
                <a:solidFill>
                  <a:srgbClr val="08284F"/>
                </a:solidFill>
                <a:latin typeface="Helvetica Neue"/>
                <a:ea typeface="Helvetica Neue"/>
                <a:cs typeface="Helvetica Neue"/>
              </a:rPr>
              <a:t>Utilities may receive many alerts. Each alert can still require manual evidence gathering, prioritization, approval and follow-up.</a:t>
            </a:r>
          </a:p>
        </p:txBody>
      </p:sp>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Slide Number Placeholder 11">
            <a:extLst xmlns:a="http://schemas.openxmlformats.org/drawingml/2006/main">
              <a:ext uri="{FF2B5EF4-FFF2-40B4-BE49-F238E27FC236}">
                <a16:creationId xmlns:a16="http://schemas.microsoft.com/office/drawing/2014/main" id="{24C9B83B-D496-749A-8CAB-E5D5829B608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10</a:t>
            </a:fld>
            <a:endParaRPr sz="1100"/>
          </a:p>
        </p:txBody>
      </p:sp>
    </p:spTree>
    <p:extLst>
      <p:ext uri="{BB962C8B-B14F-4D97-AF65-F5344CB8AC3E}">
        <p14:creationId xmlns:p14="http://schemas.microsoft.com/office/powerpoint/2010/main" val="17660002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An evidence-backed investigation for every anomaly</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0">
                <a:solidFill>
                  <a:srgbClr val="08284F"/>
                </a:solidFill>
                <a:latin typeface="Helvetica Neue"/>
                <a:ea typeface="Helvetica Neue"/>
                <a:cs typeface="Helvetica Neue"/>
              </a:defRPr>
            </a:pPr>
            <a:r>
              <a:rPr sz="1275" b="0">
                <a:solidFill>
                  <a:srgbClr val="08284F"/>
                </a:solidFill>
                <a:latin typeface="Helvetica Neue"/>
                <a:ea typeface="Helvetica Neue"/>
                <a:cs typeface="Helvetica Neue"/>
              </a:rPr>
              <a:t>Check the reading before drawing a conclusion.</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350" b="1">
                <a:solidFill>
                  <a:srgbClr val="175CD4"/>
                </a:solidFill>
                <a:latin typeface="Helvetica Neue"/>
                <a:ea typeface="Helvetica Neue"/>
                <a:cs typeface="Helvetica Neue"/>
              </a:defRPr>
            </a:pPr>
            <a:r>
              <a:rPr sz="1350" b="1">
                <a:solidFill>
                  <a:srgbClr val="175CD4"/>
                </a:solidFill>
                <a:latin typeface="Helvetica Neue"/>
                <a:ea typeface="Helvetica Neue"/>
                <a:cs typeface="Helvetica Neue"/>
              </a:rPr>
              <a:t>Validate</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0">
                <a:solidFill>
                  <a:srgbClr val="08284F"/>
                </a:solidFill>
                <a:latin typeface="Helvetica Neue"/>
                <a:ea typeface="Helvetica Neue"/>
                <a:cs typeface="Helvetica Neue"/>
              </a:defRPr>
            </a:pPr>
            <a:r>
              <a:rPr sz="1275" b="0">
                <a:solidFill>
                  <a:srgbClr val="08284F"/>
                </a:solidFill>
                <a:latin typeface="Helvetica Neue"/>
                <a:ea typeface="Helvetica Neue"/>
                <a:cs typeface="Helvetica Neue"/>
              </a:rPr>
              <a:t>Compare history, peers, topology and context.</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350" b="1">
                <a:solidFill>
                  <a:srgbClr val="175CD4"/>
                </a:solidFill>
                <a:latin typeface="Helvetica Neue"/>
                <a:ea typeface="Helvetica Neue"/>
                <a:cs typeface="Helvetica Neue"/>
              </a:defRPr>
            </a:pPr>
            <a:r>
              <a:rPr sz="1350" b="1">
                <a:solidFill>
                  <a:srgbClr val="175CD4"/>
                </a:solidFill>
                <a:latin typeface="Helvetica Neue"/>
                <a:ea typeface="Helvetica Neue"/>
                <a:cs typeface="Helvetica Neue"/>
              </a:rPr>
              <a:t>Investigate</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0">
                <a:solidFill>
                  <a:srgbClr val="08284F"/>
                </a:solidFill>
                <a:latin typeface="Helvetica Neue"/>
                <a:ea typeface="Helvetica Neue"/>
                <a:cs typeface="Helvetica Neue"/>
              </a:defRPr>
            </a:pPr>
            <a:r>
              <a:rPr sz="1275" b="0">
                <a:solidFill>
                  <a:srgbClr val="08284F"/>
                </a:solidFill>
                <a:latin typeface="Helvetica Neue"/>
                <a:ea typeface="Helvetica Neue"/>
                <a:cs typeface="Helvetica Neue"/>
              </a:rPr>
              <a:t>Estimate JOD exposure and rank the active queue.</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350" b="1">
                <a:solidFill>
                  <a:srgbClr val="175CD4"/>
                </a:solidFill>
                <a:latin typeface="Helvetica Neue"/>
                <a:ea typeface="Helvetica Neue"/>
                <a:cs typeface="Helvetica Neue"/>
              </a:defRPr>
            </a:pPr>
            <a:r>
              <a:rPr sz="1350" b="1">
                <a:solidFill>
                  <a:srgbClr val="175CD4"/>
                </a:solidFill>
                <a:latin typeface="Helvetica Neue"/>
                <a:ea typeface="Helvetica Neue"/>
                <a:cs typeface="Helvetica Neue"/>
              </a:rPr>
              <a:t>Prioritize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0">
                <a:solidFill>
                  <a:srgbClr val="08284F"/>
                </a:solidFill>
                <a:latin typeface="Helvetica Neue"/>
                <a:ea typeface="Helvetica Neue"/>
                <a:cs typeface="Helvetica Neue"/>
              </a:defRPr>
            </a:pPr>
            <a:r>
              <a:rPr sz="1275" b="0">
                <a:solidFill>
                  <a:srgbClr val="08284F"/>
                </a:solidFill>
                <a:latin typeface="Helvetica Neue"/>
                <a:ea typeface="Helvetica Neue"/>
                <a:cs typeface="Helvetica Neue"/>
              </a:rPr>
              <a:t>Use follow-up readings to resolve or reopen the case.</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350" b="1">
                <a:solidFill>
                  <a:srgbClr val="175CD4"/>
                </a:solidFill>
                <a:latin typeface="Helvetica Neue"/>
                <a:ea typeface="Helvetica Neue"/>
                <a:cs typeface="Helvetica Neue"/>
              </a:defRPr>
            </a:pPr>
            <a:r>
              <a:rPr sz="1350" b="1">
                <a:solidFill>
                  <a:srgbClr val="175CD4"/>
                </a:solidFill>
                <a:latin typeface="Helvetica Neue"/>
                <a:ea typeface="Helvetica Neue"/>
                <a:cs typeface="Helvetica Neue"/>
              </a:rPr>
              <a:t>Verify</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b="0">
                <a:solidFill>
                  <a:srgbClr val="08284F"/>
                </a:solidFill>
                <a:latin typeface="Helvetica Neue"/>
                <a:ea typeface="Helvetica Neue"/>
                <a:cs typeface="Helvetica Neue"/>
              </a:defRPr>
            </a:pPr>
            <a:r>
              <a:rPr sz="1650" b="0">
                <a:solidFill>
                  <a:srgbClr val="08284F"/>
                </a:solidFill>
                <a:latin typeface="Helvetica Neue"/>
                <a:ea typeface="Helvetica Neue"/>
                <a:cs typeface="Helvetica Neue"/>
              </a:rPr>
              <a:t>MeterDetective AI</a:t>
            </a:r>
          </a:p>
          <a:p xmlns:a="http://schemas.openxmlformats.org/drawingml/2006/main">
            <a:pPr marL="0" indent="0">
              <a:lnSpc>
                <a:spcPct val="114000"/>
              </a:lnSpc>
              <a:spcBef>
                <a:spcPts val="0"/>
              </a:spcBef>
              <a:spcAft>
                <a:spcPts val="800"/>
              </a:spcAft>
              <a:buFont typeface="Arial"/>
              <a:buNone/>
              <a:defRPr sz="1650" b="0">
                <a:solidFill>
                  <a:srgbClr val="08284F"/>
                </a:solidFill>
                <a:latin typeface="Helvetica Neue"/>
                <a:ea typeface="Helvetica Neue"/>
                <a:cs typeface="Helvetica Neue"/>
              </a:defRPr>
            </a:pPr>
            <a:r>
              <a:rPr sz="1650" b="0">
                <a:solidFill>
                  <a:srgbClr val="08284F"/>
                </a:solidFill>
                <a:latin typeface="Helvetica Neue"/>
                <a:ea typeface="Helvetica Neue"/>
                <a:cs typeface="Helvetica Neue"/>
              </a:rPr>
              <a:t>A versioned case combines validated readings, competing explanations, financial exposure, a controlled next step and post-action evidence.</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Slide Number Placeholder 3">
            <a:extLst xmlns:a="http://schemas.openxmlformats.org/drawingml/2006/main">
              <a:ext uri="{FF2B5EF4-FFF2-40B4-BE49-F238E27FC236}">
                <a16:creationId xmlns:a16="http://schemas.microsoft.com/office/drawing/2014/main" id="{A8F6686A-B9AA-33C7-DC98-7A7FF4AC876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8</a:t>
            </a:fld>
            <a:endParaRPr sz="1100"/>
          </a:p>
        </p:txBody>
      </p:sp>
    </p:spTree>
    <p:extLst>
      <p:ext uri="{BB962C8B-B14F-4D97-AF65-F5344CB8AC3E}">
        <p14:creationId xmlns:p14="http://schemas.microsoft.com/office/powerpoint/2010/main" val="676116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Investigation workflow and audit architecture</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8" name="Slide Number Placeholder 7">
            <a:extLst xmlns:a="http://schemas.openxmlformats.org/drawingml/2006/main">
              <a:ext uri="{FF2B5EF4-FFF2-40B4-BE49-F238E27FC236}">
                <a16:creationId xmlns:a16="http://schemas.microsoft.com/office/drawing/2014/main" id="{B8054922-82AE-F5B4-3254-FF8E3B11A7E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20</a:t>
            </a:fld>
            <a:endParaRPr sz="1100"/>
          </a:p>
        </p:txBody>
      </p:sp>
      <p:sp>
        <p:nvSpPr>
          <p:cNvPr id="12" name="workflow-stage-1">
            <a:extLst xmlns:a="http://schemas.openxmlformats.org/drawingml/2006/main">
              <a:ext uri="{FF2B5EF4-FFF2-40B4-BE49-F238E27FC236}">
                <a16:creationId xmlns:a16="http://schemas.microsoft.com/office/drawing/2014/main" id="{0FE9190A-5221-4F8E-8A81-6D607504DE3B}"/>
              </a:ext>
            </a:extLst>
          </p:cNvPr>
          <p:cNvSpPr>
            <a:spLocks xmlns:a="http://schemas.openxmlformats.org/drawingml/2006/main" noGrp="1"/>
          </p:cNvSpPr>
          <p:nvPr/>
        </p:nvSpPr>
        <p:spPr>
          <a:xfrm xmlns:a="http://schemas.openxmlformats.org/drawingml/2006/main">
            <a:off x="4000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1</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Meter reading</a:t>
            </a:r>
          </a:p>
        </p:txBody>
      </p:sp>
      <p:sp>
        <p:nvSpPr>
          <p:cNvPr id="13" name="workflow-stage-2">
            <a:extLst xmlns:a="http://schemas.openxmlformats.org/drawingml/2006/main">
              <a:ext uri="{FF2B5EF4-FFF2-40B4-BE49-F238E27FC236}">
                <a16:creationId xmlns:a16="http://schemas.microsoft.com/office/drawing/2014/main" id="{D1004913-0BD2-4661-8004-4735E5CF1B19}"/>
              </a:ext>
            </a:extLst>
          </p:cNvPr>
          <p:cNvSpPr>
            <a:spLocks xmlns:a="http://schemas.openxmlformats.org/drawingml/2006/main" noGrp="1"/>
          </p:cNvSpPr>
          <p:nvPr/>
        </p:nvSpPr>
        <p:spPr>
          <a:xfrm xmlns:a="http://schemas.openxmlformats.org/drawingml/2006/main">
            <a:off x="18478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2</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Data validation</a:t>
            </a:r>
          </a:p>
        </p:txBody>
      </p:sp>
      <p:sp>
        <p:nvSpPr>
          <p:cNvPr id="14" name="workflow-stage-3">
            <a:extLst xmlns:a="http://schemas.openxmlformats.org/drawingml/2006/main">
              <a:ext uri="{FF2B5EF4-FFF2-40B4-BE49-F238E27FC236}">
                <a16:creationId xmlns:a16="http://schemas.microsoft.com/office/drawing/2014/main" id="{7C66279C-62BD-43B9-9751-123A6CBE6812}"/>
              </a:ext>
            </a:extLst>
          </p:cNvPr>
          <p:cNvSpPr>
            <a:spLocks xmlns:a="http://schemas.openxmlformats.org/drawingml/2006/main" noGrp="1"/>
          </p:cNvSpPr>
          <p:nvPr/>
        </p:nvSpPr>
        <p:spPr>
          <a:xfrm xmlns:a="http://schemas.openxmlformats.org/drawingml/2006/main">
            <a:off x="32956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3</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Anomaly signals</a:t>
            </a:r>
          </a:p>
        </p:txBody>
      </p:sp>
      <p:sp>
        <p:nvSpPr>
          <p:cNvPr id="15" name="workflow-stage-4">
            <a:extLst xmlns:a="http://schemas.openxmlformats.org/drawingml/2006/main">
              <a:ext uri="{FF2B5EF4-FFF2-40B4-BE49-F238E27FC236}">
                <a16:creationId xmlns:a16="http://schemas.microsoft.com/office/drawing/2014/main" id="{1DB8C2B2-5C94-452B-A530-90FC61EE2D83}"/>
              </a:ext>
            </a:extLst>
          </p:cNvPr>
          <p:cNvSpPr>
            <a:spLocks xmlns:a="http://schemas.openxmlformats.org/drawingml/2006/main" noGrp="1"/>
          </p:cNvSpPr>
          <p:nvPr/>
        </p:nvSpPr>
        <p:spPr>
          <a:xfrm xmlns:a="http://schemas.openxmlformats.org/drawingml/2006/main">
            <a:off x="47434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4</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Typed tool workflow</a:t>
            </a:r>
          </a:p>
        </p:txBody>
      </p:sp>
      <p:sp>
        <p:nvSpPr>
          <p:cNvPr id="16" name="workflow-stage-5">
            <a:extLst xmlns:a="http://schemas.openxmlformats.org/drawingml/2006/main">
              <a:ext uri="{FF2B5EF4-FFF2-40B4-BE49-F238E27FC236}">
                <a16:creationId xmlns:a16="http://schemas.microsoft.com/office/drawing/2014/main" id="{8B103803-A3A3-4FB7-989E-D211FF3BE9C0}"/>
              </a:ext>
            </a:extLst>
          </p:cNvPr>
          <p:cNvSpPr>
            <a:spLocks xmlns:a="http://schemas.openxmlformats.org/drawingml/2006/main" noGrp="1"/>
          </p:cNvSpPr>
          <p:nvPr/>
        </p:nvSpPr>
        <p:spPr>
          <a:xfrm xmlns:a="http://schemas.openxmlformats.org/drawingml/2006/main">
            <a:off x="61912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5</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Evidence and hypotheses</a:t>
            </a:r>
          </a:p>
        </p:txBody>
      </p:sp>
      <p:sp>
        <p:nvSpPr>
          <p:cNvPr id="17" name="workflow-stage-6">
            <a:extLst xmlns:a="http://schemas.openxmlformats.org/drawingml/2006/main">
              <a:ext uri="{FF2B5EF4-FFF2-40B4-BE49-F238E27FC236}">
                <a16:creationId xmlns:a16="http://schemas.microsoft.com/office/drawing/2014/main" id="{8024EF89-B6E4-4330-87A1-D40D3856C91D}"/>
              </a:ext>
            </a:extLst>
          </p:cNvPr>
          <p:cNvSpPr>
            <a:spLocks xmlns:a="http://schemas.openxmlformats.org/drawingml/2006/main" noGrp="1"/>
          </p:cNvSpPr>
          <p:nvPr/>
        </p:nvSpPr>
        <p:spPr>
          <a:xfrm xmlns:a="http://schemas.openxmlformats.org/drawingml/2006/main">
            <a:off x="76390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6</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Financial triage</a:t>
            </a:r>
          </a:p>
        </p:txBody>
      </p:sp>
      <p:sp>
        <p:nvSpPr>
          <p:cNvPr id="18" name="workflow-stage-7">
            <a:extLst xmlns:a="http://schemas.openxmlformats.org/drawingml/2006/main">
              <a:ext uri="{FF2B5EF4-FFF2-40B4-BE49-F238E27FC236}">
                <a16:creationId xmlns:a16="http://schemas.microsoft.com/office/drawing/2014/main" id="{4BDA8047-8F4B-4210-96BE-75B9902C7FAB}"/>
              </a:ext>
            </a:extLst>
          </p:cNvPr>
          <p:cNvSpPr>
            <a:spLocks xmlns:a="http://schemas.openxmlformats.org/drawingml/2006/main" noGrp="1"/>
          </p:cNvSpPr>
          <p:nvPr/>
        </p:nvSpPr>
        <p:spPr>
          <a:xfrm xmlns:a="http://schemas.openxmlformats.org/drawingml/2006/main">
            <a:off x="9086850" y="2238375"/>
            <a:ext cx="1304925" cy="1200150"/>
          </a:xfrm>
          <a:prstGeom xmlns:a="http://schemas.openxmlformats.org/drawingml/2006/main" prst="roundRect">
            <a:avLst>
              <a:gd name="adj" fmla="val 9524"/>
            </a:avLst>
          </a:prstGeom>
          <a:solidFill xmlns:a="http://schemas.openxmlformats.org/drawingml/2006/main">
            <a:srgbClr val="EDF5FE"/>
          </a:solidFill>
          <a:ln xmlns:a="http://schemas.openxmlformats.org/drawingml/2006/main" w="9525">
            <a:solidFill>
              <a:srgbClr val="175CD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08284F"/>
                </a:solidFill>
                <a:latin typeface="Helvetica Neue"/>
                <a:ea typeface="Helvetica Neue"/>
                <a:cs typeface="Helvetica Neue"/>
              </a:defRPr>
            </a:pPr>
            <a:r>
              <a:rPr sz="1200" b="1">
                <a:solidFill>
                  <a:srgbClr val="08284F"/>
                </a:solidFill>
                <a:latin typeface="Helvetica Neue"/>
                <a:ea typeface="Helvetica Neue"/>
                <a:cs typeface="Helvetica Neue"/>
              </a:rPr>
              <a:t>7</a:t>
            </a:r>
          </a:p>
          <a:p xmlns:a="http://schemas.openxmlformats.org/drawingml/2006/main">
            <a:pPr>
              <a:defRPr sz="1200" b="1">
                <a:solidFill>
                  <a:srgbClr val="08284F"/>
                </a:solidFill>
                <a:latin typeface="Helvetica Neue"/>
                <a:ea typeface="Helvetica Neue"/>
                <a:cs typeface="Helvetica Neue"/>
              </a:defRPr>
            </a:pPr>
            <a:r>
              <a:rPr sz="1200" b="1">
                <a:solidFill>
                  <a:srgbClr val="08284F"/>
                </a:solidFill>
                <a:latin typeface="Helvetica Neue"/>
                <a:ea typeface="Helvetica Neue"/>
                <a:cs typeface="Helvetica Neue"/>
              </a:rPr>
              <a:t>Human approval</a:t>
            </a:r>
          </a:p>
        </p:txBody>
      </p:sp>
      <p:sp>
        <p:nvSpPr>
          <p:cNvPr id="19" name="workflow-stage-8">
            <a:extLst xmlns:a="http://schemas.openxmlformats.org/drawingml/2006/main">
              <a:ext uri="{FF2B5EF4-FFF2-40B4-BE49-F238E27FC236}">
                <a16:creationId xmlns:a16="http://schemas.microsoft.com/office/drawing/2014/main" id="{85A5F2E3-A096-48A8-92B1-6AE5A0049242}"/>
              </a:ext>
            </a:extLst>
          </p:cNvPr>
          <p:cNvSpPr>
            <a:spLocks xmlns:a="http://schemas.openxmlformats.org/drawingml/2006/main" noGrp="1"/>
          </p:cNvSpPr>
          <p:nvPr/>
        </p:nvSpPr>
        <p:spPr>
          <a:xfrm xmlns:a="http://schemas.openxmlformats.org/drawingml/2006/main">
            <a:off x="10534650" y="2238375"/>
            <a:ext cx="1304925" cy="1200150"/>
          </a:xfrm>
          <a:prstGeom xmlns:a="http://schemas.openxmlformats.org/drawingml/2006/main" prst="roundRect">
            <a:avLst>
              <a:gd name="adj" fmla="val 9524"/>
            </a:avLst>
          </a:prstGeom>
          <a:solidFill xmlns:a="http://schemas.openxmlformats.org/drawingml/2006/main">
            <a:srgbClr val="F9FCFF"/>
          </a:solidFill>
          <a:ln xmlns:a="http://schemas.openxmlformats.org/drawingml/2006/main" w="9525">
            <a:solidFill>
              <a:srgbClr val="C8D5E3"/>
            </a:solidFill>
            <a:prstDash val="solid"/>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8</a:t>
            </a:r>
          </a:p>
          <a:p xmlns:a="http://schemas.openxmlformats.org/drawingml/2006/main">
            <a:pPr>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Outcome verification</a:t>
            </a:r>
          </a:p>
        </p:txBody>
      </p:sp>
      <p:cxnSp>
        <p:nvCxnSpPr>
          <p:cNvPr id="40" name=""/>
          <p:cNvCxnSpPr>
            <a:stCxn xmlns:a="http://schemas.openxmlformats.org/drawingml/2006/main" id="12" idx="3"/>
            <a:endCxn xmlns:a="http://schemas.openxmlformats.org/drawingml/2006/main" id="13" idx="1"/>
          </p:cNvCxnSpPr>
          <p:nvPr/>
        </p:nvCxnSpPr>
        <p:spPr>
          <a:xfrm xmlns:a="http://schemas.openxmlformats.org/drawingml/2006/main">
            <a:off x="17049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1" name=""/>
          <p:cNvCxnSpPr>
            <a:stCxn xmlns:a="http://schemas.openxmlformats.org/drawingml/2006/main" id="13" idx="3"/>
            <a:endCxn xmlns:a="http://schemas.openxmlformats.org/drawingml/2006/main" id="14" idx="1"/>
          </p:cNvCxnSpPr>
          <p:nvPr/>
        </p:nvCxnSpPr>
        <p:spPr>
          <a:xfrm xmlns:a="http://schemas.openxmlformats.org/drawingml/2006/main">
            <a:off x="31527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2" name=""/>
          <p:cNvCxnSpPr>
            <a:stCxn xmlns:a="http://schemas.openxmlformats.org/drawingml/2006/main" id="14" idx="3"/>
            <a:endCxn xmlns:a="http://schemas.openxmlformats.org/drawingml/2006/main" id="15" idx="1"/>
          </p:cNvCxnSpPr>
          <p:nvPr/>
        </p:nvCxnSpPr>
        <p:spPr>
          <a:xfrm xmlns:a="http://schemas.openxmlformats.org/drawingml/2006/main">
            <a:off x="46005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3" name=""/>
          <p:cNvCxnSpPr>
            <a:stCxn xmlns:a="http://schemas.openxmlformats.org/drawingml/2006/main" id="15" idx="3"/>
            <a:endCxn xmlns:a="http://schemas.openxmlformats.org/drawingml/2006/main" id="16" idx="1"/>
          </p:cNvCxnSpPr>
          <p:nvPr/>
        </p:nvCxnSpPr>
        <p:spPr>
          <a:xfrm xmlns:a="http://schemas.openxmlformats.org/drawingml/2006/main">
            <a:off x="60483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4" name=""/>
          <p:cNvCxnSpPr>
            <a:stCxn xmlns:a="http://schemas.openxmlformats.org/drawingml/2006/main" id="16" idx="3"/>
            <a:endCxn xmlns:a="http://schemas.openxmlformats.org/drawingml/2006/main" id="17" idx="1"/>
          </p:cNvCxnSpPr>
          <p:nvPr/>
        </p:nvCxnSpPr>
        <p:spPr>
          <a:xfrm xmlns:a="http://schemas.openxmlformats.org/drawingml/2006/main">
            <a:off x="74961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5" name=""/>
          <p:cNvCxnSpPr>
            <a:stCxn xmlns:a="http://schemas.openxmlformats.org/drawingml/2006/main" id="17" idx="3"/>
            <a:endCxn xmlns:a="http://schemas.openxmlformats.org/drawingml/2006/main" id="18" idx="1"/>
          </p:cNvCxnSpPr>
          <p:nvPr/>
        </p:nvCxnSpPr>
        <p:spPr>
          <a:xfrm xmlns:a="http://schemas.openxmlformats.org/drawingml/2006/main">
            <a:off x="89439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cxnSp>
        <p:nvCxnSpPr>
          <p:cNvPr id="46" name=""/>
          <p:cNvCxnSpPr>
            <a:stCxn xmlns:a="http://schemas.openxmlformats.org/drawingml/2006/main" id="18" idx="3"/>
            <a:endCxn xmlns:a="http://schemas.openxmlformats.org/drawingml/2006/main" id="19" idx="1"/>
          </p:cNvCxnSpPr>
          <p:nvPr/>
        </p:nvCxnSpPr>
        <p:spPr>
          <a:xfrm xmlns:a="http://schemas.openxmlformats.org/drawingml/2006/main">
            <a:off x="10391775" y="2838450"/>
            <a:ext cx="142875" cy="0"/>
          </a:xfrm>
          <a:prstGeom xmlns:a="http://schemas.openxmlformats.org/drawingml/2006/main" prst="straightConnector1">
            <a:avLst/>
          </a:prstGeom>
          <a:ln xmlns:a="http://schemas.openxmlformats.org/drawingml/2006/main" w="14288">
            <a:solidFill>
              <a:srgbClr val="7E91A8"/>
            </a:solidFill>
            <a:prstDash val="solid"/>
            <a:headEnd type="triangle" w="sm" len="sm"/>
          </a:ln>
        </p:spPr>
      </p:cxnSp>
      <p:sp>
        <p:nvSpPr>
          <p:cNvPr id="27" name="audit-layer">
            <a:extLst xmlns:a="http://schemas.openxmlformats.org/drawingml/2006/main">
              <a:ext uri="{FF2B5EF4-FFF2-40B4-BE49-F238E27FC236}">
                <a16:creationId xmlns:a16="http://schemas.microsoft.com/office/drawing/2014/main" id="{C5B86418-D6F7-43EE-93AC-DE175A31E9CA}"/>
              </a:ext>
            </a:extLst>
          </p:cNvPr>
          <p:cNvSpPr>
            <a:spLocks xmlns:a="http://schemas.openxmlformats.org/drawingml/2006/main" noGrp="1"/>
          </p:cNvSpPr>
          <p:nvPr/>
        </p:nvSpPr>
        <p:spPr>
          <a:xfrm xmlns:a="http://schemas.openxmlformats.org/drawingml/2006/main">
            <a:off x="800100" y="4333875"/>
            <a:ext cx="10591800" cy="742950"/>
          </a:xfrm>
          <a:prstGeom xmlns:a="http://schemas.openxmlformats.org/drawingml/2006/main" prst="roundRect">
            <a:avLst>
              <a:gd name="adj" fmla="val 12821"/>
            </a:avLst>
          </a:prstGeom>
          <a:solidFill xmlns:a="http://schemas.openxmlformats.org/drawingml/2006/main">
            <a:srgbClr val="08284F"/>
          </a:solidFill>
          <a:ln xmlns:a="http://schemas.openxmlformats.org/drawingml/2006/main" w="9525">
            <a:solidFill>
              <a:srgbClr val="08284F"/>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PostgreSQL + pgvector   |   events, evidence, tool traces, hypotheses, approvals, actions and versioned reports</a:t>
            </a:r>
          </a:p>
        </p:txBody>
      </p:sp>
      <p:sp>
        <p:nvSpPr>
          <p:cNvPr id="28" name="architecture-note">
            <a:extLst xmlns:a="http://schemas.openxmlformats.org/drawingml/2006/main">
              <a:ext uri="{FF2B5EF4-FFF2-40B4-BE49-F238E27FC236}">
                <a16:creationId xmlns:a16="http://schemas.microsoft.com/office/drawing/2014/main" id="{E25857D3-4972-4E30-9247-166736934A57}"/>
              </a:ext>
            </a:extLst>
          </p:cNvPr>
          <p:cNvSpPr>
            <a:spLocks xmlns:a="http://schemas.openxmlformats.org/drawingml/2006/main" noGrp="1"/>
          </p:cNvSpPr>
          <p:nvPr/>
        </p:nvSpPr>
        <p:spPr>
          <a:xfrm xmlns:a="http://schemas.openxmlformats.org/drawingml/2006/main">
            <a:off x="1619250" y="5334000"/>
            <a:ext cx="895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2677D"/>
                </a:solidFill>
                <a:latin typeface="Helvetica Neue"/>
                <a:ea typeface="Helvetica Neue"/>
                <a:cs typeface="Helvetica Neue"/>
              </a:defRPr>
            </a:pPr>
            <a:r>
              <a:rPr sz="1200" b="0">
                <a:solidFill>
                  <a:srgbClr val="52677D"/>
                </a:solidFill>
                <a:latin typeface="Helvetica Neue"/>
                <a:ea typeface="Helvetica Neue"/>
                <a:cs typeface="Helvetica Neue"/>
              </a:rPr>
              <a:t>The database acts as the investigation memory and audit boundary. If that history cannot be preserved, the workflow stops safely.</a:t>
            </a:r>
          </a:p>
        </p:txBody>
      </p:sp>
    </p:spTree>
    <p:extLst>
      <p:ext uri="{BB962C8B-B14F-4D97-AF65-F5344CB8AC3E}">
        <p14:creationId xmlns:p14="http://schemas.microsoft.com/office/powerpoint/2010/main" val="34463389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009"/>
            <a:ext cx="11404600" cy="58158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Hybrid intelligence keeps conclusions explainable</a:t>
            </a:r>
            <a:endParaRP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025321"/>
            <a:ext cx="5533887" cy="1320801"/>
          </a:xfrm>
          <a:prstGeom xmlns:a="http://schemas.openxmlformats.org/drawingml/2006/main" prst="roundRect">
            <a:avLst>
              <a:gd name="adj" fmla="val 5851"/>
            </a:avLst>
          </a:prstGeom>
          <a:noFill xmlns:a="http://schemas.openxmlformats.org/drawingml/2006/main"/>
          <a:ln xmlns:a="http://schemas.openxmlformats.org/drawingml/2006/main" w="12700">
            <a:solidFill>
              <a:schemeClr val="accent4"/>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274205"/>
            <a:ext cx="4986886" cy="877788"/>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Machine learning signal</a:t>
            </a:r>
          </a:p>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Isolation Forest identifies unusual behavior without requiring labeled fraud examples.</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514850"/>
            <a:ext cx="5236652"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Unsupervised anomaly score</a:t>
            </a:r>
          </a:p>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Peer-pattern deviation</a:t>
            </a:r>
          </a:p>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Repeatable random seed</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025321"/>
            <a:ext cx="5533887" cy="1320801"/>
          </a:xfrm>
          <a:prstGeom xmlns:a="http://schemas.openxmlformats.org/drawingml/2006/main" prst="roundRect">
            <a:avLst>
              <a:gd name="adj" fmla="val 4875"/>
            </a:avLst>
          </a:prstGeom>
          <a:noFill xmlns:a="http://schemas.openxmlformats.org/drawingml/2006/main"/>
          <a:ln xmlns:a="http://schemas.openxmlformats.org/drawingml/2006/main" w="12700">
            <a:solidFill>
              <a:schemeClr val="accent4"/>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274205"/>
            <a:ext cx="4986886" cy="877788"/>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Deterministic evidence</a:t>
            </a:r>
          </a:p>
          <a:p xmlns:a="http://schemas.openxmlformats.org/drawingml/2006/main">
            <a:pPr marL="0" indent="0">
              <a:lnSpc>
                <a:spcPct val="110000"/>
              </a:lnSpc>
              <a:spcBef>
                <a:spcPts val="0"/>
              </a:spcBef>
              <a:buFontTx/>
              <a:buNone/>
              <a:defRPr sz="1350" b="0">
                <a:solidFill>
                  <a:srgbClr val="08284F"/>
                </a:solidFill>
                <a:latin typeface="Helvetica Neue"/>
                <a:ea typeface="Helvetica Neue"/>
                <a:cs typeface="Helvetica Neue"/>
              </a:defRPr>
            </a:pPr>
            <a:r>
              <a:rPr sz="1350" b="0">
                <a:solidFill>
                  <a:srgbClr val="08284F"/>
                </a:solidFill>
                <a:latin typeface="Helvetica Neue"/>
                <a:ea typeface="Helvetica Neue"/>
                <a:cs typeface="Helvetica Neue"/>
              </a:rPr>
              <a:t>Robust baselines, peer comparison, topology, energy balance and tariffs explain why a case matters.</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514850"/>
            <a:ext cx="5236652"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Median and IQR thresholds</a:t>
            </a:r>
          </a:p>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Traceable formulas and versions</a:t>
            </a:r>
          </a:p>
          <a:p xmlns:a="http://schemas.openxmlformats.org/drawingml/2006/main">
            <a:pPr marL="228600" lvl="0" indent="-228600">
              <a:lnSpc>
                <a:spcPct val="114000"/>
              </a:lnSpc>
              <a:spcBef>
                <a:spcPts val="0"/>
              </a:spcBef>
              <a:spcAft>
                <a:spcPts val="600"/>
              </a:spcAft>
              <a:buFont typeface="Arial"/>
              <a:buChar char="•"/>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Explicit Unknown when evidence is missing</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425" b="0">
                <a:solidFill>
                  <a:srgbClr val="08284F"/>
                </a:solidFill>
                <a:latin typeface="Helvetica Neue"/>
                <a:ea typeface="Helvetica Neue"/>
                <a:cs typeface="Helvetica Neue"/>
              </a:defRPr>
            </a:pPr>
            <a:r>
              <a:rPr sz="1425" b="0">
                <a:solidFill>
                  <a:srgbClr val="08284F"/>
                </a:solidFill>
                <a:latin typeface="Helvetica Neue"/>
                <a:ea typeface="Helvetica Neue"/>
                <a:cs typeface="Helvetica Neue"/>
              </a:rPr>
              <a:t>Each method answers a different question. The system combines signals instead of treating one model score as proof.</a:t>
            </a:r>
          </a:p>
        </p:txBody>
      </p:sp>
      <p:sp>
        <p:nvSpPr>
          <p:cNvPr id="26" name="Content Placeholder 15">
            <a:extLst xmlns:a="http://schemas.openxmlformats.org/drawingml/2006/main">
              <a:ext uri="{FF2B5EF4-FFF2-40B4-BE49-F238E27FC236}">
                <a16:creationId xmlns:a16="http://schemas.microsoft.com/office/drawing/2014/main" id="{E7F409CA-A992-D5A3-DF49-49CFA53E418B}"/>
              </a:ext>
            </a:extLst>
          </p:cNvPr>
          <p:cNvSpPr>
            <a:spLocks xmlns:a="http://schemas.openxmlformats.org/drawingml/2006/main" noGrp="1"/>
          </p:cNvSpPr>
          <p:nvPr/>
        </p:nvSpPr>
        <p:spPr>
          <a:xfrm xmlns:a="http://schemas.openxmlformats.org/drawingml/2006/main">
            <a:off x="400939" y="5617936"/>
            <a:ext cx="11404599" cy="529823"/>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
            </a:r>
          </a:p>
        </p:txBody>
      </p:sp>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88408272-D6A5-5132-33E2-F35391B125A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17</a:t>
            </a:fld>
            <a:endParaRPr sz="1100"/>
          </a:p>
        </p:txBody>
      </p:sp>
    </p:spTree>
    <p:extLst>
      <p:ext uri="{BB962C8B-B14F-4D97-AF65-F5344CB8AC3E}">
        <p14:creationId xmlns:p14="http://schemas.microsoft.com/office/powerpoint/2010/main" val="3462458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4D765FCF-56FA-8EE2-65DF-D8A5321F3C29}"/>
              </a:ext>
            </a:extLst>
          </p:cNvPr>
          <p:cNvSpPr>
            <a:spLocks xmlns:a="http://schemas.openxmlformats.org/drawingml/2006/main" noGrp="1"/>
          </p:cNvSpPr>
          <p:nvPr>
            <p:ph idx="1"/>
          </p:nvPr>
        </p:nvSpPr>
        <p:spPr>
          <a:xfrm xmlns:a="http://schemas.openxmlformats.org/drawingml/2006/main">
            <a:off x="3937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Investigation memory</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PostgreSQL, pgvector, SQLAlchemy and Alembic preserve evidence and schema history.</a:t>
            </a:r>
          </a:p>
        </p:txBody>
      </p:sp>
      <p:sp>
        <p:nvSpPr>
          <p:cNvPr id="559" name="Google Shape;559;p61">
            <a:extLst xmlns:a="http://schemas.openxmlformats.org/drawingml/2006/main">
              <a:ext uri="{FF2B5EF4-FFF2-40B4-BE49-F238E27FC236}">
                <a16:creationId xmlns:a16="http://schemas.microsoft.com/office/drawing/2014/main" id="{BFA1AD57-2515-3263-71AA-F5510D72450E}"/>
              </a:ext>
            </a:extLst>
          </p:cNvPr>
          <p:cNvSpPr>
            <a:spLocks xmlns:a="http://schemas.openxmlformats.org/drawingml/2006/main" noGrp="1"/>
          </p:cNvSpPr>
          <p:nvPr>
            <p:ph idx="10"/>
          </p:nvPr>
        </p:nvSpPr>
        <p:spPr>
          <a:xfrm xmlns:a="http://schemas.openxmlformats.org/drawingml/2006/main">
            <a:off x="43180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Repeatable delivery</a:t>
            </a:r>
            <a:endParaRPr sz="1600">
              <a:solidFill>
                <a:prstClr val="black"/>
              </a:solidFill>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Docker Compose and uv create a consistent API and database environment.</a:t>
            </a:r>
            <a:endParaRPr sz="1600">
              <a:solidFill>
                <a:prstClr val="black"/>
              </a:solidFill>
              <a:latin typeface="Helvetica Neue"/>
              <a:ea typeface="Helvetica Neue"/>
              <a:cs typeface="Helvetica Neue"/>
            </a:endParaRPr>
          </a:p>
        </p:txBody>
      </p:sp>
      <p:sp>
        <p:nvSpPr>
          <p:cNvPr id="560" name="Google Shape;560;p61">
            <a:extLst xmlns:a="http://schemas.openxmlformats.org/drawingml/2006/main">
              <a:ext uri="{FF2B5EF4-FFF2-40B4-BE49-F238E27FC236}">
                <a16:creationId xmlns:a16="http://schemas.microsoft.com/office/drawing/2014/main" id="{F4CF59D7-297B-30C8-431E-585575A55EC7}"/>
              </a:ext>
            </a:extLst>
          </p:cNvPr>
          <p:cNvSpPr>
            <a:spLocks xmlns:a="http://schemas.openxmlformats.org/drawingml/2006/main" noGrp="1"/>
          </p:cNvSpPr>
          <p:nvPr>
            <p:ph idx="11"/>
          </p:nvPr>
        </p:nvSpPr>
        <p:spPr>
          <a:xfrm xmlns:a="http://schemas.openxmlformats.org/drawingml/2006/main">
            <a:off x="8232273"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Quality and visibility</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pytest, Ruff, request IDs, JSON logs, latency and tool traces support review.</a:t>
            </a:r>
          </a:p>
        </p:txBody>
      </p:sp>
      <p:sp>
        <p:nvSpPr>
          <p:cNvPr id="557" name="Google Shape;557;p61">
            <a:extLst xmlns:a="http://schemas.openxmlformats.org/drawingml/2006/main">
              <a:ext uri="{FF2B5EF4-FFF2-40B4-BE49-F238E27FC236}">
                <a16:creationId xmlns:a16="http://schemas.microsoft.com/office/drawing/2014/main" id="{252743B9-4592-4663-CAD2-40CC23D409B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Technical foundation</a:t>
            </a:r>
            <a:endParaRPr/>
          </a:p>
        </p:txBody>
      </p:sp>
      <p:sp>
        <p:nvSpPr>
          <p:cNvPr id="2" name="Google Shape;558;p61">
            <a:extLst xmlns:a="http://schemas.openxmlformats.org/drawingml/2006/main">
              <a:ext uri="{FF2B5EF4-FFF2-40B4-BE49-F238E27FC236}">
                <a16:creationId xmlns:a16="http://schemas.microsoft.com/office/drawing/2014/main" id="{0018B0C7-DC20-D7FE-2D99-C8372B90AC3A}"/>
              </a:ext>
            </a:extLst>
          </p:cNvPr>
          <p:cNvSpPr>
            <a:spLocks xmlns:a="http://schemas.openxmlformats.org/drawingml/2006/main" noGrp="1"/>
          </p:cNvSpPr>
          <p:nvPr/>
        </p:nvSpPr>
        <p:spPr>
          <a:xfrm xmlns:a="http://schemas.openxmlformats.org/drawingml/2006/main">
            <a:off x="3937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Agentic workflow</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A persistent state machine coordinates about 20 typed tools and can revise the same case.</a:t>
            </a:r>
          </a:p>
        </p:txBody>
      </p:sp>
      <p:sp>
        <p:nvSpPr>
          <p:cNvPr id="3" name="Google Shape;559;p61">
            <a:extLst xmlns:a="http://schemas.openxmlformats.org/drawingml/2006/main">
              <a:ext uri="{FF2B5EF4-FFF2-40B4-BE49-F238E27FC236}">
                <a16:creationId xmlns:a16="http://schemas.microsoft.com/office/drawing/2014/main" id="{142AC269-69D2-161D-AD16-2E5D7B8A96F1}"/>
              </a:ext>
            </a:extLst>
          </p:cNvPr>
          <p:cNvSpPr>
            <a:spLocks xmlns:a="http://schemas.openxmlformats.org/drawingml/2006/main" noGrp="1"/>
          </p:cNvSpPr>
          <p:nvPr/>
        </p:nvSpPr>
        <p:spPr>
          <a:xfrm xmlns:a="http://schemas.openxmlformats.org/drawingml/2006/main">
            <a:off x="43180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Grounded knowledge</a:t>
            </a:r>
          </a:p>
          <a:p xmlns:a="http://schemas.openxmlformats.org/drawingml/2006/main">
            <a:pPr marL="0" indent="0">
              <a:lnSpc>
                <a:spcPct val="114000"/>
              </a:lnSpc>
              <a:spcBef>
                <a:spcPts val="0"/>
              </a:spcBef>
              <a:spcAft>
                <a:spcPts val="800"/>
              </a:spcAft>
              <a:buFont typeface="Arial"/>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RAG retrieves cited technical guidance. An optional LLM explains tool-owned facts.</a:t>
            </a:r>
          </a:p>
        </p:txBody>
      </p:sp>
      <p:sp>
        <p:nvSpPr>
          <p:cNvPr id="4" name="Google Shape;560;p61">
            <a:extLst xmlns:a="http://schemas.openxmlformats.org/drawingml/2006/main">
              <a:ext uri="{FF2B5EF4-FFF2-40B4-BE49-F238E27FC236}">
                <a16:creationId xmlns:a16="http://schemas.microsoft.com/office/drawing/2014/main" id="{7E988850-5A60-A9C4-B928-BDFEC4FE498E}"/>
              </a:ext>
            </a:extLst>
          </p:cNvPr>
          <p:cNvSpPr>
            <a:spLocks xmlns:a="http://schemas.openxmlformats.org/drawingml/2006/main" noGrp="1"/>
          </p:cNvSpPr>
          <p:nvPr/>
        </p:nvSpPr>
        <p:spPr>
          <a:xfrm xmlns:a="http://schemas.openxmlformats.org/drawingml/2006/main">
            <a:off x="8232273"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Validated API</a:t>
            </a:r>
          </a:p>
          <a:p xmlns:a="http://schemas.openxmlformats.org/drawingml/2006/main">
            <a:pPr marL="0" indent="0">
              <a:lnSpc>
                <a:spcPct val="114000"/>
              </a:lnSpc>
              <a:spcBef>
                <a:spcPts val="0"/>
              </a:spcBef>
              <a:spcAft>
                <a:spcPts val="800"/>
              </a:spcAft>
              <a:buFont typeface="Arial"/>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FastAPI and Pydantic provide strict REST contracts and safe error boundaries.</a:t>
            </a:r>
          </a:p>
        </p:txBody>
      </p:sp>
      <p:sp>
        <p:nvSpPr>
          <p:cNvPr id="5" name="Google Shape;561;p61">
            <a:extLst xmlns:a="http://schemas.openxmlformats.org/drawingml/2006/main">
              <a:ext uri="{FF2B5EF4-FFF2-40B4-BE49-F238E27FC236}">
                <a16:creationId xmlns:a16="http://schemas.microsoft.com/office/drawing/2014/main" id="{43830694-5B70-1E3A-562E-A57DE1DE0273}"/>
              </a:ext>
            </a:extLst>
          </p:cNvPr>
          <p:cNvSpPr>
            <a:spLocks xmlns:a="http://schemas.openxmlformats.org/drawingml/2006/main" noGrp="1"/>
          </p:cNvSpPr>
          <p:nvPr/>
        </p:nvSpPr>
        <p:spPr>
          <a:xfrm xmlns:a="http://schemas.openxmlformats.org/drawingml/2006/main">
            <a:off x="4279904" y="2022554"/>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6" name="Google Shape;562;p61">
            <a:extLst xmlns:a="http://schemas.openxmlformats.org/drawingml/2006/main">
              <a:ext uri="{FF2B5EF4-FFF2-40B4-BE49-F238E27FC236}">
                <a16:creationId xmlns:a16="http://schemas.microsoft.com/office/drawing/2014/main" id="{7C8ADA23-5610-C31E-B048-A0886EDC2B08}"/>
              </a:ext>
            </a:extLst>
          </p:cNvPr>
          <p:cNvSpPr>
            <a:spLocks xmlns:a="http://schemas.openxmlformats.org/drawingml/2006/main" noGrp="1"/>
          </p:cNvSpPr>
          <p:nvPr/>
        </p:nvSpPr>
        <p:spPr>
          <a:xfrm xmlns:a="http://schemas.openxmlformats.org/drawingml/2006/main">
            <a:off x="401398" y="2018463"/>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1" name="Google Shape;1369;p101">
            <a:extLst xmlns:a="http://schemas.openxmlformats.org/drawingml/2006/main">
              <a:ext uri="{FF2B5EF4-FFF2-40B4-BE49-F238E27FC236}">
                <a16:creationId xmlns:a16="http://schemas.microsoft.com/office/drawing/2014/main" id="{41FBCA7C-C2E7-AFB5-3B6C-4D9C9E154570}"/>
              </a:ext>
            </a:extLst>
          </p:cNvPr>
          <p:cNvSpPr>
            <a:spLocks xmlns:a="http://schemas.openxmlformats.org/drawingml/2006/main" noGrp="1"/>
          </p:cNvSpPr>
          <p:nvPr/>
        </p:nvSpPr>
        <p:spPr>
          <a:xfrm xmlns:a="http://schemas.openxmlformats.org/drawingml/2006/main">
            <a:off x="8229600" y="2030146"/>
            <a:ext cx="338580" cy="338688"/>
          </a:xfrm>
          <a:custGeom xmlns:a="http://schemas.openxmlformats.org/drawingml/2006/main">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784" y="2163"/>
                </a:moveTo>
                <a:cubicBezTo>
                  <a:pt x="10772" y="2167"/>
                  <a:pt x="10749" y="2175"/>
                  <a:pt x="10715" y="2196"/>
                </a:cubicBezTo>
                <a:cubicBezTo>
                  <a:pt x="10574" y="2281"/>
                  <a:pt x="10340" y="2510"/>
                  <a:pt x="10071" y="2999"/>
                </a:cubicBezTo>
                <a:cubicBezTo>
                  <a:pt x="9811" y="3472"/>
                  <a:pt x="9560" y="4109"/>
                  <a:pt x="9344" y="4895"/>
                </a:cubicBezTo>
                <a:cubicBezTo>
                  <a:pt x="8980" y="6213"/>
                  <a:pt x="8731" y="7875"/>
                  <a:pt x="8661" y="9720"/>
                </a:cubicBezTo>
                <a:lnTo>
                  <a:pt x="12939" y="9720"/>
                </a:lnTo>
                <a:cubicBezTo>
                  <a:pt x="12869" y="7875"/>
                  <a:pt x="12620" y="6213"/>
                  <a:pt x="12256" y="4895"/>
                </a:cubicBezTo>
                <a:cubicBezTo>
                  <a:pt x="12040" y="4109"/>
                  <a:pt x="11789" y="3472"/>
                  <a:pt x="11529" y="2999"/>
                </a:cubicBezTo>
                <a:cubicBezTo>
                  <a:pt x="11260" y="2510"/>
                  <a:pt x="11026" y="2281"/>
                  <a:pt x="10885" y="2196"/>
                </a:cubicBezTo>
                <a:cubicBezTo>
                  <a:pt x="10851" y="2175"/>
                  <a:pt x="10828" y="2167"/>
                  <a:pt x="10816" y="2163"/>
                </a:cubicBezTo>
                <a:cubicBezTo>
                  <a:pt x="10807" y="2161"/>
                  <a:pt x="10801" y="2160"/>
                  <a:pt x="10800" y="2160"/>
                </a:cubicBezTo>
                <a:cubicBezTo>
                  <a:pt x="10798" y="2160"/>
                  <a:pt x="10793" y="2161"/>
                  <a:pt x="10784" y="2163"/>
                </a:cubicBezTo>
                <a:close/>
                <a:moveTo>
                  <a:pt x="6499" y="9720"/>
                </a:moveTo>
                <a:cubicBezTo>
                  <a:pt x="6571" y="7704"/>
                  <a:pt x="6841" y="5845"/>
                  <a:pt x="7261" y="4321"/>
                </a:cubicBezTo>
                <a:cubicBezTo>
                  <a:pt x="7424" y="3732"/>
                  <a:pt x="7611" y="3182"/>
                  <a:pt x="7825" y="2686"/>
                </a:cubicBezTo>
                <a:cubicBezTo>
                  <a:pt x="4843" y="3779"/>
                  <a:pt x="2632" y="6469"/>
                  <a:pt x="2227" y="9720"/>
                </a:cubicBezTo>
                <a:lnTo>
                  <a:pt x="6499" y="9720"/>
                </a:lnTo>
                <a:close/>
                <a:moveTo>
                  <a:pt x="2227" y="11880"/>
                </a:moveTo>
                <a:lnTo>
                  <a:pt x="6499" y="11880"/>
                </a:lnTo>
                <a:cubicBezTo>
                  <a:pt x="6582" y="14228"/>
                  <a:pt x="6936" y="16368"/>
                  <a:pt x="7484" y="18014"/>
                </a:cubicBezTo>
                <a:cubicBezTo>
                  <a:pt x="7589" y="18327"/>
                  <a:pt x="7702" y="18628"/>
                  <a:pt x="7825" y="18914"/>
                </a:cubicBezTo>
                <a:cubicBezTo>
                  <a:pt x="4843" y="17821"/>
                  <a:pt x="2632" y="15131"/>
                  <a:pt x="2227" y="11880"/>
                </a:cubicBezTo>
                <a:close/>
                <a:moveTo>
                  <a:pt x="8661" y="11880"/>
                </a:moveTo>
                <a:cubicBezTo>
                  <a:pt x="8743" y="14037"/>
                  <a:pt x="9069" y="15938"/>
                  <a:pt x="9534" y="17332"/>
                </a:cubicBezTo>
                <a:cubicBezTo>
                  <a:pt x="9806" y="18148"/>
                  <a:pt x="10106" y="18732"/>
                  <a:pt x="10387" y="19088"/>
                </a:cubicBezTo>
                <a:cubicBezTo>
                  <a:pt x="10525" y="19263"/>
                  <a:pt x="10637" y="19356"/>
                  <a:pt x="10712" y="19402"/>
                </a:cubicBezTo>
                <a:cubicBezTo>
                  <a:pt x="10748" y="19424"/>
                  <a:pt x="10771" y="19434"/>
                  <a:pt x="10783" y="19437"/>
                </a:cubicBezTo>
                <a:cubicBezTo>
                  <a:pt x="10794" y="19440"/>
                  <a:pt x="10800" y="19440"/>
                  <a:pt x="10800" y="19440"/>
                </a:cubicBezTo>
                <a:cubicBezTo>
                  <a:pt x="10800" y="19440"/>
                  <a:pt x="10805" y="19440"/>
                  <a:pt x="10817" y="19437"/>
                </a:cubicBezTo>
                <a:cubicBezTo>
                  <a:pt x="10829" y="19434"/>
                  <a:pt x="10852" y="19424"/>
                  <a:pt x="10888" y="19402"/>
                </a:cubicBezTo>
                <a:cubicBezTo>
                  <a:pt x="10963" y="19356"/>
                  <a:pt x="11075" y="19263"/>
                  <a:pt x="11213" y="19088"/>
                </a:cubicBezTo>
                <a:cubicBezTo>
                  <a:pt x="11494" y="18732"/>
                  <a:pt x="11794" y="18148"/>
                  <a:pt x="12066" y="17332"/>
                </a:cubicBezTo>
                <a:cubicBezTo>
                  <a:pt x="12531" y="15938"/>
                  <a:pt x="12857" y="14037"/>
                  <a:pt x="12939" y="11880"/>
                </a:cubicBezTo>
                <a:lnTo>
                  <a:pt x="8661" y="11880"/>
                </a:lnTo>
                <a:close/>
                <a:moveTo>
                  <a:pt x="15101" y="11880"/>
                </a:moveTo>
                <a:cubicBezTo>
                  <a:pt x="15018" y="14228"/>
                  <a:pt x="14664" y="16368"/>
                  <a:pt x="14116" y="18014"/>
                </a:cubicBezTo>
                <a:cubicBezTo>
                  <a:pt x="14011" y="18327"/>
                  <a:pt x="13898" y="18628"/>
                  <a:pt x="13775" y="18914"/>
                </a:cubicBezTo>
                <a:cubicBezTo>
                  <a:pt x="16757" y="17821"/>
                  <a:pt x="18968" y="15131"/>
                  <a:pt x="19373" y="11880"/>
                </a:cubicBezTo>
                <a:lnTo>
                  <a:pt x="15101" y="11880"/>
                </a:lnTo>
                <a:close/>
                <a:moveTo>
                  <a:pt x="19373" y="9720"/>
                </a:moveTo>
                <a:cubicBezTo>
                  <a:pt x="18968" y="6469"/>
                  <a:pt x="16757" y="3779"/>
                  <a:pt x="13775" y="2686"/>
                </a:cubicBezTo>
                <a:cubicBezTo>
                  <a:pt x="13989" y="3182"/>
                  <a:pt x="14176" y="3732"/>
                  <a:pt x="14339" y="4321"/>
                </a:cubicBezTo>
                <a:cubicBezTo>
                  <a:pt x="14759" y="5845"/>
                  <a:pt x="15029" y="7704"/>
                  <a:pt x="15101" y="9720"/>
                </a:cubicBezTo>
                <a:lnTo>
                  <a:pt x="19373" y="9720"/>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3" name="Google Shape;1415;p101">
            <a:extLst xmlns:a="http://schemas.openxmlformats.org/drawingml/2006/main">
              <a:ext uri="{FF2B5EF4-FFF2-40B4-BE49-F238E27FC236}">
                <a16:creationId xmlns:a16="http://schemas.microsoft.com/office/drawing/2014/main" id="{8574D0ED-7640-B4E7-7B56-C1CA61B9EC01}"/>
              </a:ext>
            </a:extLst>
          </p:cNvPr>
          <p:cNvSpPr>
            <a:spLocks xmlns:a="http://schemas.openxmlformats.org/drawingml/2006/main" noGrp="1"/>
          </p:cNvSpPr>
          <p:nvPr/>
        </p:nvSpPr>
        <p:spPr>
          <a:xfrm xmlns:a="http://schemas.openxmlformats.org/drawingml/2006/main">
            <a:off x="371885" y="4050316"/>
            <a:ext cx="389340" cy="304776"/>
          </a:xfrm>
          <a:custGeom xmlns:a="http://schemas.openxmlformats.org/drawingml/2006/main">
            <a:rect l="l" t="t" r="r" b="b"/>
            <a:pathLst>
              <a:path w="21600" h="21600">
                <a:moveTo>
                  <a:pt x="6574" y="2400"/>
                </a:moveTo>
                <a:cubicBezTo>
                  <a:pt x="5277" y="2400"/>
                  <a:pt x="4226" y="3743"/>
                  <a:pt x="4226" y="5400"/>
                </a:cubicBezTo>
                <a:cubicBezTo>
                  <a:pt x="4226" y="7057"/>
                  <a:pt x="5277" y="8400"/>
                  <a:pt x="6574" y="8400"/>
                </a:cubicBezTo>
                <a:cubicBezTo>
                  <a:pt x="7871" y="8400"/>
                  <a:pt x="8922" y="7057"/>
                  <a:pt x="8922" y="5400"/>
                </a:cubicBezTo>
                <a:cubicBezTo>
                  <a:pt x="8922" y="3743"/>
                  <a:pt x="7871" y="2400"/>
                  <a:pt x="6574" y="2400"/>
                </a:cubicBezTo>
                <a:close/>
                <a:moveTo>
                  <a:pt x="2348" y="5400"/>
                </a:moveTo>
                <a:cubicBezTo>
                  <a:pt x="2348" y="2418"/>
                  <a:pt x="4240" y="0"/>
                  <a:pt x="6574" y="0"/>
                </a:cubicBezTo>
                <a:cubicBezTo>
                  <a:pt x="8908" y="0"/>
                  <a:pt x="10800" y="2418"/>
                  <a:pt x="10800" y="5400"/>
                </a:cubicBezTo>
                <a:cubicBezTo>
                  <a:pt x="10800" y="8382"/>
                  <a:pt x="8908" y="10800"/>
                  <a:pt x="6574" y="10800"/>
                </a:cubicBezTo>
                <a:cubicBezTo>
                  <a:pt x="4240" y="10800"/>
                  <a:pt x="2348" y="8382"/>
                  <a:pt x="2348" y="5400"/>
                </a:cubicBezTo>
                <a:close/>
                <a:moveTo>
                  <a:pt x="15496" y="3600"/>
                </a:moveTo>
                <a:cubicBezTo>
                  <a:pt x="14458" y="3600"/>
                  <a:pt x="13617" y="4674"/>
                  <a:pt x="13617" y="6000"/>
                </a:cubicBezTo>
                <a:cubicBezTo>
                  <a:pt x="13617" y="7326"/>
                  <a:pt x="14458" y="8400"/>
                  <a:pt x="15496" y="8400"/>
                </a:cubicBezTo>
                <a:cubicBezTo>
                  <a:pt x="16533" y="8400"/>
                  <a:pt x="17374" y="7326"/>
                  <a:pt x="17374" y="6000"/>
                </a:cubicBezTo>
                <a:cubicBezTo>
                  <a:pt x="17374" y="4674"/>
                  <a:pt x="16533" y="3600"/>
                  <a:pt x="15496" y="3600"/>
                </a:cubicBezTo>
                <a:close/>
                <a:moveTo>
                  <a:pt x="11739" y="6000"/>
                </a:moveTo>
                <a:cubicBezTo>
                  <a:pt x="11739" y="3349"/>
                  <a:pt x="13421" y="1200"/>
                  <a:pt x="15496" y="1200"/>
                </a:cubicBezTo>
                <a:cubicBezTo>
                  <a:pt x="17570" y="1200"/>
                  <a:pt x="19252" y="3349"/>
                  <a:pt x="19252" y="6000"/>
                </a:cubicBezTo>
                <a:cubicBezTo>
                  <a:pt x="19252" y="8651"/>
                  <a:pt x="17570" y="10800"/>
                  <a:pt x="15496" y="10800"/>
                </a:cubicBezTo>
                <a:cubicBezTo>
                  <a:pt x="13421" y="10800"/>
                  <a:pt x="11739" y="8651"/>
                  <a:pt x="11739" y="6000"/>
                </a:cubicBezTo>
                <a:close/>
                <a:moveTo>
                  <a:pt x="3324" y="15896"/>
                </a:moveTo>
                <a:cubicBezTo>
                  <a:pt x="2477" y="16858"/>
                  <a:pt x="1878" y="18325"/>
                  <a:pt x="1878" y="20400"/>
                </a:cubicBezTo>
                <a:cubicBezTo>
                  <a:pt x="1878" y="21062"/>
                  <a:pt x="1458" y="21600"/>
                  <a:pt x="939" y="21600"/>
                </a:cubicBezTo>
                <a:cubicBezTo>
                  <a:pt x="421" y="21600"/>
                  <a:pt x="0" y="21062"/>
                  <a:pt x="0" y="20400"/>
                </a:cubicBezTo>
                <a:cubicBezTo>
                  <a:pt x="0" y="17675"/>
                  <a:pt x="810" y="15542"/>
                  <a:pt x="2076" y="14102"/>
                </a:cubicBezTo>
                <a:cubicBezTo>
                  <a:pt x="3325" y="12684"/>
                  <a:pt x="4965" y="12000"/>
                  <a:pt x="6574" y="12000"/>
                </a:cubicBezTo>
                <a:cubicBezTo>
                  <a:pt x="8183" y="12000"/>
                  <a:pt x="9822" y="12684"/>
                  <a:pt x="11071" y="14102"/>
                </a:cubicBezTo>
                <a:cubicBezTo>
                  <a:pt x="12338" y="15542"/>
                  <a:pt x="13148" y="17675"/>
                  <a:pt x="13148" y="20400"/>
                </a:cubicBezTo>
                <a:cubicBezTo>
                  <a:pt x="13148" y="21062"/>
                  <a:pt x="12727" y="21600"/>
                  <a:pt x="12209" y="21600"/>
                </a:cubicBezTo>
                <a:cubicBezTo>
                  <a:pt x="11690" y="21600"/>
                  <a:pt x="11270" y="21062"/>
                  <a:pt x="11270" y="20400"/>
                </a:cubicBezTo>
                <a:cubicBezTo>
                  <a:pt x="11270" y="18325"/>
                  <a:pt x="10670" y="16858"/>
                  <a:pt x="9824" y="15896"/>
                </a:cubicBezTo>
                <a:cubicBezTo>
                  <a:pt x="8960" y="14916"/>
                  <a:pt x="7783" y="14400"/>
                  <a:pt x="6574" y="14400"/>
                </a:cubicBezTo>
                <a:cubicBezTo>
                  <a:pt x="5365" y="14400"/>
                  <a:pt x="4188" y="14916"/>
                  <a:pt x="3324" y="15896"/>
                </a:cubicBezTo>
                <a:close/>
                <a:moveTo>
                  <a:pt x="18122" y="15168"/>
                </a:moveTo>
                <a:cubicBezTo>
                  <a:pt x="17175" y="14402"/>
                  <a:pt x="15927" y="14200"/>
                  <a:pt x="14811" y="14602"/>
                </a:cubicBezTo>
                <a:cubicBezTo>
                  <a:pt x="14312" y="14782"/>
                  <a:pt x="13793" y="14411"/>
                  <a:pt x="13653" y="13772"/>
                </a:cubicBezTo>
                <a:cubicBezTo>
                  <a:pt x="13512" y="13134"/>
                  <a:pt x="13802" y="12472"/>
                  <a:pt x="14302" y="12292"/>
                </a:cubicBezTo>
                <a:cubicBezTo>
                  <a:pt x="15894" y="11718"/>
                  <a:pt x="17698" y="11986"/>
                  <a:pt x="19125" y="13139"/>
                </a:cubicBezTo>
                <a:cubicBezTo>
                  <a:pt x="20589" y="14320"/>
                  <a:pt x="21600" y="16387"/>
                  <a:pt x="21600" y="19200"/>
                </a:cubicBezTo>
                <a:cubicBezTo>
                  <a:pt x="21600" y="19862"/>
                  <a:pt x="21179" y="20400"/>
                  <a:pt x="20661" y="20400"/>
                </a:cubicBezTo>
                <a:cubicBezTo>
                  <a:pt x="20142" y="20400"/>
                  <a:pt x="19722" y="19862"/>
                  <a:pt x="19722" y="19200"/>
                </a:cubicBezTo>
                <a:cubicBezTo>
                  <a:pt x="19722" y="17202"/>
                  <a:pt x="19034" y="15905"/>
                  <a:pt x="18122" y="15168"/>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5" name="Google Shape;1512;p103">
            <a:extLst xmlns:a="http://schemas.openxmlformats.org/drawingml/2006/main">
              <a:ext uri="{FF2B5EF4-FFF2-40B4-BE49-F238E27FC236}">
                <a16:creationId xmlns:a16="http://schemas.microsoft.com/office/drawing/2014/main" id="{D015E4E0-1777-A560-A6C2-AEDA1FADFC50}"/>
              </a:ext>
            </a:extLst>
          </p:cNvPr>
          <p:cNvSpPr>
            <a:spLocks xmlns:a="http://schemas.openxmlformats.org/drawingml/2006/main" noGrp="1"/>
          </p:cNvSpPr>
          <p:nvPr/>
        </p:nvSpPr>
        <p:spPr>
          <a:xfrm xmlns:a="http://schemas.openxmlformats.org/drawingml/2006/main">
            <a:off x="4291936" y="4025768"/>
            <a:ext cx="305570" cy="338652"/>
          </a:xfrm>
          <a:custGeom xmlns:a="http://schemas.openxmlformats.org/drawingml/2006/main">
            <a:rect l="l" t="t" r="r" b="b"/>
            <a:pathLst>
              <a:path w="21538" h="21553">
                <a:moveTo>
                  <a:pt x="10897" y="543"/>
                </a:moveTo>
                <a:cubicBezTo>
                  <a:pt x="11135" y="165"/>
                  <a:pt x="11603" y="-46"/>
                  <a:pt x="12081" y="8"/>
                </a:cubicBezTo>
                <a:lnTo>
                  <a:pt x="12622" y="69"/>
                </a:lnTo>
                <a:cubicBezTo>
                  <a:pt x="15566" y="401"/>
                  <a:pt x="17464" y="3053"/>
                  <a:pt x="16592" y="5614"/>
                </a:cubicBezTo>
                <a:lnTo>
                  <a:pt x="15932" y="7551"/>
                </a:lnTo>
                <a:cubicBezTo>
                  <a:pt x="16337" y="7557"/>
                  <a:pt x="16701" y="7570"/>
                  <a:pt x="17029" y="7593"/>
                </a:cubicBezTo>
                <a:cubicBezTo>
                  <a:pt x="17750" y="7644"/>
                  <a:pt x="18413" y="7753"/>
                  <a:pt x="19016" y="8039"/>
                </a:cubicBezTo>
                <a:cubicBezTo>
                  <a:pt x="20257" y="8629"/>
                  <a:pt x="21148" y="9683"/>
                  <a:pt x="21451" y="10920"/>
                </a:cubicBezTo>
                <a:cubicBezTo>
                  <a:pt x="21599" y="11520"/>
                  <a:pt x="21541" y="12127"/>
                  <a:pt x="21406" y="12769"/>
                </a:cubicBezTo>
                <a:cubicBezTo>
                  <a:pt x="21273" y="13395"/>
                  <a:pt x="21043" y="14161"/>
                  <a:pt x="20759" y="15099"/>
                </a:cubicBezTo>
                <a:lnTo>
                  <a:pt x="20202" y="16946"/>
                </a:lnTo>
                <a:cubicBezTo>
                  <a:pt x="20181" y="17013"/>
                  <a:pt x="20161" y="17078"/>
                  <a:pt x="20142" y="17143"/>
                </a:cubicBezTo>
                <a:cubicBezTo>
                  <a:pt x="19789" y="18315"/>
                  <a:pt x="19524" y="19196"/>
                  <a:pt x="18943" y="19876"/>
                </a:cubicBezTo>
                <a:cubicBezTo>
                  <a:pt x="18432" y="20473"/>
                  <a:pt x="17757" y="20939"/>
                  <a:pt x="16986" y="21226"/>
                </a:cubicBezTo>
                <a:cubicBezTo>
                  <a:pt x="16107" y="21554"/>
                  <a:pt x="15095" y="21553"/>
                  <a:pt x="13750" y="21552"/>
                </a:cubicBezTo>
                <a:cubicBezTo>
                  <a:pt x="11456" y="21551"/>
                  <a:pt x="9164" y="21552"/>
                  <a:pt x="6872" y="21552"/>
                </a:cubicBezTo>
                <a:cubicBezTo>
                  <a:pt x="5911" y="21552"/>
                  <a:pt x="5118" y="21552"/>
                  <a:pt x="4472" y="21505"/>
                </a:cubicBezTo>
                <a:cubicBezTo>
                  <a:pt x="3802" y="21455"/>
                  <a:pt x="3185" y="21349"/>
                  <a:pt x="2606" y="21082"/>
                </a:cubicBezTo>
                <a:cubicBezTo>
                  <a:pt x="1708" y="20669"/>
                  <a:pt x="979" y="20010"/>
                  <a:pt x="520" y="19199"/>
                </a:cubicBezTo>
                <a:cubicBezTo>
                  <a:pt x="226" y="18676"/>
                  <a:pt x="108" y="18119"/>
                  <a:pt x="53" y="17513"/>
                </a:cubicBezTo>
                <a:cubicBezTo>
                  <a:pt x="0" y="16930"/>
                  <a:pt x="0" y="16214"/>
                  <a:pt x="0" y="15346"/>
                </a:cubicBezTo>
                <a:lnTo>
                  <a:pt x="0" y="12931"/>
                </a:lnTo>
                <a:cubicBezTo>
                  <a:pt x="0" y="12881"/>
                  <a:pt x="0" y="12832"/>
                  <a:pt x="0" y="12783"/>
                </a:cubicBezTo>
                <a:cubicBezTo>
                  <a:pt x="0" y="11926"/>
                  <a:pt x="-1" y="11289"/>
                  <a:pt x="162" y="10738"/>
                </a:cubicBezTo>
                <a:cubicBezTo>
                  <a:pt x="604" y="9250"/>
                  <a:pt x="1890" y="8088"/>
                  <a:pt x="3538" y="7690"/>
                </a:cubicBezTo>
                <a:cubicBezTo>
                  <a:pt x="4148" y="7542"/>
                  <a:pt x="4853" y="7542"/>
                  <a:pt x="5803" y="7543"/>
                </a:cubicBezTo>
                <a:cubicBezTo>
                  <a:pt x="5857" y="7543"/>
                  <a:pt x="5911" y="7543"/>
                  <a:pt x="5966" y="7543"/>
                </a:cubicBezTo>
                <a:cubicBezTo>
                  <a:pt x="6277" y="7543"/>
                  <a:pt x="6562" y="7393"/>
                  <a:pt x="6716" y="7150"/>
                </a:cubicBezTo>
                <a:lnTo>
                  <a:pt x="10897" y="543"/>
                </a:lnTo>
                <a:close/>
                <a:moveTo>
                  <a:pt x="5407" y="19388"/>
                </a:moveTo>
                <a:cubicBezTo>
                  <a:pt x="5204" y="19068"/>
                  <a:pt x="5044" y="18723"/>
                  <a:pt x="4935" y="18357"/>
                </a:cubicBezTo>
                <a:cubicBezTo>
                  <a:pt x="4772" y="17806"/>
                  <a:pt x="4773" y="17169"/>
                  <a:pt x="4773" y="16312"/>
                </a:cubicBezTo>
                <a:cubicBezTo>
                  <a:pt x="4773" y="16264"/>
                  <a:pt x="4773" y="16214"/>
                  <a:pt x="4773" y="16164"/>
                </a:cubicBezTo>
                <a:lnTo>
                  <a:pt x="4773" y="9709"/>
                </a:lnTo>
                <a:cubicBezTo>
                  <a:pt x="4466" y="9719"/>
                  <a:pt x="4297" y="9737"/>
                  <a:pt x="4155" y="9772"/>
                </a:cubicBezTo>
                <a:cubicBezTo>
                  <a:pt x="3332" y="9971"/>
                  <a:pt x="2689" y="10552"/>
                  <a:pt x="2468" y="11296"/>
                </a:cubicBezTo>
                <a:cubicBezTo>
                  <a:pt x="2397" y="11535"/>
                  <a:pt x="2387" y="11860"/>
                  <a:pt x="2387" y="12931"/>
                </a:cubicBezTo>
                <a:lnTo>
                  <a:pt x="2387" y="15302"/>
                </a:lnTo>
                <a:cubicBezTo>
                  <a:pt x="2387" y="16225"/>
                  <a:pt x="2388" y="16853"/>
                  <a:pt x="2432" y="17338"/>
                </a:cubicBezTo>
                <a:cubicBezTo>
                  <a:pt x="2474" y="17810"/>
                  <a:pt x="2551" y="18052"/>
                  <a:pt x="2647" y="18220"/>
                </a:cubicBezTo>
                <a:cubicBezTo>
                  <a:pt x="2876" y="18626"/>
                  <a:pt x="3241" y="18955"/>
                  <a:pt x="3690" y="19162"/>
                </a:cubicBezTo>
                <a:cubicBezTo>
                  <a:pt x="3877" y="19248"/>
                  <a:pt x="4144" y="19318"/>
                  <a:pt x="4667" y="19356"/>
                </a:cubicBezTo>
                <a:cubicBezTo>
                  <a:pt x="4884" y="19372"/>
                  <a:pt x="5128" y="19382"/>
                  <a:pt x="5407" y="19388"/>
                </a:cubicBezTo>
                <a:close/>
                <a:moveTo>
                  <a:pt x="7160" y="9493"/>
                </a:moveTo>
                <a:lnTo>
                  <a:pt x="7160" y="16164"/>
                </a:lnTo>
                <a:cubicBezTo>
                  <a:pt x="7160" y="17236"/>
                  <a:pt x="7170" y="17560"/>
                  <a:pt x="7241" y="17799"/>
                </a:cubicBezTo>
                <a:cubicBezTo>
                  <a:pt x="7462" y="18543"/>
                  <a:pt x="8105" y="19124"/>
                  <a:pt x="8928" y="19324"/>
                </a:cubicBezTo>
                <a:cubicBezTo>
                  <a:pt x="9194" y="19388"/>
                  <a:pt x="9553" y="19397"/>
                  <a:pt x="10739" y="19397"/>
                </a:cubicBezTo>
                <a:lnTo>
                  <a:pt x="13524" y="19397"/>
                </a:lnTo>
                <a:cubicBezTo>
                  <a:pt x="15200" y="19397"/>
                  <a:pt x="15691" y="19377"/>
                  <a:pt x="16076" y="19234"/>
                </a:cubicBezTo>
                <a:cubicBezTo>
                  <a:pt x="16461" y="19090"/>
                  <a:pt x="16799" y="18857"/>
                  <a:pt x="17054" y="18559"/>
                </a:cubicBezTo>
                <a:cubicBezTo>
                  <a:pt x="17307" y="18262"/>
                  <a:pt x="17458" y="17839"/>
                  <a:pt x="17899" y="16379"/>
                </a:cubicBezTo>
                <a:lnTo>
                  <a:pt x="18444" y="14575"/>
                </a:lnTo>
                <a:cubicBezTo>
                  <a:pt x="18744" y="13583"/>
                  <a:pt x="18949" y="12899"/>
                  <a:pt x="19061" y="12366"/>
                </a:cubicBezTo>
                <a:cubicBezTo>
                  <a:pt x="19172" y="11837"/>
                  <a:pt x="19166" y="11567"/>
                  <a:pt x="19122" y="11387"/>
                </a:cubicBezTo>
                <a:cubicBezTo>
                  <a:pt x="18970" y="10768"/>
                  <a:pt x="18524" y="10241"/>
                  <a:pt x="17904" y="9946"/>
                </a:cubicBezTo>
                <a:cubicBezTo>
                  <a:pt x="17722" y="9860"/>
                  <a:pt x="17436" y="9783"/>
                  <a:pt x="16842" y="9741"/>
                </a:cubicBezTo>
                <a:cubicBezTo>
                  <a:pt x="16243" y="9699"/>
                  <a:pt x="15457" y="9698"/>
                  <a:pt x="14319" y="9698"/>
                </a:cubicBezTo>
                <a:cubicBezTo>
                  <a:pt x="13941" y="9698"/>
                  <a:pt x="13584" y="9536"/>
                  <a:pt x="13360" y="9261"/>
                </a:cubicBezTo>
                <a:cubicBezTo>
                  <a:pt x="13134" y="8986"/>
                  <a:pt x="13067" y="8631"/>
                  <a:pt x="13178" y="8304"/>
                </a:cubicBezTo>
                <a:lnTo>
                  <a:pt x="14311" y="4980"/>
                </a:lnTo>
                <a:cubicBezTo>
                  <a:pt x="14722" y="3771"/>
                  <a:pt x="13900" y="2522"/>
                  <a:pt x="12567" y="2246"/>
                </a:cubicBezTo>
                <a:lnTo>
                  <a:pt x="8787" y="8220"/>
                </a:lnTo>
                <a:cubicBezTo>
                  <a:pt x="8415" y="8808"/>
                  <a:pt x="7836" y="9252"/>
                  <a:pt x="7160" y="949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8" name="Google Shape;1266;p99">
            <a:extLst xmlns:a="http://schemas.openxmlformats.org/drawingml/2006/main">
              <a:ext uri="{FF2B5EF4-FFF2-40B4-BE49-F238E27FC236}">
                <a16:creationId xmlns:a16="http://schemas.microsoft.com/office/drawing/2014/main" id="{A7463D0C-45D0-FAD2-0C32-032165767122}"/>
              </a:ext>
            </a:extLst>
          </p:cNvPr>
          <p:cNvSpPr>
            <a:spLocks xmlns:a="http://schemas.openxmlformats.org/drawingml/2006/main" noGrp="1"/>
          </p:cNvSpPr>
          <p:nvPr/>
        </p:nvSpPr>
        <p:spPr>
          <a:xfrm xmlns:a="http://schemas.openxmlformats.org/drawingml/2006/main">
            <a:off x="8234485" y="4029083"/>
            <a:ext cx="321663" cy="321771"/>
          </a:xfrm>
          <a:custGeom xmlns:a="http://schemas.openxmlformats.org/drawingml/2006/main">
            <a:rect l="l" t="t" r="r" b="b"/>
            <a:pathLst>
              <a:path w="21599" h="21599">
                <a:moveTo>
                  <a:pt x="6252" y="0"/>
                </a:moveTo>
                <a:cubicBezTo>
                  <a:pt x="6880" y="0"/>
                  <a:pt x="7389" y="509"/>
                  <a:pt x="7389" y="1137"/>
                </a:cubicBezTo>
                <a:lnTo>
                  <a:pt x="14210" y="1137"/>
                </a:lnTo>
                <a:cubicBezTo>
                  <a:pt x="14210" y="509"/>
                  <a:pt x="14719" y="0"/>
                  <a:pt x="15347" y="0"/>
                </a:cubicBezTo>
                <a:cubicBezTo>
                  <a:pt x="15974" y="0"/>
                  <a:pt x="16483" y="509"/>
                  <a:pt x="16483" y="1137"/>
                </a:cubicBezTo>
                <a:lnTo>
                  <a:pt x="16483" y="1146"/>
                </a:lnTo>
                <a:cubicBezTo>
                  <a:pt x="16839" y="1155"/>
                  <a:pt x="17162" y="1170"/>
                  <a:pt x="17456" y="1197"/>
                </a:cubicBezTo>
                <a:cubicBezTo>
                  <a:pt x="18049" y="1254"/>
                  <a:pt x="18598" y="1369"/>
                  <a:pt x="19116" y="1632"/>
                </a:cubicBezTo>
                <a:cubicBezTo>
                  <a:pt x="19972" y="2068"/>
                  <a:pt x="20668" y="2764"/>
                  <a:pt x="21103" y="3620"/>
                </a:cubicBezTo>
                <a:cubicBezTo>
                  <a:pt x="21384" y="4171"/>
                  <a:pt x="21497" y="4759"/>
                  <a:pt x="21549" y="5397"/>
                </a:cubicBezTo>
                <a:cubicBezTo>
                  <a:pt x="21599" y="6012"/>
                  <a:pt x="21599" y="6768"/>
                  <a:pt x="21599" y="7684"/>
                </a:cubicBezTo>
                <a:lnTo>
                  <a:pt x="21599" y="13655"/>
                </a:lnTo>
                <a:cubicBezTo>
                  <a:pt x="21599" y="13694"/>
                  <a:pt x="21599" y="13732"/>
                  <a:pt x="21599" y="13771"/>
                </a:cubicBezTo>
                <a:cubicBezTo>
                  <a:pt x="21599" y="14493"/>
                  <a:pt x="21600" y="15037"/>
                  <a:pt x="21473" y="15564"/>
                </a:cubicBezTo>
                <a:cubicBezTo>
                  <a:pt x="21361" y="16027"/>
                  <a:pt x="21178" y="16471"/>
                  <a:pt x="20929" y="16878"/>
                </a:cubicBezTo>
                <a:cubicBezTo>
                  <a:pt x="20646" y="17339"/>
                  <a:pt x="20261" y="17725"/>
                  <a:pt x="19749" y="18235"/>
                </a:cubicBezTo>
                <a:cubicBezTo>
                  <a:pt x="19723" y="18262"/>
                  <a:pt x="19696" y="18290"/>
                  <a:pt x="19667" y="18317"/>
                </a:cubicBezTo>
                <a:lnTo>
                  <a:pt x="18317" y="19667"/>
                </a:lnTo>
                <a:cubicBezTo>
                  <a:pt x="18290" y="19696"/>
                  <a:pt x="18262" y="19723"/>
                  <a:pt x="18235" y="19749"/>
                </a:cubicBezTo>
                <a:cubicBezTo>
                  <a:pt x="17725" y="20260"/>
                  <a:pt x="17339" y="20646"/>
                  <a:pt x="16878" y="20929"/>
                </a:cubicBezTo>
                <a:cubicBezTo>
                  <a:pt x="16471" y="21178"/>
                  <a:pt x="16027" y="21361"/>
                  <a:pt x="15564" y="21473"/>
                </a:cubicBezTo>
                <a:cubicBezTo>
                  <a:pt x="15037" y="21600"/>
                  <a:pt x="14493" y="21599"/>
                  <a:pt x="13771" y="21599"/>
                </a:cubicBezTo>
                <a:cubicBezTo>
                  <a:pt x="13732" y="21599"/>
                  <a:pt x="13694" y="21599"/>
                  <a:pt x="13655" y="21599"/>
                </a:cubicBezTo>
                <a:lnTo>
                  <a:pt x="6547" y="21599"/>
                </a:lnTo>
                <a:cubicBezTo>
                  <a:pt x="5632" y="21599"/>
                  <a:pt x="4876" y="21599"/>
                  <a:pt x="4261" y="21549"/>
                </a:cubicBezTo>
                <a:cubicBezTo>
                  <a:pt x="3622" y="21497"/>
                  <a:pt x="3034" y="21384"/>
                  <a:pt x="2483" y="21103"/>
                </a:cubicBezTo>
                <a:cubicBezTo>
                  <a:pt x="1627" y="20668"/>
                  <a:pt x="931" y="19972"/>
                  <a:pt x="496" y="19116"/>
                </a:cubicBezTo>
                <a:cubicBezTo>
                  <a:pt x="215" y="18565"/>
                  <a:pt x="102" y="17977"/>
                  <a:pt x="50" y="17338"/>
                </a:cubicBezTo>
                <a:cubicBezTo>
                  <a:pt x="0" y="16723"/>
                  <a:pt x="0" y="15967"/>
                  <a:pt x="0" y="15052"/>
                </a:cubicBezTo>
                <a:lnTo>
                  <a:pt x="0" y="7684"/>
                </a:lnTo>
                <a:cubicBezTo>
                  <a:pt x="0" y="6768"/>
                  <a:pt x="0" y="6012"/>
                  <a:pt x="50" y="5397"/>
                </a:cubicBezTo>
                <a:cubicBezTo>
                  <a:pt x="102" y="4759"/>
                  <a:pt x="215" y="4171"/>
                  <a:pt x="496" y="3620"/>
                </a:cubicBezTo>
                <a:cubicBezTo>
                  <a:pt x="931" y="2764"/>
                  <a:pt x="1627" y="2068"/>
                  <a:pt x="2483" y="1632"/>
                </a:cubicBezTo>
                <a:cubicBezTo>
                  <a:pt x="3001" y="1369"/>
                  <a:pt x="3550" y="1254"/>
                  <a:pt x="4142" y="1197"/>
                </a:cubicBezTo>
                <a:cubicBezTo>
                  <a:pt x="4437" y="1170"/>
                  <a:pt x="4760" y="1155"/>
                  <a:pt x="5116" y="1146"/>
                </a:cubicBezTo>
                <a:lnTo>
                  <a:pt x="5116" y="1137"/>
                </a:lnTo>
                <a:cubicBezTo>
                  <a:pt x="5116" y="509"/>
                  <a:pt x="5625" y="0"/>
                  <a:pt x="6252" y="0"/>
                </a:cubicBezTo>
                <a:close/>
                <a:moveTo>
                  <a:pt x="5116" y="3421"/>
                </a:moveTo>
                <a:cubicBezTo>
                  <a:pt x="4822" y="3427"/>
                  <a:pt x="4576" y="3440"/>
                  <a:pt x="4358" y="3460"/>
                </a:cubicBezTo>
                <a:cubicBezTo>
                  <a:pt x="3916" y="3502"/>
                  <a:pt x="3681" y="3573"/>
                  <a:pt x="3515" y="3658"/>
                </a:cubicBezTo>
                <a:cubicBezTo>
                  <a:pt x="3088" y="3876"/>
                  <a:pt x="2740" y="4224"/>
                  <a:pt x="2521" y="4652"/>
                </a:cubicBezTo>
                <a:cubicBezTo>
                  <a:pt x="2430" y="4829"/>
                  <a:pt x="2357" y="5085"/>
                  <a:pt x="2317" y="5583"/>
                </a:cubicBezTo>
                <a:cubicBezTo>
                  <a:pt x="2275" y="6094"/>
                  <a:pt x="2274" y="6756"/>
                  <a:pt x="2274" y="7730"/>
                </a:cubicBezTo>
                <a:lnTo>
                  <a:pt x="2274" y="15006"/>
                </a:lnTo>
                <a:cubicBezTo>
                  <a:pt x="2274" y="15980"/>
                  <a:pt x="2275" y="16641"/>
                  <a:pt x="2317" y="17153"/>
                </a:cubicBezTo>
                <a:cubicBezTo>
                  <a:pt x="2357" y="17651"/>
                  <a:pt x="2430" y="17907"/>
                  <a:pt x="2521" y="18084"/>
                </a:cubicBezTo>
                <a:cubicBezTo>
                  <a:pt x="2740" y="18511"/>
                  <a:pt x="3088" y="18859"/>
                  <a:pt x="3515" y="19077"/>
                </a:cubicBezTo>
                <a:cubicBezTo>
                  <a:pt x="3692" y="19168"/>
                  <a:pt x="3948" y="19242"/>
                  <a:pt x="4446" y="19282"/>
                </a:cubicBezTo>
                <a:cubicBezTo>
                  <a:pt x="4958" y="19324"/>
                  <a:pt x="5619" y="19325"/>
                  <a:pt x="6593" y="19325"/>
                </a:cubicBezTo>
                <a:lnTo>
                  <a:pt x="13073" y="19325"/>
                </a:lnTo>
                <a:lnTo>
                  <a:pt x="13073" y="18189"/>
                </a:lnTo>
                <a:cubicBezTo>
                  <a:pt x="13073" y="15677"/>
                  <a:pt x="15109" y="13641"/>
                  <a:pt x="17620" y="13641"/>
                </a:cubicBezTo>
                <a:lnTo>
                  <a:pt x="18757" y="13641"/>
                </a:lnTo>
                <a:cubicBezTo>
                  <a:pt x="18964" y="13641"/>
                  <a:pt x="19158" y="13697"/>
                  <a:pt x="19325" y="13794"/>
                </a:cubicBezTo>
                <a:cubicBezTo>
                  <a:pt x="19325" y="13749"/>
                  <a:pt x="19325" y="13703"/>
                  <a:pt x="19325" y="13655"/>
                </a:cubicBezTo>
                <a:lnTo>
                  <a:pt x="19325" y="7730"/>
                </a:lnTo>
                <a:cubicBezTo>
                  <a:pt x="19325" y="6756"/>
                  <a:pt x="19324" y="6094"/>
                  <a:pt x="19282" y="5583"/>
                </a:cubicBezTo>
                <a:cubicBezTo>
                  <a:pt x="19242" y="5085"/>
                  <a:pt x="19168" y="4829"/>
                  <a:pt x="19077" y="4652"/>
                </a:cubicBezTo>
                <a:cubicBezTo>
                  <a:pt x="18859" y="4224"/>
                  <a:pt x="18511" y="3876"/>
                  <a:pt x="18084" y="3658"/>
                </a:cubicBezTo>
                <a:cubicBezTo>
                  <a:pt x="17918" y="3573"/>
                  <a:pt x="17683" y="3502"/>
                  <a:pt x="17240" y="3460"/>
                </a:cubicBezTo>
                <a:cubicBezTo>
                  <a:pt x="17023" y="3440"/>
                  <a:pt x="16777" y="3427"/>
                  <a:pt x="16483" y="3421"/>
                </a:cubicBezTo>
                <a:lnTo>
                  <a:pt x="16483" y="4547"/>
                </a:lnTo>
                <a:cubicBezTo>
                  <a:pt x="16483" y="5175"/>
                  <a:pt x="15974" y="5684"/>
                  <a:pt x="15347" y="5684"/>
                </a:cubicBezTo>
                <a:cubicBezTo>
                  <a:pt x="14719" y="5684"/>
                  <a:pt x="14210" y="5175"/>
                  <a:pt x="14210" y="4547"/>
                </a:cubicBezTo>
                <a:lnTo>
                  <a:pt x="14210" y="3410"/>
                </a:lnTo>
                <a:lnTo>
                  <a:pt x="7389" y="3410"/>
                </a:lnTo>
                <a:lnTo>
                  <a:pt x="7389" y="4547"/>
                </a:lnTo>
                <a:cubicBezTo>
                  <a:pt x="7389" y="5175"/>
                  <a:pt x="6880" y="5684"/>
                  <a:pt x="6252" y="5684"/>
                </a:cubicBezTo>
                <a:cubicBezTo>
                  <a:pt x="5625" y="5684"/>
                  <a:pt x="5116" y="5175"/>
                  <a:pt x="5116" y="4547"/>
                </a:cubicBezTo>
                <a:lnTo>
                  <a:pt x="5116" y="3421"/>
                </a:lnTo>
                <a:close/>
                <a:moveTo>
                  <a:pt x="18827" y="15913"/>
                </a:moveTo>
                <a:cubicBezTo>
                  <a:pt x="18804" y="15914"/>
                  <a:pt x="18781" y="15915"/>
                  <a:pt x="18757" y="15915"/>
                </a:cubicBezTo>
                <a:lnTo>
                  <a:pt x="17620" y="15915"/>
                </a:lnTo>
                <a:cubicBezTo>
                  <a:pt x="16364" y="15915"/>
                  <a:pt x="15347" y="16932"/>
                  <a:pt x="15347" y="18189"/>
                </a:cubicBezTo>
                <a:lnTo>
                  <a:pt x="15347" y="19163"/>
                </a:lnTo>
                <a:cubicBezTo>
                  <a:pt x="15466" y="19115"/>
                  <a:pt x="15581" y="19057"/>
                  <a:pt x="15690" y="18990"/>
                </a:cubicBezTo>
                <a:cubicBezTo>
                  <a:pt x="15893" y="18866"/>
                  <a:pt x="16081" y="18689"/>
                  <a:pt x="16710" y="18060"/>
                </a:cubicBezTo>
                <a:lnTo>
                  <a:pt x="18060" y="16710"/>
                </a:lnTo>
                <a:cubicBezTo>
                  <a:pt x="18472" y="16297"/>
                  <a:pt x="18690" y="16074"/>
                  <a:pt x="18827" y="1591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9" name="Footer Placeholder 18">
            <a:extLst xmlns:a="http://schemas.openxmlformats.org/drawingml/2006/main">
              <a:ext uri="{FF2B5EF4-FFF2-40B4-BE49-F238E27FC236}">
                <a16:creationId xmlns:a16="http://schemas.microsoft.com/office/drawing/2014/main" id="{A7C685AE-794E-F9C0-C7B3-7E956842DD9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Slide Number Placeholder 6">
            <a:extLst xmlns:a="http://schemas.openxmlformats.org/drawingml/2006/main">
              <a:ext uri="{FF2B5EF4-FFF2-40B4-BE49-F238E27FC236}">
                <a16:creationId xmlns:a16="http://schemas.microsoft.com/office/drawing/2014/main" id="{9892F439-FAFA-E9E4-AA65-F7A04500A779}"/>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14</a:t>
            </a:fld>
            <a:endParaRPr sz="1100"/>
          </a:p>
        </p:txBody>
      </p:sp>
    </p:spTree>
    <p:extLst>
      <p:ext uri="{BB962C8B-B14F-4D97-AF65-F5344CB8AC3E}">
        <p14:creationId xmlns:p14="http://schemas.microsoft.com/office/powerpoint/2010/main" val="234210516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Title 10">
            <a:extLst xmlns:a="http://schemas.openxmlformats.org/drawingml/2006/main">
              <a:ext uri="{FF2B5EF4-FFF2-40B4-BE49-F238E27FC236}">
                <a16:creationId xmlns:a16="http://schemas.microsoft.com/office/drawing/2014/main" id="{32E36C81-5801-B2BE-01AA-D802EF7CADE6}"/>
              </a:ext>
            </a:extLst>
          </p:cNvPr>
          <p:cNvSpPr>
            <a:spLocks xmlns:a="http://schemas.openxmlformats.org/drawingml/2006/main" noGrp="1"/>
          </p:cNvSpPr>
          <p:nvPr>
            <p:ph type="title" idx="0"/>
          </p:nvPr>
        </p:nvSpPr>
        <p:spPr>
          <a:xfrm xmlns:a="http://schemas.openxmlformats.org/drawingml/2006/main">
            <a:off x="393700" y="344008"/>
            <a:ext cx="9448800" cy="1040291"/>
          </a:xfrm>
        </p:spPr>
        <p:txBody>
          <a:bodyPr xmlns:a="http://schemas.openxmlformats.org/drawingml/2006/main">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Controls for operational trust</a:t>
            </a:r>
          </a:p>
        </p:txBody>
      </p:sp>
      <p:sp>
        <p:nvSpPr>
          <p:cNvPr id="3" name="Rounded Rectangle 2">
            <a:extLst xmlns:a="http://schemas.openxmlformats.org/drawingml/2006/main">
              <a:ext uri="{FF2B5EF4-FFF2-40B4-BE49-F238E27FC236}">
                <a16:creationId xmlns:a16="http://schemas.microsoft.com/office/drawing/2014/main" id="{33642A94-5293-AA67-B826-5BD0DE5E4F06}"/>
              </a:ext>
            </a:extLst>
          </p:cNvPr>
          <p:cNvSpPr>
            <a:spLocks xmlns:a="http://schemas.openxmlformats.org/drawingml/2006/main" noGrp="1"/>
          </p:cNvSpPr>
          <p:nvPr/>
        </p:nvSpPr>
        <p:spPr>
          <a:xfrm xmlns:a="http://schemas.openxmlformats.org/drawingml/2006/main">
            <a:off x="393700" y="2032000"/>
            <a:ext cx="2581975" cy="3962400"/>
          </a:xfrm>
          <a:prstGeom xmlns:a="http://schemas.openxmlformats.org/drawingml/2006/main" prst="roundRect">
            <a:avLst>
              <a:gd name="adj" fmla="val 1801"/>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ounded Rectangle 4">
            <a:extLst xmlns:a="http://schemas.openxmlformats.org/drawingml/2006/main">
              <a:ext uri="{FF2B5EF4-FFF2-40B4-BE49-F238E27FC236}">
                <a16:creationId xmlns:a16="http://schemas.microsoft.com/office/drawing/2014/main" id="{6F6AC358-F5F5-46E1-3A28-330B5B7FD440}"/>
              </a:ext>
            </a:extLst>
          </p:cNvPr>
          <p:cNvSpPr>
            <a:spLocks xmlns:a="http://schemas.openxmlformats.org/drawingml/2006/main" noGrp="1"/>
          </p:cNvSpPr>
          <p:nvPr/>
        </p:nvSpPr>
        <p:spPr>
          <a:xfrm xmlns:a="http://schemas.openxmlformats.org/drawingml/2006/main">
            <a:off x="3333557" y="2032000"/>
            <a:ext cx="2597343" cy="3962400"/>
          </a:xfrm>
          <a:prstGeom xmlns:a="http://schemas.openxmlformats.org/drawingml/2006/main" prst="roundRect">
            <a:avLst>
              <a:gd name="adj" fmla="val 1790"/>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F27EDC79-B9FD-D75C-F5E0-8650415FAF49}"/>
              </a:ext>
            </a:extLst>
          </p:cNvPr>
          <p:cNvSpPr>
            <a:spLocks xmlns:a="http://schemas.openxmlformats.org/drawingml/2006/main" noGrp="1"/>
          </p:cNvSpPr>
          <p:nvPr/>
        </p:nvSpPr>
        <p:spPr>
          <a:xfrm xmlns:a="http://schemas.openxmlformats.org/drawingml/2006/main">
            <a:off x="6261100" y="2032000"/>
            <a:ext cx="2581975" cy="3962400"/>
          </a:xfrm>
          <a:prstGeom xmlns:a="http://schemas.openxmlformats.org/drawingml/2006/main" prst="roundRect">
            <a:avLst>
              <a:gd name="adj" fmla="val 2701"/>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1FAFF379-8A28-CAB1-B1D0-F7E83A8F0727}"/>
              </a:ext>
            </a:extLst>
          </p:cNvPr>
          <p:cNvSpPr>
            <a:spLocks xmlns:a="http://schemas.openxmlformats.org/drawingml/2006/main" noGrp="1"/>
          </p:cNvSpPr>
          <p:nvPr/>
        </p:nvSpPr>
        <p:spPr>
          <a:xfrm xmlns:a="http://schemas.openxmlformats.org/drawingml/2006/main">
            <a:off x="9200957" y="2032000"/>
            <a:ext cx="2597343" cy="3962400"/>
          </a:xfrm>
          <a:prstGeom xmlns:a="http://schemas.openxmlformats.org/drawingml/2006/main" prst="roundRect">
            <a:avLst>
              <a:gd name="adj" fmla="val 2984"/>
            </a:avLst>
          </a:prstGeom>
          <a:solidFill xmlns:a="http://schemas.openxmlformats.org/drawingml/2006/main">
            <a:srgbClr val="F9FCFF"/>
          </a:solidFill>
          <a:ln xmlns:a="http://schemas.openxmlformats.org/drawingml/2006/main">
            <a:solidFill>
              <a:srgbClr val="EFF1F5"/>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Content Placeholder 15">
            <a:extLst xmlns:a="http://schemas.openxmlformats.org/drawingml/2006/main">
              <a:ext uri="{FF2B5EF4-FFF2-40B4-BE49-F238E27FC236}">
                <a16:creationId xmlns:a16="http://schemas.microsoft.com/office/drawing/2014/main" id="{BDC86A8A-FBA6-FD14-99C2-1C4C5D6609EA}"/>
              </a:ext>
            </a:extLst>
          </p:cNvPr>
          <p:cNvSpPr>
            <a:spLocks xmlns:a="http://schemas.openxmlformats.org/drawingml/2006/main" noGrp="1"/>
          </p:cNvSpPr>
          <p:nvPr>
            <p:ph idx="1"/>
          </p:nvPr>
        </p:nvSpPr>
        <p:spPr>
          <a:xfrm xmlns:a="http://schemas.openxmlformats.org/drawingml/2006/main">
            <a:off x="618967" y="2414155"/>
            <a:ext cx="2145400" cy="1599045"/>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Human approval</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Consequential simulated actions remain blocked until an operator records a decision.</a:t>
            </a:r>
          </a:p>
        </p:txBody>
      </p:sp>
      <p:sp>
        <p:nvSpPr>
          <p:cNvPr id="17" name="Text Placeholder 16">
            <a:extLst xmlns:a="http://schemas.openxmlformats.org/drawingml/2006/main">
              <a:ext uri="{FF2B5EF4-FFF2-40B4-BE49-F238E27FC236}">
                <a16:creationId xmlns:a16="http://schemas.microsoft.com/office/drawing/2014/main" id="{88605DFA-C810-BB6C-3C24-829EC7D93322}"/>
              </a:ext>
            </a:extLst>
          </p:cNvPr>
          <p:cNvSpPr>
            <a:spLocks xmlns:a="http://schemas.openxmlformats.org/drawingml/2006/main" noGrp="1"/>
          </p:cNvSpPr>
          <p:nvPr>
            <p:ph type="body" idx="12"/>
          </p:nvPr>
        </p:nvSpPr>
        <p:spPr>
          <a:xfrm xmlns:a="http://schemas.openxmlformats.org/drawingml/2006/main">
            <a:off x="3555921" y="2414155"/>
            <a:ext cx="2149303" cy="1599045"/>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Unknown is valid</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Missing or conflicting evidence stays visible instead of becoming a confident guess.</a:t>
            </a:r>
          </a:p>
        </p:txBody>
      </p:sp>
      <p:sp>
        <p:nvSpPr>
          <p:cNvPr id="18" name="Content Placeholder 17">
            <a:extLst xmlns:a="http://schemas.openxmlformats.org/drawingml/2006/main">
              <a:ext uri="{FF2B5EF4-FFF2-40B4-BE49-F238E27FC236}">
                <a16:creationId xmlns:a16="http://schemas.microsoft.com/office/drawing/2014/main" id="{92FDC1FF-2A9F-386F-4FAC-628138F5E290}"/>
              </a:ext>
            </a:extLst>
          </p:cNvPr>
          <p:cNvSpPr>
            <a:spLocks xmlns:a="http://schemas.openxmlformats.org/drawingml/2006/main" noGrp="1"/>
          </p:cNvSpPr>
          <p:nvPr>
            <p:ph idx="13"/>
          </p:nvPr>
        </p:nvSpPr>
        <p:spPr>
          <a:xfrm xmlns:a="http://schemas.openxmlformats.org/drawingml/2006/main">
            <a:off x="6489680" y="2414155"/>
            <a:ext cx="2145400" cy="1599045"/>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Full audit history</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Tool traces, hypotheses, recommendations and report versions remain inspectable.</a:t>
            </a:r>
          </a:p>
        </p:txBody>
      </p:sp>
      <p:sp>
        <p:nvSpPr>
          <p:cNvPr id="19" name="Text Placeholder 18">
            <a:extLst xmlns:a="http://schemas.openxmlformats.org/drawingml/2006/main">
              <a:ext uri="{FF2B5EF4-FFF2-40B4-BE49-F238E27FC236}">
                <a16:creationId xmlns:a16="http://schemas.microsoft.com/office/drawing/2014/main" id="{5C2F1B00-B28B-9F1D-8CDD-3C4B2DE34D3E}"/>
              </a:ext>
            </a:extLst>
          </p:cNvPr>
          <p:cNvSpPr>
            <a:spLocks xmlns:a="http://schemas.openxmlformats.org/drawingml/2006/main" noGrp="1"/>
          </p:cNvSpPr>
          <p:nvPr>
            <p:ph type="body" idx="14"/>
          </p:nvPr>
        </p:nvSpPr>
        <p:spPr>
          <a:xfrm xmlns:a="http://schemas.openxmlformats.org/drawingml/2006/main">
            <a:off x="9426634" y="2414155"/>
            <a:ext cx="2149303" cy="1599045"/>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Outcome verification</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Post-action readings determine recovery, persistence, ambiguity or insufficient evidence.</a:t>
            </a:r>
          </a:p>
        </p:txBody>
      </p:sp>
      <p:sp>
        <p:nvSpPr>
          <p:cNvPr id="2" name="Content Placeholder 15">
            <a:extLst xmlns:a="http://schemas.openxmlformats.org/drawingml/2006/main">
              <a:ext uri="{FF2B5EF4-FFF2-40B4-BE49-F238E27FC236}">
                <a16:creationId xmlns:a16="http://schemas.microsoft.com/office/drawing/2014/main" id="{5D813AAE-3B9F-21FA-95B9-CBD6F80E57DA}"/>
              </a:ext>
            </a:extLst>
          </p:cNvPr>
          <p:cNvSpPr>
            <a:spLocks xmlns:a="http://schemas.openxmlformats.org/drawingml/2006/main" noGrp="1"/>
          </p:cNvSpPr>
          <p:nvPr/>
        </p:nvSpPr>
        <p:spPr>
          <a:xfrm xmlns:a="http://schemas.openxmlformats.org/drawingml/2006/main">
            <a:off x="687549" y="4356100"/>
            <a:ext cx="2076818"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Approval history</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Named audit label</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Safe default for new actions</a:t>
            </a:r>
          </a:p>
        </p:txBody>
      </p:sp>
      <p:sp>
        <p:nvSpPr>
          <p:cNvPr id="15" name="Content Placeholder 15">
            <a:extLst xmlns:a="http://schemas.openxmlformats.org/drawingml/2006/main">
              <a:ext uri="{FF2B5EF4-FFF2-40B4-BE49-F238E27FC236}">
                <a16:creationId xmlns:a16="http://schemas.microsoft.com/office/drawing/2014/main" id="{5FE99CB3-C543-5212-C2B6-D8E01565503A}"/>
              </a:ext>
            </a:extLst>
          </p:cNvPr>
          <p:cNvSpPr>
            <a:spLocks xmlns:a="http://schemas.openxmlformats.org/drawingml/2006/main" noGrp="1"/>
          </p:cNvSpPr>
          <p:nvPr/>
        </p:nvSpPr>
        <p:spPr>
          <a:xfrm xmlns:a="http://schemas.openxmlformats.org/drawingml/2006/main">
            <a:off x="3630774" y="4356100"/>
            <a:ext cx="2076818"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Evidence limitations</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Controlled tool errors</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No fabricated answers</a:t>
            </a:r>
          </a:p>
        </p:txBody>
      </p:sp>
      <p:sp>
        <p:nvSpPr>
          <p:cNvPr id="21" name="Content Placeholder 15">
            <a:extLst xmlns:a="http://schemas.openxmlformats.org/drawingml/2006/main">
              <a:ext uri="{FF2B5EF4-FFF2-40B4-BE49-F238E27FC236}">
                <a16:creationId xmlns:a16="http://schemas.microsoft.com/office/drawing/2014/main" id="{16BEB40B-1BEE-A21D-D3BE-79B2C975D57A}"/>
              </a:ext>
            </a:extLst>
          </p:cNvPr>
          <p:cNvSpPr>
            <a:spLocks xmlns:a="http://schemas.openxmlformats.org/drawingml/2006/main" noGrp="1"/>
          </p:cNvSpPr>
          <p:nvPr/>
        </p:nvSpPr>
        <p:spPr>
          <a:xfrm xmlns:a="http://schemas.openxmlformats.org/drawingml/2006/main">
            <a:off x="6516849" y="4356100"/>
            <a:ext cx="2076818"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Inputs and outputs</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Method versions</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Idempotent events</a:t>
            </a:r>
          </a:p>
        </p:txBody>
      </p:sp>
      <p:sp>
        <p:nvSpPr>
          <p:cNvPr id="22" name="Content Placeholder 15">
            <a:extLst xmlns:a="http://schemas.openxmlformats.org/drawingml/2006/main">
              <a:ext uri="{FF2B5EF4-FFF2-40B4-BE49-F238E27FC236}">
                <a16:creationId xmlns:a16="http://schemas.microsoft.com/office/drawing/2014/main" id="{E01569E6-593E-BC39-9E85-17656D65D4FA}"/>
              </a:ext>
            </a:extLst>
          </p:cNvPr>
          <p:cNvSpPr>
            <a:spLocks xmlns:a="http://schemas.openxmlformats.org/drawingml/2006/main" noGrp="1"/>
          </p:cNvSpPr>
          <p:nvPr/>
        </p:nvSpPr>
        <p:spPr>
          <a:xfrm xmlns:a="http://schemas.openxmlformats.org/drawingml/2006/main">
            <a:off x="9502937" y="4356100"/>
            <a:ext cx="2076818" cy="9779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Baseline check</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Peer check</a:t>
            </a:r>
          </a:p>
          <a:p xmlns:a="http://schemas.openxmlformats.org/drawingml/2006/main">
            <a:pPr marL="228600" lvl="0" indent="-228600">
              <a:lnSpc>
                <a:spcPct val="114000"/>
              </a:lnSpc>
              <a:spcBef>
                <a:spcPts val="0"/>
              </a:spcBef>
              <a:spcAft>
                <a:spcPts val="600"/>
              </a:spcAft>
              <a:buFont typeface="Arial"/>
              <a:buChar char="•"/>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Case resolution or reopening</a:t>
            </a:r>
          </a:p>
        </p:txBody>
      </p:sp>
      <p:sp>
        <p:nvSpPr>
          <p:cNvPr id="23" name="Footer Placeholder 22">
            <a:extLst xmlns:a="http://schemas.openxmlformats.org/drawingml/2006/main">
              <a:ext uri="{FF2B5EF4-FFF2-40B4-BE49-F238E27FC236}">
                <a16:creationId xmlns:a16="http://schemas.microsoft.com/office/drawing/2014/main" id="{F79DC580-131D-75FB-A6FF-8B8F1995326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8" name="Slide Number Placeholder 7">
            <a:extLst xmlns:a="http://schemas.openxmlformats.org/drawingml/2006/main">
              <a:ext uri="{FF2B5EF4-FFF2-40B4-BE49-F238E27FC236}">
                <a16:creationId xmlns:a16="http://schemas.microsoft.com/office/drawing/2014/main" id="{43D8131C-4637-3473-C20E-BA4F59F9110F}"/>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22</a:t>
            </a:fld>
            <a:endParaRPr sz="1100"/>
          </a:p>
        </p:txBody>
      </p:sp>
    </p:spTree>
    <p:extLst>
      <p:ext uri="{BB962C8B-B14F-4D97-AF65-F5344CB8AC3E}">
        <p14:creationId xmlns:p14="http://schemas.microsoft.com/office/powerpoint/2010/main" val="2526092902"/>
      </p:ext>
    </p:extLst>
  </p:cSld>
</p:sld>
</file>

<file path=ppt/slides/slide8.xml><?xml version="1.0" encoding="utf-8"?>
<p:sld xmlns:p="http://schemas.openxmlformats.org/presentationml/2006/main">
  <p:cSld>
    <p:bg>
      <p:bgPr>
        <a:gradFill xmlns:a="http://schemas.openxmlformats.org/drawingml/2006/main" rotWithShape="1">
          <a:gsLst>
            <a:gs pos="0">
              <a:srgbClr val="0C3666"/>
            </a:gs>
            <a:gs pos="100000">
              <a:srgbClr val="061C39"/>
            </a:gs>
          </a:gsLst>
          <a:lin ang="13500000" scaled="1"/>
          <a:tileRect/>
        </a:gra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0F24658D-7578-8E1B-095D-2634178665BE}"/>
              </a:ext>
            </a:extLst>
          </p:cNvPr>
          <p:cNvSpPr>
            <a:spLocks xmlns:a="http://schemas.openxmlformats.org/drawingml/2006/main" noGrp="1"/>
          </p:cNvSpPr>
          <p:nvPr>
            <p:ph type="ctrTitle" idx="0"/>
          </p:nvPr>
        </p:nvSpPr>
        <p:spPr>
          <a:xfrm xmlns:a="http://schemas.openxmlformats.org/drawingml/2006/main">
            <a:off x="384537" y="1850746"/>
            <a:ext cx="9448800" cy="2491490"/>
          </a:xfrm>
        </p:spPr>
        <p:txBody>
          <a:bodyPr xmlns:a="http://schemas.openxmlformats.org/drawingml/2006/main">
            <a:normAutofit fontScale="100000"/>
          </a:bodyPr>
          <a:lstStyle xmlns:a="http://schemas.openxmlformats.org/drawingml/2006/main"/>
          <a:p xmlns:a="http://schemas.openxmlformats.org/drawingml/2006/main">
            <a:pPr>
              <a:defRPr sz="3600" b="0">
                <a:solidFill>
                  <a:srgbClr val="F9FCFF"/>
                </a:solidFill>
                <a:latin typeface="Helvetica Neue"/>
                <a:ea typeface="Helvetica Neue"/>
                <a:cs typeface="Helvetica Neue"/>
              </a:defRPr>
            </a:pPr>
            <a:r>
              <a:rPr sz="3600" b="0">
                <a:solidFill>
                  <a:srgbClr val="F9FCFF"/>
                </a:solidFill>
                <a:latin typeface="Helvetica Neue"/>
                <a:ea typeface="Helvetica Neue"/>
                <a:cs typeface="Helvetica Neue"/>
              </a:rPr>
              <a:t>Live demonstration</a:t>
            </a:r>
          </a:p>
          <a:p xmlns:a="http://schemas.openxmlformats.org/drawingml/2006/main">
            <a:pPr>
              <a:defRPr sz="3600" b="0">
                <a:solidFill>
                  <a:srgbClr val="F9FCFF"/>
                </a:solidFill>
                <a:latin typeface="Helvetica Neue"/>
                <a:ea typeface="Helvetica Neue"/>
                <a:cs typeface="Helvetica Neue"/>
              </a:defRPr>
            </a:pPr>
            <a:r>
              <a:rPr sz="3600" b="0">
                <a:solidFill>
                  <a:srgbClr val="F9FCFF"/>
                </a:solidFill>
                <a:latin typeface="Helvetica Neue"/>
                <a:ea typeface="Helvetica Neue"/>
                <a:cs typeface="Helvetica Neue"/>
              </a:rPr>
              <a:t>One anomaly, one auditable investigation</a:t>
            </a:r>
          </a:p>
        </p:txBody>
      </p:sp>
      <p:sp>
        <p:nvSpPr>
          <p:cNvPr id="5" name="Subtitle 4">
            <a:extLst xmlns:a="http://schemas.openxmlformats.org/drawingml/2006/main">
              <a:ext uri="{FF2B5EF4-FFF2-40B4-BE49-F238E27FC236}">
                <a16:creationId xmlns:a16="http://schemas.microsoft.com/office/drawing/2014/main" id="{9CFCDDD1-6B62-D648-FCD8-F519A8EBFE03}"/>
              </a:ext>
            </a:extLst>
          </p:cNvPr>
          <p:cNvSpPr>
            <a:spLocks xmlns:a="http://schemas.openxmlformats.org/drawingml/2006/main" noGrp="1"/>
          </p:cNvSpPr>
          <p:nvPr>
            <p:ph type="subTitle" idx="1"/>
          </p:nvPr>
        </p:nvSpPr>
        <p:spPr>
          <a:xfrm xmlns:a="http://schemas.openxmlformats.org/drawingml/2006/main">
            <a:off x="393700" y="5170707"/>
            <a:ext cx="3568700" cy="647700"/>
          </a:xfrm>
        </p:spPr>
        <p:txBody>
          <a:bodyPr xmlns:a="http://schemas.openxmlformats.org/drawingml/2006/main">
            <a:normAutofit fontScale="100000"/>
          </a:bodyPr>
          <a:lstStyle xmlns:a="http://schemas.openxmlformats.org/drawingml/2006/main"/>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Four minutes</a:t>
            </a:r>
          </a:p>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Prepared local scenario</a:t>
            </a:r>
          </a:p>
        </p:txBody>
      </p:sp>
      <p:sp>
        <p:nvSpPr>
          <p:cNvPr id="2" name="Subtitle 4">
            <a:extLst xmlns:a="http://schemas.openxmlformats.org/drawingml/2006/main">
              <a:ext uri="{FF2B5EF4-FFF2-40B4-BE49-F238E27FC236}">
                <a16:creationId xmlns:a16="http://schemas.microsoft.com/office/drawing/2014/main" id="{7DE36FE5-F5E6-DBA2-7BCD-BDE05B2A17C3}"/>
              </a:ext>
            </a:extLst>
          </p:cNvPr>
          <p:cNvSpPr>
            <a:spLocks xmlns:a="http://schemas.openxmlformats.org/drawingml/2006/main" noGrp="1"/>
          </p:cNvSpPr>
          <p:nvPr/>
        </p:nvSpPr>
        <p:spPr>
          <a:xfrm xmlns:a="http://schemas.openxmlformats.org/drawingml/2006/main">
            <a:off x="4370789" y="5170707"/>
            <a:ext cx="35687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Presenter</a:t>
            </a:r>
          </a:p>
          <a:p xmlns:a="http://schemas.openxmlformats.org/drawingml/2006/main">
            <a:pPr>
              <a:defRPr sz="1200" b="0">
                <a:solidFill>
                  <a:srgbClr val="89C3F7"/>
                </a:solidFill>
                <a:latin typeface="Helvetica Neue"/>
                <a:ea typeface="Helvetica Neue"/>
                <a:cs typeface="Helvetica Neue"/>
              </a:defRPr>
            </a:pPr>
            <a:r>
              <a:rPr sz="1200" b="0">
                <a:solidFill>
                  <a:srgbClr val="89C3F7"/>
                </a:solidFill>
                <a:latin typeface="Helvetica Neue"/>
                <a:ea typeface="Helvetica Neue"/>
                <a:cs typeface="Helvetica Neue"/>
              </a:rPr>
              <a:t>[PRESENTER 2]</a:t>
            </a:r>
          </a:p>
        </p:txBody>
      </p:sp>
      <p:sp>
        <p:nvSpPr>
          <p:cNvPr id="3" name="Subtitle 4">
            <a:extLst xmlns:a="http://schemas.openxmlformats.org/drawingml/2006/main">
              <a:ext uri="{FF2B5EF4-FFF2-40B4-BE49-F238E27FC236}">
                <a16:creationId xmlns:a16="http://schemas.microsoft.com/office/drawing/2014/main" id="{1855E0C5-A5E4-590B-0D77-15A6F24D051A}"/>
              </a:ext>
            </a:extLst>
          </p:cNvPr>
          <p:cNvSpPr>
            <a:spLocks xmlns:a="http://schemas.openxmlformats.org/drawingml/2006/main" noGrp="1"/>
          </p:cNvSpPr>
          <p:nvPr/>
        </p:nvSpPr>
        <p:spPr>
          <a:xfrm xmlns:a="http://schemas.openxmlformats.org/drawingml/2006/main">
            <a:off x="8608228" y="623595"/>
            <a:ext cx="3199235"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defRPr sz="1050" b="0">
                <a:solidFill>
                  <a:srgbClr val="89C3F7"/>
                </a:solidFill>
                <a:latin typeface="Helvetica Neue"/>
                <a:ea typeface="Helvetica Neue"/>
                <a:cs typeface="Helvetica Neue"/>
              </a:defRPr>
            </a:pPr>
            <a:r>
              <a:rPr sz="1050" b="0">
                <a:solidFill>
                  <a:srgbClr val="89C3F7"/>
                </a:solidFill>
                <a:latin typeface="Helvetica Neue"/>
                <a:ea typeface="Helvetica Neue"/>
                <a:cs typeface="Helvetica Neue"/>
              </a:rPr>
              <a:t>Synthetic data | simulated actions</a:t>
            </a:r>
          </a:p>
        </p:txBody>
      </p:sp>
      <p:sp>
        <p:nvSpPr>
          <p:cNvPr id="7" name="Subtitle 4">
            <a:extLst xmlns:a="http://schemas.openxmlformats.org/drawingml/2006/main">
              <a:ext uri="{FF2B5EF4-FFF2-40B4-BE49-F238E27FC236}">
                <a16:creationId xmlns:a16="http://schemas.microsoft.com/office/drawing/2014/main" id="{5794C0B2-4912-64A0-21CF-60B66252E5AC}"/>
              </a:ext>
            </a:extLst>
          </p:cNvPr>
          <p:cNvSpPr>
            <a:spLocks xmlns:a="http://schemas.openxmlformats.org/drawingml/2006/main" noGrp="1"/>
          </p:cNvSpPr>
          <p:nvPr/>
        </p:nvSpPr>
        <p:spPr>
          <a:xfrm xmlns:a="http://schemas.openxmlformats.org/drawingml/2006/main">
            <a:off x="393700" y="623595"/>
            <a:ext cx="5537200" cy="64915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050" b="0">
                <a:solidFill>
                  <a:srgbClr val="89C3F7"/>
                </a:solidFill>
                <a:latin typeface="Helvetica Neue"/>
                <a:ea typeface="Helvetica Neue"/>
                <a:cs typeface="Helvetica Neue"/>
              </a:defRPr>
            </a:pPr>
            <a:r>
              <a:rPr sz="1050" b="0">
                <a:solidFill>
                  <a:srgbClr val="89C3F7"/>
                </a:solidFill>
                <a:latin typeface="Helvetica Neue"/>
                <a:ea typeface="Helvetica Neue"/>
                <a:cs typeface="Helvetica Neue"/>
              </a:rPr>
              <a:t>MeterDetective AI</a:t>
            </a:r>
          </a:p>
        </p:txBody>
      </p:sp>
      <p:sp>
        <p:nvSpPr>
          <p:cNvPr id="8" name="Straight Connector 7">
            <a:extLst xmlns:a="http://schemas.openxmlformats.org/drawingml/2006/main">
              <a:ext uri="{FF2B5EF4-FFF2-40B4-BE49-F238E27FC236}">
                <a16:creationId xmlns:a16="http://schemas.microsoft.com/office/drawing/2014/main" id="{12A6D15C-D86F-48BB-BA34-EFA3F65B8EF2}"/>
              </a:ext>
            </a:extLst>
          </p:cNvPr>
          <p:cNvSpPr>
            <a:spLocks xmlns:a="http://schemas.openxmlformats.org/drawingml/2006/main" noGrp="1"/>
          </p:cNvSpPr>
          <p:nvPr/>
        </p:nvSpPr>
        <p:spPr>
          <a:xfrm xmlns:a="http://schemas.openxmlformats.org/drawingml/2006/main">
            <a:off x="384537" y="374574"/>
            <a:ext cx="11422926" cy="0"/>
          </a:xfrm>
          <a:prstGeom xmlns:a="http://schemas.openxmlformats.org/drawingml/2006/main" prst="line">
            <a:avLst/>
          </a:prstGeom>
          <a:ln xmlns:a="http://schemas.openxmlformats.org/drawingml/2006/main">
            <a:solidFill>
              <a:srgbClr val="7A8CA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9869472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Integrate and baseline</a:t>
            </a:r>
          </a:p>
          <a:p xmlns:a="http://schemas.openxmlformats.org/drawingml/2006/main">
            <a:pPr marL="0" indent="0">
              <a:lnSpc>
                <a:spcPct val="114000"/>
              </a:lnSpc>
              <a:spcBef>
                <a:spcPts val="0"/>
              </a:spcBef>
              <a:spcAft>
                <a:spcPts val="800"/>
              </a:spcAft>
              <a:buNone/>
              <a:defRPr sz="1200" b="0">
                <a:solidFill>
                  <a:srgbClr val="08284F"/>
                </a:solidFill>
                <a:latin typeface="Helvetica Neue"/>
                <a:ea typeface="Helvetica Neue"/>
                <a:cs typeface="Helvetica Neue"/>
              </a:defRPr>
            </a:pPr>
            <a:r>
              <a:rPr sz="1200" b="0">
                <a:solidFill>
                  <a:srgbClr val="08284F"/>
                </a:solidFill>
                <a:latin typeface="Helvetica Neue"/>
                <a:ea typeface="Helvetica Neue"/>
                <a:cs typeface="Helvetica Neue"/>
              </a:rPr>
              <a:t>Map data, security and operator workflow. Establish current investigation metrics.</a:t>
            </a: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A 90-day pilot can prove operational value</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Run in shadow mode</a:t>
            </a:r>
          </a:p>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Compare MeterDetective cases with expert decisions. Calibrate thresholds and evidence coverage.</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Evaluate and decide</a:t>
            </a:r>
          </a:p>
          <a:p xmlns:a="http://schemas.openxmlformats.org/drawingml/2006/main">
            <a:pPr marL="0" marR="0" lvl="0" indent="0" algn="l" defTabSz="914400">
              <a:lnSpc>
                <a:spcPct val="114000"/>
              </a:lnSpc>
              <a:spcBef>
                <a:spcPts val="0"/>
              </a:spcBef>
              <a:spcAft>
                <a:spcPts val="800"/>
              </a:spcAft>
              <a:buClrTx/>
              <a:buSzTx/>
              <a:buFont typeface="Arial"/>
              <a:buNone/>
              <a:defRPr sz="1200" b="0">
                <a:solidFill>
                  <a:srgbClr val="08284F"/>
                </a:solidFill>
                <a:latin typeface="Helvetica Neue"/>
                <a:ea typeface="Helvetica Neue"/>
                <a:cs typeface="Helvetica Neue"/>
              </a:defRPr>
            </a:pPr>
            <a:r>
              <a:rPr sz="1200" b="0" i="0" u="none" cap="none" spc="0">
                <a:ln>
                  <a:noFill/>
                </a:ln>
                <a:solidFill>
                  <a:srgbClr val="08284F"/>
                </a:solidFill>
                <a:latin typeface="Helvetica Neue"/>
                <a:ea typeface="Helvetica Neue"/>
                <a:cs typeface="Helvetica Neue"/>
              </a:rPr>
              <a:t>Review false positives, time saved, triage agreement and readiness for controlled expansion.</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0">
                <a:solidFill>
                  <a:srgbClr val="52677D"/>
                </a:solidFill>
                <a:latin typeface="Helvetica Neue"/>
                <a:ea typeface="Helvetica Neue"/>
                <a:cs typeface="Helvetica Neue"/>
              </a:defRPr>
            </a:pPr>
            <a:r>
              <a:rPr sz="1050" b="0">
                <a:solidFill>
                  <a:srgbClr val="52677D"/>
                </a:solidFill>
                <a:latin typeface="Helvetica Neue"/>
                <a:ea typeface="Helvetica Neue"/>
                <a:cs typeface="Helvetica Neue"/>
              </a:rPr>
              <a:t>Days 1-30</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0">
                <a:solidFill>
                  <a:srgbClr val="52677D"/>
                </a:solidFill>
                <a:latin typeface="Helvetica Neue"/>
                <a:ea typeface="Helvetica Neue"/>
                <a:cs typeface="Helvetica Neue"/>
              </a:defRPr>
            </a:pPr>
            <a:r>
              <a:rPr sz="1050" b="0">
                <a:solidFill>
                  <a:srgbClr val="52677D"/>
                </a:solidFill>
                <a:latin typeface="Helvetica Neue"/>
                <a:ea typeface="Helvetica Neue"/>
                <a:cs typeface="Helvetica Neue"/>
              </a:rPr>
              <a:t>Days 31-60</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0">
                <a:solidFill>
                  <a:srgbClr val="52677D"/>
                </a:solidFill>
                <a:latin typeface="Helvetica Neue"/>
                <a:ea typeface="Helvetica Neue"/>
                <a:cs typeface="Helvetica Neue"/>
              </a:defRPr>
            </a:pPr>
            <a:r>
              <a:rPr sz="1050" b="0">
                <a:solidFill>
                  <a:srgbClr val="52677D"/>
                </a:solidFill>
                <a:latin typeface="Helvetica Neue"/>
                <a:ea typeface="Helvetica Neue"/>
                <a:cs typeface="Helvetica Neue"/>
              </a:rPr>
              <a:t>Days 61-90</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8" name="Slide Number Placeholder 7">
            <a:extLst xmlns:a="http://schemas.openxmlformats.org/drawingml/2006/main">
              <a:ext uri="{FF2B5EF4-FFF2-40B4-BE49-F238E27FC236}">
                <a16:creationId xmlns:a16="http://schemas.microsoft.com/office/drawing/2014/main" id="{B8054922-82AE-F5B4-3254-FF8E3B11A7E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20</a:t>
            </a:fld>
            <a:endParaRPr sz="1100"/>
          </a:p>
        </p:txBody>
      </p:sp>
      <p:sp>
        <p:nvSpPr>
          <p:cNvPr id="19" name="pilot-kpis">
            <a:extLst xmlns:a="http://schemas.openxmlformats.org/drawingml/2006/main">
              <a:ext uri="{FF2B5EF4-FFF2-40B4-BE49-F238E27FC236}">
                <a16:creationId xmlns:a16="http://schemas.microsoft.com/office/drawing/2014/main" id="{73BBCF64-7E43-499A-959F-BA605D121A91}"/>
              </a:ext>
            </a:extLst>
          </p:cNvPr>
          <p:cNvSpPr>
            <a:spLocks xmlns:a="http://schemas.openxmlformats.org/drawingml/2006/main" noGrp="1"/>
          </p:cNvSpPr>
          <p:nvPr/>
        </p:nvSpPr>
        <p:spPr>
          <a:xfrm xmlns:a="http://schemas.openxmlformats.org/drawingml/2006/main">
            <a:off x="704850" y="5381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175CD4"/>
                </a:solidFill>
                <a:latin typeface="Helvetica Neue"/>
                <a:ea typeface="Helvetica Neue"/>
                <a:cs typeface="Helvetica Neue"/>
              </a:defRPr>
            </a:pPr>
            <a:r>
              <a:rPr sz="1200" b="1">
                <a:solidFill>
                  <a:srgbClr val="175CD4"/>
                </a:solidFill>
                <a:latin typeface="Helvetica Neue"/>
                <a:ea typeface="Helvetica Neue"/>
                <a:cs typeface="Helvetica Neue"/>
              </a:rPr>
              <a:t>Pilot KPIs: investigation time | alert reduction | evidence completeness | expert triage agreement | false-positive rate | time to resolution</a:t>
            </a:r>
          </a:p>
        </p:txBody>
      </p:sp>
    </p:spTree>
    <p:extLst>
      <p:ext uri="{BB962C8B-B14F-4D97-AF65-F5344CB8AC3E}">
        <p14:creationId xmlns:p14="http://schemas.microsoft.com/office/powerpoint/2010/main" val="3446338916"/>
      </p:ext>
    </p:extLst>
  </p:cSld>
</p:sld>
</file>

<file path=ppt/slides/slide10.xml><?xml version="1.0" encoding="utf-8"?>
<p:sld xmlns:p="http://schemas.openxmlformats.org/presentationml/2006/main">
  <p:cSld>
    <p:bg>
      <p:bgPr>
        <a:gradFill xmlns:a="http://schemas.openxmlformats.org/drawingml/2006/main" rotWithShape="1">
          <a:gsLst>
            <a:gs pos="0">
              <a:srgbClr val="0C3666"/>
            </a:gs>
            <a:gs pos="100000">
              <a:srgbClr val="061C39"/>
            </a:gs>
          </a:gsLst>
          <a:lin ang="13500000" scaled="1"/>
          <a:tileRect/>
        </a:gra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16E6E18-DCB5-27BF-4701-D93C82ECBFD6}"/>
              </a:ext>
            </a:extLst>
          </p:cNvPr>
          <p:cNvSpPr>
            <a:spLocks xmlns:a="http://schemas.openxmlformats.org/drawingml/2006/main" noGrp="1"/>
          </p:cNvSpPr>
          <p:nvPr>
            <p:ph type="ctrTitle" idx="0"/>
          </p:nvPr>
        </p:nvSpPr>
        <p:spPr>
          <a:xfrm xmlns:a="http://schemas.openxmlformats.org/drawingml/2006/main">
            <a:off x="384537" y="1681498"/>
            <a:ext cx="9448800" cy="2491490"/>
          </a:xfrm>
        </p:spPr>
        <p:txBody>
          <a:bodyPr xmlns:a="http://schemas.openxmlformats.org/drawingml/2006/main">
            <a:normAutofit fontScale="100000"/>
          </a:bodyPr>
          <a:lstStyle xmlns:a="http://schemas.openxmlformats.org/drawingml/2006/main"/>
          <a:p xmlns:a="http://schemas.openxmlformats.org/drawingml/2006/main">
            <a:pPr>
              <a:defRPr sz="3450" b="0">
                <a:solidFill>
                  <a:srgbClr val="F9FCFF"/>
                </a:solidFill>
                <a:latin typeface="Helvetica Neue"/>
                <a:ea typeface="Helvetica Neue"/>
                <a:cs typeface="Helvetica Neue"/>
              </a:defRPr>
            </a:pPr>
            <a:r>
              <a:rPr sz="3450" b="0">
                <a:solidFill>
                  <a:srgbClr val="F9FCFF"/>
                </a:solidFill>
                <a:latin typeface="Helvetica Neue"/>
                <a:ea typeface="Helvetica Neue"/>
                <a:cs typeface="Helvetica Neue"/>
              </a:rPr>
              <a:t>Turn meter alerts into decisions</a:t>
            </a:r>
          </a:p>
          <a:p xmlns:a="http://schemas.openxmlformats.org/drawingml/2006/main">
            <a:pPr>
              <a:defRPr sz="3450" b="0">
                <a:solidFill>
                  <a:srgbClr val="F9FCFF"/>
                </a:solidFill>
                <a:latin typeface="Helvetica Neue"/>
                <a:ea typeface="Helvetica Neue"/>
                <a:cs typeface="Helvetica Neue"/>
              </a:defRPr>
            </a:pPr>
            <a:r>
              <a:rPr sz="3450" b="0">
                <a:solidFill>
                  <a:srgbClr val="F9FCFF"/>
                </a:solidFill>
                <a:latin typeface="Helvetica Neue"/>
                <a:ea typeface="Helvetica Neue"/>
                <a:cs typeface="Helvetica Neue"/>
              </a:rPr>
              <a:t>operators can defend</a:t>
            </a:r>
          </a:p>
        </p:txBody>
      </p:sp>
      <p:sp>
        <p:nvSpPr>
          <p:cNvPr id="5" name="Subtitle 4">
            <a:extLst xmlns:a="http://schemas.openxmlformats.org/drawingml/2006/main">
              <a:ext uri="{FF2B5EF4-FFF2-40B4-BE49-F238E27FC236}">
                <a16:creationId xmlns:a16="http://schemas.microsoft.com/office/drawing/2014/main" id="{9DF85E7E-4696-758B-00CF-3C8AE6DE9331}"/>
              </a:ext>
            </a:extLst>
          </p:cNvPr>
          <p:cNvSpPr>
            <a:spLocks xmlns:a="http://schemas.openxmlformats.org/drawingml/2006/main" noGrp="1"/>
          </p:cNvSpPr>
          <p:nvPr>
            <p:ph type="subTitle" idx="1"/>
          </p:nvPr>
        </p:nvSpPr>
        <p:spPr>
          <a:xfrm xmlns:a="http://schemas.openxmlformats.org/drawingml/2006/main">
            <a:off x="393700" y="5346700"/>
            <a:ext cx="3568700" cy="706865"/>
          </a:xfrm>
        </p:spPr>
        <p:txBody>
          <a:bodyPr xmlns:a="http://schemas.openxmlformats.org/drawingml/2006/main">
            <a:normAutofit fontScale="100000"/>
          </a:bodyPr>
          <a:lstStyle xmlns:a="http://schemas.openxmlformats.org/drawingml/2006/main"/>
          <a:p xmlns:a="http://schemas.openxmlformats.org/drawingml/2006/main">
            <a:pPr>
              <a:defRPr sz="1275" b="0">
                <a:solidFill>
                  <a:srgbClr val="F9FCFF"/>
                </a:solidFill>
                <a:latin typeface="Helvetica Neue"/>
                <a:ea typeface="Helvetica Neue"/>
                <a:cs typeface="Helvetica Neue"/>
              </a:defRPr>
            </a:pPr>
            <a:r>
              <a:rPr sz="1275" b="0">
                <a:solidFill>
                  <a:srgbClr val="F9FCFF"/>
                </a:solidFill>
                <a:latin typeface="Helvetica Neue"/>
                <a:ea typeface="Helvetica Neue"/>
                <a:cs typeface="Helvetica Neue"/>
              </a:rPr>
              <a:t>Pilot with us</a:t>
            </a:r>
          </a:p>
          <a:p xmlns:a="http://schemas.openxmlformats.org/drawingml/2006/main">
            <a:pPr>
              <a:defRPr sz="1275" b="0">
                <a:solidFill>
                  <a:srgbClr val="F9FCFF"/>
                </a:solidFill>
                <a:latin typeface="Helvetica Neue"/>
                <a:ea typeface="Helvetica Neue"/>
                <a:cs typeface="Helvetica Neue"/>
              </a:defRPr>
            </a:pPr>
            <a:r>
              <a:rPr sz="1275" b="0">
                <a:solidFill>
                  <a:srgbClr val="F9FCFF"/>
                </a:solidFill>
                <a:latin typeface="Helvetica Neue"/>
                <a:ea typeface="Helvetica Neue"/>
                <a:cs typeface="Helvetica Neue"/>
              </a:rPr>
              <a:t>One team, one data scope, 90 days</a:t>
            </a:r>
          </a:p>
        </p:txBody>
      </p:sp>
      <p:sp>
        <p:nvSpPr>
          <p:cNvPr id="6" name="Subtitle 4">
            <a:extLst xmlns:a="http://schemas.openxmlformats.org/drawingml/2006/main">
              <a:ext uri="{FF2B5EF4-FFF2-40B4-BE49-F238E27FC236}">
                <a16:creationId xmlns:a16="http://schemas.microsoft.com/office/drawing/2014/main" id="{9C23E257-E836-DD5D-F7F1-70302542DB9F}"/>
              </a:ext>
            </a:extLst>
          </p:cNvPr>
          <p:cNvSpPr>
            <a:spLocks xmlns:a="http://schemas.openxmlformats.org/drawingml/2006/main" noGrp="1"/>
          </p:cNvSpPr>
          <p:nvPr/>
        </p:nvSpPr>
        <p:spPr>
          <a:xfrm xmlns:a="http://schemas.openxmlformats.org/drawingml/2006/main">
            <a:off x="393700" y="392241"/>
            <a:ext cx="5537200" cy="64915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marL="0" marR="0" lvl="0" indent="0" algn="l" defTabSz="914400">
              <a:lnSpc>
                <a:spcPct val="90000"/>
              </a:lnSpc>
              <a:spcBef>
                <a:spcPts val="1000"/>
              </a:spcBef>
              <a:spcAft>
                <a:spcPts val="0"/>
              </a:spcAft>
              <a:buClrTx/>
              <a:buSzTx/>
              <a:buFont typeface="Arial"/>
              <a:buNone/>
              <a:defRPr sz="1050" b="0">
                <a:solidFill>
                  <a:srgbClr val="89C3F7"/>
                </a:solidFill>
                <a:latin typeface="Helvetica Neue"/>
                <a:ea typeface="Helvetica Neue"/>
                <a:cs typeface="Helvetica Neue"/>
              </a:defRPr>
            </a:pPr>
            <a:r>
              <a:rPr sz="1050" b="0" i="0" u="none" cap="none" spc="0">
                <a:ln>
                  <a:noFill/>
                </a:ln>
                <a:solidFill>
                  <a:srgbClr val="89C3F7"/>
                </a:solidFill>
                <a:latin typeface="Helvetica Neue"/>
                <a:ea typeface="Helvetica Neue"/>
                <a:cs typeface="Helvetica Neue"/>
              </a:rPr>
              <a:t>MeterDetective AI</a:t>
            </a:r>
          </a:p>
        </p:txBody>
      </p:sp>
    </p:spTree>
    <p:extLst>
      <p:ext uri="{BB962C8B-B14F-4D97-AF65-F5344CB8AC3E}">
        <p14:creationId xmlns:p14="http://schemas.microsoft.com/office/powerpoint/2010/main" val="32063284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Skills and value matrix | Analytics and knowledge</a:t>
            </a:r>
            <a:endParaRP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Slide Number Placeholder 3">
            <a:extLst xmlns:a="http://schemas.openxmlformats.org/drawingml/2006/main">
              <a:ext uri="{FF2B5EF4-FFF2-40B4-BE49-F238E27FC236}">
                <a16:creationId xmlns:a16="http://schemas.microsoft.com/office/drawing/2014/main" id="{BF440A81-02FE-A94E-7F97-15248A945F3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18</a:t>
            </a:fld>
            <a:endParaRPr sz="1100"/>
          </a:p>
        </p:txBody>
      </p:sp>
      <p:sp>
        <p:nvSpPr>
          <p:cNvPr id="534" name="matrix-subtitle">
            <a:extLst xmlns:a="http://schemas.openxmlformats.org/drawingml/2006/main">
              <a:ext uri="{FF2B5EF4-FFF2-40B4-BE49-F238E27FC236}">
                <a16:creationId xmlns:a16="http://schemas.microsoft.com/office/drawing/2014/main" id="{C62C9FB1-49B8-4382-9E51-68DB9EB0DAA8}"/>
              </a:ext>
            </a:extLst>
          </p:cNvPr>
          <p:cNvSpPr>
            <a:spLocks xmlns:a="http://schemas.openxmlformats.org/drawingml/2006/main" noGrp="1"/>
          </p:cNvSpPr>
          <p:nvPr/>
        </p:nvSpPr>
        <p:spPr>
          <a:xfrm xmlns:a="http://schemas.openxmlformats.org/drawingml/2006/main">
            <a:off x="400050" y="914400"/>
            <a:ext cx="1138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52677D"/>
                </a:solidFill>
                <a:latin typeface="Helvetica Neue"/>
                <a:ea typeface="Helvetica Neue"/>
                <a:cs typeface="Helvetica Neue"/>
              </a:defRPr>
            </a:pPr>
            <a:r>
              <a:rPr sz="1125" b="0">
                <a:solidFill>
                  <a:srgbClr val="52677D"/>
                </a:solidFill>
                <a:latin typeface="Helvetica Neue"/>
                <a:ea typeface="Helvetica Neue"/>
                <a:cs typeface="Helvetica Neue"/>
              </a:rPr>
              <a:t>Backup reference. Use during technical Q&amp;A rather than the timed presentation.</a:t>
            </a:r>
          </a:p>
        </p:txBody>
      </p:sp>
      <p:graphicFrame>
        <p:nvGraphicFramePr>
          <p:cNvPr id="540" name=""/>
          <p:cNvGraphicFramePr/>
          <p:nvPr/>
        </p:nvGraphicFramePr>
        <p:xfrm>
          <a:off xmlns:a="http://schemas.openxmlformats.org/drawingml/2006/main" x="400050" y="1409700"/>
          <a:ext xmlns:a="http://schemas.openxmlformats.org/drawingml/2006/main" cx="11391900" cy="4619625"/>
        </p:xfrm>
        <a:graphic xmlns:a="http://schemas.openxmlformats.org/drawingml/2006/main">
          <a:graphicData uri="http://schemas.openxmlformats.org/drawingml/2006/table">
            <a:tbl>
              <a:tblPr firstRow="1" firstCol="1" bandRow="1"/>
              <a:tblGrid>
                <a:gridCol w="1428750"/>
                <a:gridCol w="2143125"/>
                <a:gridCol w="1571625"/>
                <a:gridCol w="1952625"/>
                <a:gridCol w="2095500"/>
                <a:gridCol w="2200275"/>
              </a:tblGrid>
              <a:tr h="577453">
                <a:tc>
                  <a:txBody>
                    <a:bodyPr>
                      <a:normAutofit/>
                    </a:bodyPr>
                    <a:lstStyle/>
                    <a:p>
                      <a:r>
                        <a:rPr sz="750" b="1">
                          <a:solidFill>
                            <a:srgbClr val="FFFFFF"/>
                          </a:solidFill>
                          <a:latin typeface="Helvetica Neue"/>
                          <a:ea typeface="Helvetica Neue"/>
                          <a:cs typeface="Helvetica Neue"/>
                        </a:rPr>
                        <a:t>Skill or technology</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What we implemented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Why selected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Technical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Customer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Demo evidence</a:t>
                      </a:r>
                    </a:p>
                  </a:txBody>
                  <a:tcPr marL="91440" marR="91440" marT="45720" marB="45720">
                    <a:solidFill>
                      <a:srgbClr val="08284F"/>
                    </a:solidFill>
                  </a:tcPr>
                </a:tc>
              </a:tr>
              <a:tr h="577453">
                <a:tc>
                  <a:txBody>
                    <a:bodyPr>
                      <a:normAutofit/>
                    </a:bodyPr>
                    <a:lstStyle/>
                    <a:p>
                      <a:r>
                        <a:rPr sz="675" b="1">
                          <a:solidFill>
                            <a:srgbClr val="08284F"/>
                          </a:solidFill>
                          <a:latin typeface="Helvetica Neue"/>
                          <a:ea typeface="Helvetica Neue"/>
                          <a:cs typeface="Helvetica Neue"/>
                        </a:rPr>
                        <a:t>RAG</a:t>
                      </a:r>
                    </a:p>
                  </a:txBody>
                  <a:tcPr marL="91440" marR="91440" marT="45720" marB="45720"/>
                </a:tc>
                <a:tc>
                  <a:txBody>
                    <a:bodyPr>
                      <a:normAutofit/>
                    </a:bodyPr>
                    <a:lstStyle/>
                    <a:p>
                      <a:r>
                        <a:rPr sz="675" b="0">
                          <a:solidFill>
                            <a:srgbClr val="08284F"/>
                          </a:solidFill>
                          <a:latin typeface="Helvetica Neue"/>
                          <a:ea typeface="Helvetica Neue"/>
                          <a:cs typeface="Helvetica Neue"/>
                        </a:rPr>
                        <a:t>Chunked curated technical summaries with citations</a:t>
                      </a:r>
                    </a:p>
                  </a:txBody>
                  <a:tcPr marL="91440" marR="91440" marT="45720" marB="45720"/>
                </a:tc>
                <a:tc>
                  <a:txBody>
                    <a:bodyPr>
                      <a:normAutofit/>
                    </a:bodyPr>
                    <a:lstStyle/>
                    <a:p>
                      <a:r>
                        <a:rPr sz="675" b="0">
                          <a:solidFill>
                            <a:srgbClr val="08284F"/>
                          </a:solidFill>
                          <a:latin typeface="Helvetica Neue"/>
                          <a:ea typeface="Helvetica Neue"/>
                          <a:cs typeface="Helvetica Neue"/>
                        </a:rPr>
                        <a:t>Ground explanations in traceable sources</a:t>
                      </a:r>
                    </a:p>
                  </a:txBody>
                  <a:tcPr marL="91440" marR="91440" marT="45720" marB="45720"/>
                </a:tc>
                <a:tc>
                  <a:txBody>
                    <a:bodyPr>
                      <a:normAutofit/>
                    </a:bodyPr>
                    <a:lstStyle/>
                    <a:p>
                      <a:r>
                        <a:rPr sz="675" b="0">
                          <a:solidFill>
                            <a:srgbClr val="08284F"/>
                          </a:solidFill>
                          <a:latin typeface="Helvetica Neue"/>
                          <a:ea typeface="Helvetica Neue"/>
                          <a:cs typeface="Helvetica Neue"/>
                        </a:rPr>
                        <a:t>Controlled contextual retrieval</a:t>
                      </a:r>
                    </a:p>
                  </a:txBody>
                  <a:tcPr marL="91440" marR="91440" marT="45720" marB="45720"/>
                </a:tc>
                <a:tc>
                  <a:txBody>
                    <a:bodyPr>
                      <a:normAutofit/>
                    </a:bodyPr>
                    <a:lstStyle/>
                    <a:p>
                      <a:r>
                        <a:rPr sz="675" b="0">
                          <a:solidFill>
                            <a:srgbClr val="08284F"/>
                          </a:solidFill>
                          <a:latin typeface="Helvetica Neue"/>
                          <a:ea typeface="Helvetica Neue"/>
                          <a:cs typeface="Helvetica Neue"/>
                        </a:rPr>
                        <a:t>Guidance carries its source and limits</a:t>
                      </a:r>
                    </a:p>
                  </a:txBody>
                  <a:tcPr marL="91440" marR="91440" marT="45720" marB="45720"/>
                </a:tc>
                <a:tc>
                  <a:txBody>
                    <a:bodyPr>
                      <a:normAutofit/>
                    </a:bodyPr>
                    <a:lstStyle/>
                    <a:p>
                      <a:r>
                        <a:rPr sz="675" b="0">
                          <a:solidFill>
                            <a:srgbClr val="08284F"/>
                          </a:solidFill>
                          <a:latin typeface="Helvetica Neue"/>
                          <a:ea typeface="Helvetica Neue"/>
                          <a:cs typeface="Helvetica Neue"/>
                        </a:rPr>
                        <a:t>Technical citations in case evidence</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Embeddings and vector retrieval</a:t>
                      </a:r>
                    </a:p>
                  </a:txBody>
                  <a:tcPr marL="91440" marR="91440" marT="45720" marB="45720"/>
                </a:tc>
                <a:tc>
                  <a:txBody>
                    <a:bodyPr>
                      <a:normAutofit/>
                    </a:bodyPr>
                    <a:lstStyle/>
                    <a:p>
                      <a:r>
                        <a:rPr sz="675" b="0">
                          <a:solidFill>
                            <a:srgbClr val="08284F"/>
                          </a:solidFill>
                          <a:latin typeface="Helvetica Neue"/>
                          <a:ea typeface="Helvetica Neue"/>
                          <a:cs typeface="Helvetica Neue"/>
                        </a:rPr>
                        <a:t>1,536-dimension feature-hashed vectors and cosine ranking</a:t>
                      </a:r>
                    </a:p>
                  </a:txBody>
                  <a:tcPr marL="91440" marR="91440" marT="45720" marB="45720"/>
                </a:tc>
                <a:tc>
                  <a:txBody>
                    <a:bodyPr>
                      <a:normAutofit/>
                    </a:bodyPr>
                    <a:lstStyle/>
                    <a:p>
                      <a:r>
                        <a:rPr sz="675" b="0">
                          <a:solidFill>
                            <a:srgbClr val="08284F"/>
                          </a:solidFill>
                          <a:latin typeface="Helvetica Neue"/>
                          <a:ea typeface="Helvetica Neue"/>
                          <a:cs typeface="Helvetica Neue"/>
                        </a:rPr>
                        <a:t>Reproducible offline demo</a:t>
                      </a:r>
                    </a:p>
                  </a:txBody>
                  <a:tcPr marL="91440" marR="91440" marT="45720" marB="45720"/>
                </a:tc>
                <a:tc>
                  <a:txBody>
                    <a:bodyPr>
                      <a:normAutofit/>
                    </a:bodyPr>
                    <a:lstStyle/>
                    <a:p>
                      <a:r>
                        <a:rPr sz="675" b="0">
                          <a:solidFill>
                            <a:srgbClr val="08284F"/>
                          </a:solidFill>
                          <a:latin typeface="Helvetica Neue"/>
                          <a:ea typeface="Helvetica Neue"/>
                          <a:cs typeface="Helvetica Neue"/>
                        </a:rPr>
                        <a:t>Deterministic retrieval baseline</a:t>
                      </a:r>
                    </a:p>
                  </a:txBody>
                  <a:tcPr marL="91440" marR="91440" marT="45720" marB="45720"/>
                </a:tc>
                <a:tc>
                  <a:txBody>
                    <a:bodyPr>
                      <a:normAutofit/>
                    </a:bodyPr>
                    <a:lstStyle/>
                    <a:p>
                      <a:r>
                        <a:rPr sz="675" b="0">
                          <a:solidFill>
                            <a:srgbClr val="08284F"/>
                          </a:solidFill>
                          <a:latin typeface="Helvetica Neue"/>
                          <a:ea typeface="Helvetica Neue"/>
                          <a:cs typeface="Helvetica Neue"/>
                        </a:rPr>
                        <a:t>Demo does not require an external provider</a:t>
                      </a:r>
                    </a:p>
                  </a:txBody>
                  <a:tcPr marL="91440" marR="91440" marT="45720" marB="45720"/>
                </a:tc>
                <a:tc>
                  <a:txBody>
                    <a:bodyPr>
                      <a:normAutofit/>
                    </a:bodyPr>
                    <a:lstStyle/>
                    <a:p>
                      <a:r>
                        <a:rPr sz="675" b="0">
                          <a:solidFill>
                            <a:srgbClr val="08284F"/>
                          </a:solidFill>
                          <a:latin typeface="Helvetica Neue"/>
                          <a:ea typeface="Helvetica Neue"/>
                          <a:cs typeface="Helvetica Neue"/>
                        </a:rPr>
                        <a:t>Stored document chunks and relevance</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Isolation Forest</a:t>
                      </a:r>
                    </a:p>
                  </a:txBody>
                  <a:tcPr marL="91440" marR="91440" marT="45720" marB="45720"/>
                </a:tc>
                <a:tc>
                  <a:txBody>
                    <a:bodyPr>
                      <a:normAutofit/>
                    </a:bodyPr>
                    <a:lstStyle/>
                    <a:p>
                      <a:r>
                        <a:rPr sz="675" b="0">
                          <a:solidFill>
                            <a:srgbClr val="08284F"/>
                          </a:solidFill>
                          <a:latin typeface="Helvetica Neue"/>
                          <a:ea typeface="Helvetica Neue"/>
                          <a:cs typeface="Helvetica Neue"/>
                        </a:rPr>
                        <a:t>Unsupervised anomaly score with fixed random state</a:t>
                      </a:r>
                    </a:p>
                  </a:txBody>
                  <a:tcPr marL="91440" marR="91440" marT="45720" marB="45720"/>
                </a:tc>
                <a:tc>
                  <a:txBody>
                    <a:bodyPr>
                      <a:normAutofit/>
                    </a:bodyPr>
                    <a:lstStyle/>
                    <a:p>
                      <a:r>
                        <a:rPr sz="675" b="0">
                          <a:solidFill>
                            <a:srgbClr val="08284F"/>
                          </a:solidFill>
                          <a:latin typeface="Helvetica Neue"/>
                          <a:ea typeface="Helvetica Neue"/>
                          <a:cs typeface="Helvetica Neue"/>
                        </a:rPr>
                        <a:t>Works without labeled fraud data</a:t>
                      </a:r>
                    </a:p>
                  </a:txBody>
                  <a:tcPr marL="91440" marR="91440" marT="45720" marB="45720"/>
                </a:tc>
                <a:tc>
                  <a:txBody>
                    <a:bodyPr>
                      <a:normAutofit/>
                    </a:bodyPr>
                    <a:lstStyle/>
                    <a:p>
                      <a:r>
                        <a:rPr sz="675" b="0">
                          <a:solidFill>
                            <a:srgbClr val="08284F"/>
                          </a:solidFill>
                          <a:latin typeface="Helvetica Neue"/>
                          <a:ea typeface="Helvetica Neue"/>
                          <a:cs typeface="Helvetica Neue"/>
                        </a:rPr>
                        <a:t>Adds a nonlinear anomaly signal</a:t>
                      </a:r>
                    </a:p>
                  </a:txBody>
                  <a:tcPr marL="91440" marR="91440" marT="45720" marB="45720"/>
                </a:tc>
                <a:tc>
                  <a:txBody>
                    <a:bodyPr>
                      <a:normAutofit/>
                    </a:bodyPr>
                    <a:lstStyle/>
                    <a:p>
                      <a:r>
                        <a:rPr sz="675" b="0">
                          <a:solidFill>
                            <a:srgbClr val="08284F"/>
                          </a:solidFill>
                          <a:latin typeface="Helvetica Neue"/>
                          <a:ea typeface="Helvetica Neue"/>
                          <a:cs typeface="Helvetica Neue"/>
                        </a:rPr>
                        <a:t>Surfaces unusual patterns for review</a:t>
                      </a:r>
                    </a:p>
                  </a:txBody>
                  <a:tcPr marL="91440" marR="91440" marT="45720" marB="45720"/>
                </a:tc>
                <a:tc>
                  <a:txBody>
                    <a:bodyPr>
                      <a:normAutofit/>
                    </a:bodyPr>
                    <a:lstStyle/>
                    <a:p>
                      <a:r>
                        <a:rPr sz="675" b="0">
                          <a:solidFill>
                            <a:srgbClr val="08284F"/>
                          </a:solidFill>
                          <a:latin typeface="Helvetica Neue"/>
                          <a:ea typeface="Helvetica Neue"/>
                          <a:cs typeface="Helvetica Neue"/>
                        </a:rPr>
                        <a:t>Isolation score in tool trace</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Statistical anomaly detection</a:t>
                      </a:r>
                    </a:p>
                  </a:txBody>
                  <a:tcPr marL="91440" marR="91440" marT="45720" marB="45720"/>
                </a:tc>
                <a:tc>
                  <a:txBody>
                    <a:bodyPr>
                      <a:normAutofit/>
                    </a:bodyPr>
                    <a:lstStyle/>
                    <a:p>
                      <a:r>
                        <a:rPr sz="675" b="0">
                          <a:solidFill>
                            <a:srgbClr val="08284F"/>
                          </a:solidFill>
                          <a:latin typeface="Helvetica Neue"/>
                          <a:ea typeface="Helvetica Neue"/>
                          <a:cs typeface="Helvetica Neue"/>
                        </a:rPr>
                        <a:t>Median, quartiles, IQR and seasonal slots</a:t>
                      </a:r>
                    </a:p>
                  </a:txBody>
                  <a:tcPr marL="91440" marR="91440" marT="45720" marB="45720"/>
                </a:tc>
                <a:tc>
                  <a:txBody>
                    <a:bodyPr>
                      <a:normAutofit/>
                    </a:bodyPr>
                    <a:lstStyle/>
                    <a:p>
                      <a:r>
                        <a:rPr sz="675" b="0">
                          <a:solidFill>
                            <a:srgbClr val="08284F"/>
                          </a:solidFill>
                          <a:latin typeface="Helvetica Neue"/>
                          <a:ea typeface="Helvetica Neue"/>
                          <a:cs typeface="Helvetica Neue"/>
                        </a:rPr>
                        <a:t>Robust and explainable thresholds</a:t>
                      </a:r>
                    </a:p>
                  </a:txBody>
                  <a:tcPr marL="91440" marR="91440" marT="45720" marB="45720"/>
                </a:tc>
                <a:tc>
                  <a:txBody>
                    <a:bodyPr>
                      <a:normAutofit/>
                    </a:bodyPr>
                    <a:lstStyle/>
                    <a:p>
                      <a:r>
                        <a:rPr sz="675" b="0">
                          <a:solidFill>
                            <a:srgbClr val="08284F"/>
                          </a:solidFill>
                          <a:latin typeface="Helvetica Neue"/>
                          <a:ea typeface="Helvetica Neue"/>
                          <a:cs typeface="Helvetica Neue"/>
                        </a:rPr>
                        <a:t>Repeatable severity calculations</a:t>
                      </a:r>
                    </a:p>
                  </a:txBody>
                  <a:tcPr marL="91440" marR="91440" marT="45720" marB="45720"/>
                </a:tc>
                <a:tc>
                  <a:txBody>
                    <a:bodyPr>
                      <a:normAutofit/>
                    </a:bodyPr>
                    <a:lstStyle/>
                    <a:p>
                      <a:r>
                        <a:rPr sz="675" b="0">
                          <a:solidFill>
                            <a:srgbClr val="08284F"/>
                          </a:solidFill>
                          <a:latin typeface="Helvetica Neue"/>
                          <a:ea typeface="Helvetica Neue"/>
                          <a:cs typeface="Helvetica Neue"/>
                        </a:rPr>
                        <a:t>Operators can inspect the reason</a:t>
                      </a:r>
                    </a:p>
                  </a:txBody>
                  <a:tcPr marL="91440" marR="91440" marT="45720" marB="45720"/>
                </a:tc>
                <a:tc>
                  <a:txBody>
                    <a:bodyPr>
                      <a:normAutofit/>
                    </a:bodyPr>
                    <a:lstStyle/>
                    <a:p>
                      <a:r>
                        <a:rPr sz="675" b="0">
                          <a:solidFill>
                            <a:srgbClr val="08284F"/>
                          </a:solidFill>
                          <a:latin typeface="Helvetica Neue"/>
                          <a:ea typeface="Helvetica Neue"/>
                          <a:cs typeface="Helvetica Neue"/>
                        </a:rPr>
                        <a:t>Baseline band and anomaly components</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Peer comparison</a:t>
                      </a:r>
                    </a:p>
                  </a:txBody>
                  <a:tcPr marL="91440" marR="91440" marT="45720" marB="45720"/>
                </a:tc>
                <a:tc>
                  <a:txBody>
                    <a:bodyPr>
                      <a:normAutofit/>
                    </a:bodyPr>
                    <a:lstStyle/>
                    <a:p>
                      <a:r>
                        <a:rPr sz="675" b="0">
                          <a:solidFill>
                            <a:srgbClr val="08284F"/>
                          </a:solidFill>
                          <a:latin typeface="Helvetica Neue"/>
                          <a:ea typeface="Helvetica Neue"/>
                          <a:cs typeface="Helvetica Neue"/>
                        </a:rPr>
                        <a:t>Metadata filters plus Pearson load-shape correlation</a:t>
                      </a:r>
                    </a:p>
                  </a:txBody>
                  <a:tcPr marL="91440" marR="91440" marT="45720" marB="45720"/>
                </a:tc>
                <a:tc>
                  <a:txBody>
                    <a:bodyPr>
                      <a:normAutofit/>
                    </a:bodyPr>
                    <a:lstStyle/>
                    <a:p>
                      <a:r>
                        <a:rPr sz="675" b="0">
                          <a:solidFill>
                            <a:srgbClr val="08284F"/>
                          </a:solidFill>
                          <a:latin typeface="Helvetica Neue"/>
                          <a:ea typeface="Helvetica Neue"/>
                          <a:cs typeface="Helvetica Neue"/>
                        </a:rPr>
                        <a:t>Distinguish local and shared behavior</a:t>
                      </a:r>
                    </a:p>
                  </a:txBody>
                  <a:tcPr marL="91440" marR="91440" marT="45720" marB="45720"/>
                </a:tc>
                <a:tc>
                  <a:txBody>
                    <a:bodyPr>
                      <a:normAutofit/>
                    </a:bodyPr>
                    <a:lstStyle/>
                    <a:p>
                      <a:r>
                        <a:rPr sz="675" b="0">
                          <a:solidFill>
                            <a:srgbClr val="08284F"/>
                          </a:solidFill>
                          <a:latin typeface="Helvetica Neue"/>
                          <a:ea typeface="Helvetica Neue"/>
                          <a:cs typeface="Helvetica Neue"/>
                        </a:rPr>
                        <a:t>Dynamic comparable cohort</a:t>
                      </a:r>
                    </a:p>
                  </a:txBody>
                  <a:tcPr marL="91440" marR="91440" marT="45720" marB="45720"/>
                </a:tc>
                <a:tc>
                  <a:txBody>
                    <a:bodyPr>
                      <a:normAutofit/>
                    </a:bodyPr>
                    <a:lstStyle/>
                    <a:p>
                      <a:r>
                        <a:rPr sz="675" b="0">
                          <a:solidFill>
                            <a:srgbClr val="08284F"/>
                          </a:solidFill>
                          <a:latin typeface="Helvetica Neue"/>
                          <a:ea typeface="Helvetica Neue"/>
                          <a:cs typeface="Helvetica Neue"/>
                        </a:rPr>
                        <a:t>Reduces isolated false alarms</a:t>
                      </a:r>
                    </a:p>
                  </a:txBody>
                  <a:tcPr marL="91440" marR="91440" marT="45720" marB="45720"/>
                </a:tc>
                <a:tc>
                  <a:txBody>
                    <a:bodyPr>
                      <a:normAutofit/>
                    </a:bodyPr>
                    <a:lstStyle/>
                    <a:p>
                      <a:r>
                        <a:rPr sz="675" b="0">
                          <a:solidFill>
                            <a:srgbClr val="08284F"/>
                          </a:solidFill>
                          <a:latin typeface="Helvetica Neue"/>
                          <a:ea typeface="Helvetica Neue"/>
                          <a:cs typeface="Helvetica Neue"/>
                        </a:rPr>
                        <a:t>Peer count, median and deviation</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Data engineering</a:t>
                      </a:r>
                    </a:p>
                  </a:txBody>
                  <a:tcPr marL="91440" marR="91440" marT="45720" marB="45720"/>
                </a:tc>
                <a:tc>
                  <a:txBody>
                    <a:bodyPr>
                      <a:normAutofit/>
                    </a:bodyPr>
                    <a:lstStyle/>
                    <a:p>
                      <a:r>
                        <a:rPr sz="675" b="0">
                          <a:solidFill>
                            <a:srgbClr val="08284F"/>
                          </a:solidFill>
                          <a:latin typeface="Helvetica Neue"/>
                          <a:ea typeface="Helvetica Neue"/>
                          <a:cs typeface="Helvetica Neue"/>
                        </a:rPr>
                        <a:t>Normalization, manifests, constraints and idempotent imports</a:t>
                      </a:r>
                    </a:p>
                  </a:txBody>
                  <a:tcPr marL="91440" marR="91440" marT="45720" marB="45720"/>
                </a:tc>
                <a:tc>
                  <a:txBody>
                    <a:bodyPr>
                      <a:normAutofit/>
                    </a:bodyPr>
                    <a:lstStyle/>
                    <a:p>
                      <a:r>
                        <a:rPr sz="675" b="0">
                          <a:solidFill>
                            <a:srgbClr val="08284F"/>
                          </a:solidFill>
                          <a:latin typeface="Helvetica Neue"/>
                          <a:ea typeface="Helvetica Neue"/>
                          <a:cs typeface="Helvetica Neue"/>
                        </a:rPr>
                        <a:t>Create repeatable datasets</a:t>
                      </a:r>
                    </a:p>
                  </a:txBody>
                  <a:tcPr marL="91440" marR="91440" marT="45720" marB="45720"/>
                </a:tc>
                <a:tc>
                  <a:txBody>
                    <a:bodyPr>
                      <a:normAutofit/>
                    </a:bodyPr>
                    <a:lstStyle/>
                    <a:p>
                      <a:r>
                        <a:rPr sz="675" b="0">
                          <a:solidFill>
                            <a:srgbClr val="08284F"/>
                          </a:solidFill>
                          <a:latin typeface="Helvetica Neue"/>
                          <a:ea typeface="Helvetica Neue"/>
                          <a:cs typeface="Helvetica Neue"/>
                        </a:rPr>
                        <a:t>Consistent inputs and lineage</a:t>
                      </a:r>
                    </a:p>
                  </a:txBody>
                  <a:tcPr marL="91440" marR="91440" marT="45720" marB="45720"/>
                </a:tc>
                <a:tc>
                  <a:txBody>
                    <a:bodyPr>
                      <a:normAutofit/>
                    </a:bodyPr>
                    <a:lstStyle/>
                    <a:p>
                      <a:r>
                        <a:rPr sz="675" b="0">
                          <a:solidFill>
                            <a:srgbClr val="08284F"/>
                          </a:solidFill>
                          <a:latin typeface="Helvetica Neue"/>
                          <a:ea typeface="Helvetica Neue"/>
                          <a:cs typeface="Helvetica Neue"/>
                        </a:rPr>
                        <a:t>Reliable onboarding and replay</a:t>
                      </a:r>
                    </a:p>
                  </a:txBody>
                  <a:tcPr marL="91440" marR="91440" marT="45720" marB="45720"/>
                </a:tc>
                <a:tc>
                  <a:txBody>
                    <a:bodyPr>
                      <a:normAutofit/>
                    </a:bodyPr>
                    <a:lstStyle/>
                    <a:p>
                      <a:r>
                        <a:rPr sz="675" b="0">
                          <a:solidFill>
                            <a:srgbClr val="08284F"/>
                          </a:solidFill>
                          <a:latin typeface="Helvetica Neue"/>
                          <a:ea typeface="Helvetica Neue"/>
                          <a:cs typeface="Helvetica Neue"/>
                        </a:rPr>
                        <a:t>Seed and import summaries</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Agentic workflow</a:t>
                      </a:r>
                    </a:p>
                  </a:txBody>
                  <a:tcPr marL="91440" marR="91440" marT="45720" marB="45720"/>
                </a:tc>
                <a:tc>
                  <a:txBody>
                    <a:bodyPr>
                      <a:normAutofit/>
                    </a:bodyPr>
                    <a:lstStyle/>
                    <a:p>
                      <a:r>
                        <a:rPr sz="675" b="0">
                          <a:solidFill>
                            <a:srgbClr val="08284F"/>
                          </a:solidFill>
                          <a:latin typeface="Helvetica Neue"/>
                          <a:ea typeface="Helvetica Neue"/>
                          <a:cs typeface="Helvetica Neue"/>
                        </a:rPr>
                        <a:t>Persistent state machine and typed tool registry</a:t>
                      </a:r>
                    </a:p>
                  </a:txBody>
                  <a:tcPr marL="91440" marR="91440" marT="45720" marB="45720"/>
                </a:tc>
                <a:tc>
                  <a:txBody>
                    <a:bodyPr>
                      <a:normAutofit/>
                    </a:bodyPr>
                    <a:lstStyle/>
                    <a:p>
                      <a:r>
                        <a:rPr sz="675" b="0">
                          <a:solidFill>
                            <a:srgbClr val="08284F"/>
                          </a:solidFill>
                          <a:latin typeface="Helvetica Neue"/>
                          <a:ea typeface="Helvetica Neue"/>
                          <a:cs typeface="Helvetica Neue"/>
                        </a:rPr>
                        <a:t>Coordinate evidence in stages</a:t>
                      </a:r>
                    </a:p>
                  </a:txBody>
                  <a:tcPr marL="91440" marR="91440" marT="45720" marB="45720"/>
                </a:tc>
                <a:tc>
                  <a:txBody>
                    <a:bodyPr>
                      <a:normAutofit/>
                    </a:bodyPr>
                    <a:lstStyle/>
                    <a:p>
                      <a:r>
                        <a:rPr sz="675" b="0">
                          <a:solidFill>
                            <a:srgbClr val="08284F"/>
                          </a:solidFill>
                          <a:latin typeface="Helvetica Neue"/>
                          <a:ea typeface="Helvetica Neue"/>
                          <a:cs typeface="Helvetica Neue"/>
                        </a:rPr>
                        <a:t>Resumable and inspectable runs</a:t>
                      </a:r>
                    </a:p>
                  </a:txBody>
                  <a:tcPr marL="91440" marR="91440" marT="45720" marB="45720"/>
                </a:tc>
                <a:tc>
                  <a:txBody>
                    <a:bodyPr>
                      <a:normAutofit/>
                    </a:bodyPr>
                    <a:lstStyle/>
                    <a:p>
                      <a:r>
                        <a:rPr sz="675" b="0">
                          <a:solidFill>
                            <a:srgbClr val="08284F"/>
                          </a:solidFill>
                          <a:latin typeface="Helvetica Neue"/>
                          <a:ea typeface="Helvetica Neue"/>
                          <a:cs typeface="Helvetica Neue"/>
                        </a:rPr>
                        <a:t>Cases update as new evidence arrives</a:t>
                      </a:r>
                    </a:p>
                  </a:txBody>
                  <a:tcPr marL="91440" marR="91440" marT="45720" marB="45720"/>
                </a:tc>
                <a:tc>
                  <a:txBody>
                    <a:bodyPr>
                      <a:normAutofit/>
                    </a:bodyPr>
                    <a:lstStyle/>
                    <a:p>
                      <a:r>
                        <a:rPr sz="675" b="0">
                          <a:solidFill>
                            <a:srgbClr val="08284F"/>
                          </a:solidFill>
                          <a:latin typeface="Helvetica Neue"/>
                          <a:ea typeface="Helvetica Neue"/>
                          <a:cs typeface="Helvetica Neue"/>
                        </a:rPr>
                        <a:t>Plan versions and ordered tool trace</a:t>
                      </a:r>
                    </a:p>
                  </a:txBody>
                  <a:tcPr marL="91440" marR="91440" marT="45720" marB="45720"/>
                </a:tc>
              </a:tr>
            </a:tbl>
          </a:graphicData>
        </a:graphic>
      </p:graphicFrame>
    </p:spTree>
    <p:extLst>
      <p:ext uri="{BB962C8B-B14F-4D97-AF65-F5344CB8AC3E}">
        <p14:creationId xmlns:p14="http://schemas.microsoft.com/office/powerpoint/2010/main" val="32985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Skills and value matrix | Platform engineering</a:t>
            </a:r>
            <a:endParaRP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Slide Number Placeholder 3">
            <a:extLst xmlns:a="http://schemas.openxmlformats.org/drawingml/2006/main">
              <a:ext uri="{FF2B5EF4-FFF2-40B4-BE49-F238E27FC236}">
                <a16:creationId xmlns:a16="http://schemas.microsoft.com/office/drawing/2014/main" id="{BF440A81-02FE-A94E-7F97-15248A945F3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18</a:t>
            </a:fld>
            <a:endParaRPr sz="1100"/>
          </a:p>
        </p:txBody>
      </p:sp>
      <p:sp>
        <p:nvSpPr>
          <p:cNvPr id="534" name="matrix-subtitle">
            <a:extLst xmlns:a="http://schemas.openxmlformats.org/drawingml/2006/main">
              <a:ext uri="{FF2B5EF4-FFF2-40B4-BE49-F238E27FC236}">
                <a16:creationId xmlns:a16="http://schemas.microsoft.com/office/drawing/2014/main" id="{B6A9B31E-65FD-4796-965A-E1A7CF2974BE}"/>
              </a:ext>
            </a:extLst>
          </p:cNvPr>
          <p:cNvSpPr>
            <a:spLocks xmlns:a="http://schemas.openxmlformats.org/drawingml/2006/main" noGrp="1"/>
          </p:cNvSpPr>
          <p:nvPr/>
        </p:nvSpPr>
        <p:spPr>
          <a:xfrm xmlns:a="http://schemas.openxmlformats.org/drawingml/2006/main">
            <a:off x="400050" y="914400"/>
            <a:ext cx="1138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52677D"/>
                </a:solidFill>
                <a:latin typeface="Helvetica Neue"/>
                <a:ea typeface="Helvetica Neue"/>
                <a:cs typeface="Helvetica Neue"/>
              </a:defRPr>
            </a:pPr>
            <a:r>
              <a:rPr sz="1125" b="0">
                <a:solidFill>
                  <a:srgbClr val="52677D"/>
                </a:solidFill>
                <a:latin typeface="Helvetica Neue"/>
                <a:ea typeface="Helvetica Neue"/>
                <a:cs typeface="Helvetica Neue"/>
              </a:rPr>
              <a:t>Backup reference. Use during technical Q&amp;A rather than the timed presentation.</a:t>
            </a:r>
          </a:p>
        </p:txBody>
      </p:sp>
      <p:graphicFrame>
        <p:nvGraphicFramePr>
          <p:cNvPr id="540" name=""/>
          <p:cNvGraphicFramePr/>
          <p:nvPr/>
        </p:nvGraphicFramePr>
        <p:xfrm>
          <a:off xmlns:a="http://schemas.openxmlformats.org/drawingml/2006/main" x="400050" y="1409700"/>
          <a:ext xmlns:a="http://schemas.openxmlformats.org/drawingml/2006/main" cx="11391900" cy="4619625"/>
        </p:xfrm>
        <a:graphic xmlns:a="http://schemas.openxmlformats.org/drawingml/2006/main">
          <a:graphicData uri="http://schemas.openxmlformats.org/drawingml/2006/table">
            <a:tbl>
              <a:tblPr firstRow="1" firstCol="1" bandRow="1"/>
              <a:tblGrid>
                <a:gridCol w="1428750"/>
                <a:gridCol w="2143125"/>
                <a:gridCol w="1571625"/>
                <a:gridCol w="1952625"/>
                <a:gridCol w="2095500"/>
                <a:gridCol w="2200275"/>
              </a:tblGrid>
              <a:tr h="577453">
                <a:tc>
                  <a:txBody>
                    <a:bodyPr>
                      <a:normAutofit/>
                    </a:bodyPr>
                    <a:lstStyle/>
                    <a:p>
                      <a:r>
                        <a:rPr sz="750" b="1">
                          <a:solidFill>
                            <a:srgbClr val="FFFFFF"/>
                          </a:solidFill>
                          <a:latin typeface="Helvetica Neue"/>
                          <a:ea typeface="Helvetica Neue"/>
                          <a:cs typeface="Helvetica Neue"/>
                        </a:rPr>
                        <a:t>Skill or technology</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What we implemented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Why selected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Technical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Customer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Demo evidence</a:t>
                      </a:r>
                    </a:p>
                  </a:txBody>
                  <a:tcPr marL="91440" marR="91440" marT="45720" marB="45720">
                    <a:solidFill>
                      <a:srgbClr val="08284F"/>
                    </a:solidFill>
                  </a:tcPr>
                </a:tc>
              </a:tr>
              <a:tr h="577453">
                <a:tc>
                  <a:txBody>
                    <a:bodyPr>
                      <a:normAutofit/>
                    </a:bodyPr>
                    <a:lstStyle/>
                    <a:p>
                      <a:r>
                        <a:rPr sz="675" b="1">
                          <a:solidFill>
                            <a:srgbClr val="08284F"/>
                          </a:solidFill>
                          <a:latin typeface="Helvetica Neue"/>
                          <a:ea typeface="Helvetica Neue"/>
                          <a:cs typeface="Helvetica Neue"/>
                        </a:rPr>
                        <a:t>FastAPI</a:t>
                      </a:r>
                    </a:p>
                  </a:txBody>
                  <a:tcPr marL="91440" marR="91440" marT="45720" marB="45720"/>
                </a:tc>
                <a:tc>
                  <a:txBody>
                    <a:bodyPr>
                      <a:normAutofit/>
                    </a:bodyPr>
                    <a:lstStyle/>
                    <a:p>
                      <a:r>
                        <a:rPr sz="675" b="0">
                          <a:solidFill>
                            <a:srgbClr val="08284F"/>
                          </a:solidFill>
                          <a:latin typeface="Helvetica Neue"/>
                          <a:ea typeface="Helvetica Neue"/>
                          <a:cs typeface="Helvetica Neue"/>
                        </a:rPr>
                        <a:t>REST routes, health checks and static dashboard delivery</a:t>
                      </a:r>
                    </a:p>
                  </a:txBody>
                  <a:tcPr marL="91440" marR="91440" marT="45720" marB="45720"/>
                </a:tc>
                <a:tc>
                  <a:txBody>
                    <a:bodyPr>
                      <a:normAutofit/>
                    </a:bodyPr>
                    <a:lstStyle/>
                    <a:p>
                      <a:r>
                        <a:rPr sz="675" b="0">
                          <a:solidFill>
                            <a:srgbClr val="08284F"/>
                          </a:solidFill>
                          <a:latin typeface="Helvetica Neue"/>
                          <a:ea typeface="Helvetica Neue"/>
                          <a:cs typeface="Helvetica Neue"/>
                        </a:rPr>
                        <a:t>Fast Python service development</a:t>
                      </a:r>
                    </a:p>
                  </a:txBody>
                  <a:tcPr marL="91440" marR="91440" marT="45720" marB="45720"/>
                </a:tc>
                <a:tc>
                  <a:txBody>
                    <a:bodyPr>
                      <a:normAutofit/>
                    </a:bodyPr>
                    <a:lstStyle/>
                    <a:p>
                      <a:r>
                        <a:rPr sz="675" b="0">
                          <a:solidFill>
                            <a:srgbClr val="08284F"/>
                          </a:solidFill>
                          <a:latin typeface="Helvetica Neue"/>
                          <a:ea typeface="Helvetica Neue"/>
                          <a:cs typeface="Helvetica Neue"/>
                        </a:rPr>
                        <a:t>Typed and testable HTTP boundary</a:t>
                      </a:r>
                    </a:p>
                  </a:txBody>
                  <a:tcPr marL="91440" marR="91440" marT="45720" marB="45720"/>
                </a:tc>
                <a:tc>
                  <a:txBody>
                    <a:bodyPr>
                      <a:normAutofit/>
                    </a:bodyPr>
                    <a:lstStyle/>
                    <a:p>
                      <a:r>
                        <a:rPr sz="675" b="0">
                          <a:solidFill>
                            <a:srgbClr val="08284F"/>
                          </a:solidFill>
                          <a:latin typeface="Helvetica Neue"/>
                          <a:ea typeface="Helvetica Neue"/>
                          <a:cs typeface="Helvetica Neue"/>
                        </a:rPr>
                        <a:t>Simple integration surface</a:t>
                      </a:r>
                    </a:p>
                  </a:txBody>
                  <a:tcPr marL="91440" marR="91440" marT="45720" marB="45720"/>
                </a:tc>
                <a:tc>
                  <a:txBody>
                    <a:bodyPr>
                      <a:normAutofit/>
                    </a:bodyPr>
                    <a:lstStyle/>
                    <a:p>
                      <a:r>
                        <a:rPr sz="675" b="0">
                          <a:solidFill>
                            <a:srgbClr val="08284F"/>
                          </a:solidFill>
                          <a:latin typeface="Helvetica Neue"/>
                          <a:ea typeface="Helvetica Neue"/>
                          <a:cs typeface="Helvetica Neue"/>
                        </a:rPr>
                        <a:t>Interactive API and health endpoint</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PostgreSQL and pgvector</a:t>
                      </a:r>
                    </a:p>
                  </a:txBody>
                  <a:tcPr marL="91440" marR="91440" marT="45720" marB="45720"/>
                </a:tc>
                <a:tc>
                  <a:txBody>
                    <a:bodyPr>
                      <a:normAutofit/>
                    </a:bodyPr>
                    <a:lstStyle/>
                    <a:p>
                      <a:r>
                        <a:rPr sz="675" b="0">
                          <a:solidFill>
                            <a:srgbClr val="08284F"/>
                          </a:solidFill>
                          <a:latin typeface="Helvetica Neue"/>
                          <a:ea typeface="Helvetica Neue"/>
                          <a:cs typeface="Helvetica Neue"/>
                        </a:rPr>
                        <a:t>Relational case data plus vector-compatible chunks</a:t>
                      </a:r>
                    </a:p>
                  </a:txBody>
                  <a:tcPr marL="91440" marR="91440" marT="45720" marB="45720"/>
                </a:tc>
                <a:tc>
                  <a:txBody>
                    <a:bodyPr>
                      <a:normAutofit/>
                    </a:bodyPr>
                    <a:lstStyle/>
                    <a:p>
                      <a:r>
                        <a:rPr sz="675" b="0">
                          <a:solidFill>
                            <a:srgbClr val="08284F"/>
                          </a:solidFill>
                          <a:latin typeface="Helvetica Neue"/>
                          <a:ea typeface="Helvetica Neue"/>
                          <a:cs typeface="Helvetica Neue"/>
                        </a:rPr>
                        <a:t>Transactions and retrieval in one platform</a:t>
                      </a:r>
                    </a:p>
                  </a:txBody>
                  <a:tcPr marL="91440" marR="91440" marT="45720" marB="45720"/>
                </a:tc>
                <a:tc>
                  <a:txBody>
                    <a:bodyPr>
                      <a:normAutofit/>
                    </a:bodyPr>
                    <a:lstStyle/>
                    <a:p>
                      <a:r>
                        <a:rPr sz="675" b="0">
                          <a:solidFill>
                            <a:srgbClr val="08284F"/>
                          </a:solidFill>
                          <a:latin typeface="Helvetica Neue"/>
                          <a:ea typeface="Helvetica Neue"/>
                          <a:cs typeface="Helvetica Neue"/>
                        </a:rPr>
                        <a:t>Durable operational memory</a:t>
                      </a:r>
                    </a:p>
                  </a:txBody>
                  <a:tcPr marL="91440" marR="91440" marT="45720" marB="45720"/>
                </a:tc>
                <a:tc>
                  <a:txBody>
                    <a:bodyPr>
                      <a:normAutofit/>
                    </a:bodyPr>
                    <a:lstStyle/>
                    <a:p>
                      <a:r>
                        <a:rPr sz="675" b="0">
                          <a:solidFill>
                            <a:srgbClr val="08284F"/>
                          </a:solidFill>
                          <a:latin typeface="Helvetica Neue"/>
                          <a:ea typeface="Helvetica Neue"/>
                          <a:cs typeface="Helvetica Neue"/>
                        </a:rPr>
                        <a:t>Audit history and precedent access</a:t>
                      </a:r>
                    </a:p>
                  </a:txBody>
                  <a:tcPr marL="91440" marR="91440" marT="45720" marB="45720"/>
                </a:tc>
                <a:tc>
                  <a:txBody>
                    <a:bodyPr>
                      <a:normAutofit/>
                    </a:bodyPr>
                    <a:lstStyle/>
                    <a:p>
                      <a:r>
                        <a:rPr sz="675" b="0">
                          <a:solidFill>
                            <a:srgbClr val="08284F"/>
                          </a:solidFill>
                          <a:latin typeface="Helvetica Neue"/>
                          <a:ea typeface="Helvetica Neue"/>
                          <a:cs typeface="Helvetica Neue"/>
                        </a:rPr>
                        <a:t>Cases, reports and citations</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SQLAlchemy and Alembic</a:t>
                      </a:r>
                    </a:p>
                  </a:txBody>
                  <a:tcPr marL="91440" marR="91440" marT="45720" marB="45720"/>
                </a:tc>
                <a:tc>
                  <a:txBody>
                    <a:bodyPr>
                      <a:normAutofit/>
                    </a:bodyPr>
                    <a:lstStyle/>
                    <a:p>
                      <a:r>
                        <a:rPr sz="675" b="0">
                          <a:solidFill>
                            <a:srgbClr val="08284F"/>
                          </a:solidFill>
                          <a:latin typeface="Helvetica Neue"/>
                          <a:ea typeface="Helvetica Neue"/>
                          <a:cs typeface="Helvetica Neue"/>
                        </a:rPr>
                        <a:t>Repository layer and versioned migrations</a:t>
                      </a:r>
                    </a:p>
                  </a:txBody>
                  <a:tcPr marL="91440" marR="91440" marT="45720" marB="45720"/>
                </a:tc>
                <a:tc>
                  <a:txBody>
                    <a:bodyPr>
                      <a:normAutofit/>
                    </a:bodyPr>
                    <a:lstStyle/>
                    <a:p>
                      <a:r>
                        <a:rPr sz="675" b="0">
                          <a:solidFill>
                            <a:srgbClr val="08284F"/>
                          </a:solidFill>
                          <a:latin typeface="Helvetica Neue"/>
                          <a:ea typeface="Helvetica Neue"/>
                          <a:cs typeface="Helvetica Neue"/>
                        </a:rPr>
                        <a:t>Maintain schema safely</a:t>
                      </a:r>
                    </a:p>
                  </a:txBody>
                  <a:tcPr marL="91440" marR="91440" marT="45720" marB="45720"/>
                </a:tc>
                <a:tc>
                  <a:txBody>
                    <a:bodyPr>
                      <a:normAutofit/>
                    </a:bodyPr>
                    <a:lstStyle/>
                    <a:p>
                      <a:r>
                        <a:rPr sz="675" b="0">
                          <a:solidFill>
                            <a:srgbClr val="08284F"/>
                          </a:solidFill>
                          <a:latin typeface="Helvetica Neue"/>
                          <a:ea typeface="Helvetica Neue"/>
                          <a:cs typeface="Helvetica Neue"/>
                        </a:rPr>
                        <a:t>Clear persistence boundary</a:t>
                      </a:r>
                    </a:p>
                  </a:txBody>
                  <a:tcPr marL="91440" marR="91440" marT="45720" marB="45720"/>
                </a:tc>
                <a:tc>
                  <a:txBody>
                    <a:bodyPr>
                      <a:normAutofit/>
                    </a:bodyPr>
                    <a:lstStyle/>
                    <a:p>
                      <a:r>
                        <a:rPr sz="675" b="0">
                          <a:solidFill>
                            <a:srgbClr val="08284F"/>
                          </a:solidFill>
                          <a:latin typeface="Helvetica Neue"/>
                          <a:ea typeface="Helvetica Neue"/>
                          <a:cs typeface="Helvetica Neue"/>
                        </a:rPr>
                        <a:t>Lower upgrade and audit risk</a:t>
                      </a:r>
                    </a:p>
                  </a:txBody>
                  <a:tcPr marL="91440" marR="91440" marT="45720" marB="45720"/>
                </a:tc>
                <a:tc>
                  <a:txBody>
                    <a:bodyPr>
                      <a:normAutofit/>
                    </a:bodyPr>
                    <a:lstStyle/>
                    <a:p>
                      <a:r>
                        <a:rPr sz="675" b="0">
                          <a:solidFill>
                            <a:srgbClr val="08284F"/>
                          </a:solidFill>
                          <a:latin typeface="Helvetica Neue"/>
                          <a:ea typeface="Helvetica Neue"/>
                          <a:cs typeface="Helvetica Neue"/>
                        </a:rPr>
                        <a:t>Migration history and models</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Pydantic</a:t>
                      </a:r>
                    </a:p>
                  </a:txBody>
                  <a:tcPr marL="91440" marR="91440" marT="45720" marB="45720"/>
                </a:tc>
                <a:tc>
                  <a:txBody>
                    <a:bodyPr>
                      <a:normAutofit/>
                    </a:bodyPr>
                    <a:lstStyle/>
                    <a:p>
                      <a:r>
                        <a:rPr sz="675" b="0">
                          <a:solidFill>
                            <a:srgbClr val="08284F"/>
                          </a:solidFill>
                          <a:latin typeface="Helvetica Neue"/>
                          <a:ea typeface="Helvetica Neue"/>
                          <a:cs typeface="Helvetica Neue"/>
                        </a:rPr>
                        <a:t>Strict tool, state, event and report contracts</a:t>
                      </a:r>
                    </a:p>
                  </a:txBody>
                  <a:tcPr marL="91440" marR="91440" marT="45720" marB="45720"/>
                </a:tc>
                <a:tc>
                  <a:txBody>
                    <a:bodyPr>
                      <a:normAutofit/>
                    </a:bodyPr>
                    <a:lstStyle/>
                    <a:p>
                      <a:r>
                        <a:rPr sz="675" b="0">
                          <a:solidFill>
                            <a:srgbClr val="08284F"/>
                          </a:solidFill>
                          <a:latin typeface="Helvetica Neue"/>
                          <a:ea typeface="Helvetica Neue"/>
                          <a:cs typeface="Helvetica Neue"/>
                        </a:rPr>
                        <a:t>Reject malformed data early</a:t>
                      </a:r>
                    </a:p>
                  </a:txBody>
                  <a:tcPr marL="91440" marR="91440" marT="45720" marB="45720"/>
                </a:tc>
                <a:tc>
                  <a:txBody>
                    <a:bodyPr>
                      <a:normAutofit/>
                    </a:bodyPr>
                    <a:lstStyle/>
                    <a:p>
                      <a:r>
                        <a:rPr sz="675" b="0">
                          <a:solidFill>
                            <a:srgbClr val="08284F"/>
                          </a:solidFill>
                          <a:latin typeface="Helvetica Neue"/>
                          <a:ea typeface="Helvetica Neue"/>
                          <a:cs typeface="Helvetica Neue"/>
                        </a:rPr>
                        <a:t>Schema validation and serialization</a:t>
                      </a:r>
                    </a:p>
                  </a:txBody>
                  <a:tcPr marL="91440" marR="91440" marT="45720" marB="45720"/>
                </a:tc>
                <a:tc>
                  <a:txBody>
                    <a:bodyPr>
                      <a:normAutofit/>
                    </a:bodyPr>
                    <a:lstStyle/>
                    <a:p>
                      <a:r>
                        <a:rPr sz="675" b="0">
                          <a:solidFill>
                            <a:srgbClr val="08284F"/>
                          </a:solidFill>
                          <a:latin typeface="Helvetica Neue"/>
                          <a:ea typeface="Helvetica Neue"/>
                          <a:cs typeface="Helvetica Neue"/>
                        </a:rPr>
                        <a:t>More dependable integrations</a:t>
                      </a:r>
                    </a:p>
                  </a:txBody>
                  <a:tcPr marL="91440" marR="91440" marT="45720" marB="45720"/>
                </a:tc>
                <a:tc>
                  <a:txBody>
                    <a:bodyPr>
                      <a:normAutofit/>
                    </a:bodyPr>
                    <a:lstStyle/>
                    <a:p>
                      <a:r>
                        <a:rPr sz="675" b="0">
                          <a:solidFill>
                            <a:srgbClr val="08284F"/>
                          </a:solidFill>
                          <a:latin typeface="Helvetica Neue"/>
                          <a:ea typeface="Helvetica Neue"/>
                          <a:cs typeface="Helvetica Neue"/>
                        </a:rPr>
                        <a:t>18-question report validation</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Docker and Docker Compose</a:t>
                      </a:r>
                    </a:p>
                  </a:txBody>
                  <a:tcPr marL="91440" marR="91440" marT="45720" marB="45720"/>
                </a:tc>
                <a:tc>
                  <a:txBody>
                    <a:bodyPr>
                      <a:normAutofit/>
                    </a:bodyPr>
                    <a:lstStyle/>
                    <a:p>
                      <a:r>
                        <a:rPr sz="675" b="0">
                          <a:solidFill>
                            <a:srgbClr val="08284F"/>
                          </a:solidFill>
                          <a:latin typeface="Helvetica Neue"/>
                          <a:ea typeface="Helvetica Neue"/>
                          <a:cs typeface="Helvetica Neue"/>
                        </a:rPr>
                        <a:t>API, PostgreSQL/pgvector and health dependencies</a:t>
                      </a:r>
                    </a:p>
                  </a:txBody>
                  <a:tcPr marL="91440" marR="91440" marT="45720" marB="45720"/>
                </a:tc>
                <a:tc>
                  <a:txBody>
                    <a:bodyPr>
                      <a:normAutofit/>
                    </a:bodyPr>
                    <a:lstStyle/>
                    <a:p>
                      <a:r>
                        <a:rPr sz="675" b="0">
                          <a:solidFill>
                            <a:srgbClr val="08284F"/>
                          </a:solidFill>
                          <a:latin typeface="Helvetica Neue"/>
                          <a:ea typeface="Helvetica Neue"/>
                          <a:cs typeface="Helvetica Neue"/>
                        </a:rPr>
                        <a:t>Reproduce the runtime</a:t>
                      </a:r>
                    </a:p>
                  </a:txBody>
                  <a:tcPr marL="91440" marR="91440" marT="45720" marB="45720"/>
                </a:tc>
                <a:tc>
                  <a:txBody>
                    <a:bodyPr>
                      <a:normAutofit/>
                    </a:bodyPr>
                    <a:lstStyle/>
                    <a:p>
                      <a:r>
                        <a:rPr sz="675" b="0">
                          <a:solidFill>
                            <a:srgbClr val="08284F"/>
                          </a:solidFill>
                          <a:latin typeface="Helvetica Neue"/>
                          <a:ea typeface="Helvetica Neue"/>
                          <a:cs typeface="Helvetica Neue"/>
                        </a:rPr>
                        <a:t>Environment consistency</a:t>
                      </a:r>
                    </a:p>
                  </a:txBody>
                  <a:tcPr marL="91440" marR="91440" marT="45720" marB="45720"/>
                </a:tc>
                <a:tc>
                  <a:txBody>
                    <a:bodyPr>
                      <a:normAutofit/>
                    </a:bodyPr>
                    <a:lstStyle/>
                    <a:p>
                      <a:r>
                        <a:rPr sz="675" b="0">
                          <a:solidFill>
                            <a:srgbClr val="08284F"/>
                          </a:solidFill>
                          <a:latin typeface="Helvetica Neue"/>
                          <a:ea typeface="Helvetica Neue"/>
                          <a:cs typeface="Helvetica Neue"/>
                        </a:rPr>
                        <a:t>Faster pilots and private deployment path</a:t>
                      </a:r>
                    </a:p>
                  </a:txBody>
                  <a:tcPr marL="91440" marR="91440" marT="45720" marB="45720"/>
                </a:tc>
                <a:tc>
                  <a:txBody>
                    <a:bodyPr>
                      <a:normAutofit/>
                    </a:bodyPr>
                    <a:lstStyle/>
                    <a:p>
                      <a:r>
                        <a:rPr sz="675" b="0">
                          <a:solidFill>
                            <a:srgbClr val="08284F"/>
                          </a:solidFill>
                          <a:latin typeface="Helvetica Neue"/>
                          <a:ea typeface="Helvetica Neue"/>
                          <a:cs typeface="Helvetica Neue"/>
                        </a:rPr>
                        <a:t>Local stack starts with one command</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REST APIs</a:t>
                      </a:r>
                    </a:p>
                  </a:txBody>
                  <a:tcPr marL="91440" marR="91440" marT="45720" marB="45720"/>
                </a:tc>
                <a:tc>
                  <a:txBody>
                    <a:bodyPr>
                      <a:normAutofit/>
                    </a:bodyPr>
                    <a:lstStyle/>
                    <a:p>
                      <a:r>
                        <a:rPr sz="675" b="0">
                          <a:solidFill>
                            <a:srgbClr val="08284F"/>
                          </a:solidFill>
                          <a:latin typeface="Helvetica Neue"/>
                          <a:ea typeface="Helvetica Neue"/>
                          <a:cs typeface="Helvetica Neue"/>
                        </a:rPr>
                        <a:t>Meters, readings, replay, cases, approvals and verification</a:t>
                      </a:r>
                    </a:p>
                  </a:txBody>
                  <a:tcPr marL="91440" marR="91440" marT="45720" marB="45720"/>
                </a:tc>
                <a:tc>
                  <a:txBody>
                    <a:bodyPr>
                      <a:normAutofit/>
                    </a:bodyPr>
                    <a:lstStyle/>
                    <a:p>
                      <a:r>
                        <a:rPr sz="675" b="0">
                          <a:solidFill>
                            <a:srgbClr val="08284F"/>
                          </a:solidFill>
                          <a:latin typeface="Helvetica Neue"/>
                          <a:ea typeface="Helvetica Neue"/>
                          <a:cs typeface="Helvetica Neue"/>
                        </a:rPr>
                        <a:t>Separate UI from domain services</a:t>
                      </a:r>
                    </a:p>
                  </a:txBody>
                  <a:tcPr marL="91440" marR="91440" marT="45720" marB="45720"/>
                </a:tc>
                <a:tc>
                  <a:txBody>
                    <a:bodyPr>
                      <a:normAutofit/>
                    </a:bodyPr>
                    <a:lstStyle/>
                    <a:p>
                      <a:r>
                        <a:rPr sz="675" b="0">
                          <a:solidFill>
                            <a:srgbClr val="08284F"/>
                          </a:solidFill>
                          <a:latin typeface="Helvetica Neue"/>
                          <a:ea typeface="Helvetica Neue"/>
                          <a:cs typeface="Helvetica Neue"/>
                        </a:rPr>
                        <a:t>Composable integration points</a:t>
                      </a:r>
                    </a:p>
                  </a:txBody>
                  <a:tcPr marL="91440" marR="91440" marT="45720" marB="45720"/>
                </a:tc>
                <a:tc>
                  <a:txBody>
                    <a:bodyPr>
                      <a:normAutofit/>
                    </a:bodyPr>
                    <a:lstStyle/>
                    <a:p>
                      <a:r>
                        <a:rPr sz="675" b="0">
                          <a:solidFill>
                            <a:srgbClr val="08284F"/>
                          </a:solidFill>
                          <a:latin typeface="Helvetica Neue"/>
                          <a:ea typeface="Helvetica Neue"/>
                          <a:cs typeface="Helvetica Neue"/>
                        </a:rPr>
                        <a:t>Connect utility systems incrementally</a:t>
                      </a:r>
                    </a:p>
                  </a:txBody>
                  <a:tcPr marL="91440" marR="91440" marT="45720" marB="45720"/>
                </a:tc>
                <a:tc>
                  <a:txBody>
                    <a:bodyPr>
                      <a:normAutofit/>
                    </a:bodyPr>
                    <a:lstStyle/>
                    <a:p>
                      <a:r>
                        <a:rPr sz="675" b="0">
                          <a:solidFill>
                            <a:srgbClr val="08284F"/>
                          </a:solidFill>
                          <a:latin typeface="Helvetica Neue"/>
                          <a:ea typeface="Helvetica Neue"/>
                          <a:cs typeface="Helvetica Neue"/>
                        </a:rPr>
                        <a:t>Browser network calls or API docs</a:t>
                      </a:r>
                    </a:p>
                  </a:txBody>
                  <a:tcPr marL="91440" marR="91440" marT="45720" marB="45720"/>
                </a:tc>
              </a:tr>
              <a:tr h="577453">
                <a:tc>
                  <a:txBody>
                    <a:bodyPr>
                      <a:normAutofit/>
                    </a:bodyPr>
                    <a:lstStyle/>
                    <a:p>
                      <a:r>
                        <a:rPr sz="675" b="1">
                          <a:solidFill>
                            <a:srgbClr val="08284F"/>
                          </a:solidFill>
                          <a:latin typeface="Helvetica Neue"/>
                          <a:ea typeface="Helvetica Neue"/>
                          <a:cs typeface="Helvetica Neue"/>
                        </a:rPr>
                        <a:t>Frontend and Plotly</a:t>
                      </a:r>
                    </a:p>
                  </a:txBody>
                  <a:tcPr marL="91440" marR="91440" marT="45720" marB="45720"/>
                </a:tc>
                <a:tc>
                  <a:txBody>
                    <a:bodyPr>
                      <a:normAutofit/>
                    </a:bodyPr>
                    <a:lstStyle/>
                    <a:p>
                      <a:r>
                        <a:rPr sz="675" b="0">
                          <a:solidFill>
                            <a:srgbClr val="08284F"/>
                          </a:solidFill>
                          <a:latin typeface="Helvetica Neue"/>
                          <a:ea typeface="Helvetica Neue"/>
                          <a:cs typeface="Helvetica Neue"/>
                        </a:rPr>
                        <a:t>Dependency-light operations dashboard and charts</a:t>
                      </a:r>
                    </a:p>
                  </a:txBody>
                  <a:tcPr marL="91440" marR="91440" marT="45720" marB="45720"/>
                </a:tc>
                <a:tc>
                  <a:txBody>
                    <a:bodyPr>
                      <a:normAutofit/>
                    </a:bodyPr>
                    <a:lstStyle/>
                    <a:p>
                      <a:r>
                        <a:rPr sz="675" b="0">
                          <a:solidFill>
                            <a:srgbClr val="08284F"/>
                          </a:solidFill>
                          <a:latin typeface="Helvetica Neue"/>
                          <a:ea typeface="Helvetica Neue"/>
                          <a:cs typeface="Helvetica Neue"/>
                        </a:rPr>
                        <a:t>Make evidence usable</a:t>
                      </a:r>
                    </a:p>
                  </a:txBody>
                  <a:tcPr marL="91440" marR="91440" marT="45720" marB="45720"/>
                </a:tc>
                <a:tc>
                  <a:txBody>
                    <a:bodyPr>
                      <a:normAutofit/>
                    </a:bodyPr>
                    <a:lstStyle/>
                    <a:p>
                      <a:r>
                        <a:rPr sz="675" b="0">
                          <a:solidFill>
                            <a:srgbClr val="08284F"/>
                          </a:solidFill>
                          <a:latin typeface="Helvetica Neue"/>
                          <a:ea typeface="Helvetica Neue"/>
                          <a:cs typeface="Helvetica Neue"/>
                        </a:rPr>
                        <a:t>Direct visualization of workflow state</a:t>
                      </a:r>
                    </a:p>
                  </a:txBody>
                  <a:tcPr marL="91440" marR="91440" marT="45720" marB="45720"/>
                </a:tc>
                <a:tc>
                  <a:txBody>
                    <a:bodyPr>
                      <a:normAutofit/>
                    </a:bodyPr>
                    <a:lstStyle/>
                    <a:p>
                      <a:r>
                        <a:rPr sz="675" b="0">
                          <a:solidFill>
                            <a:srgbClr val="08284F"/>
                          </a:solidFill>
                          <a:latin typeface="Helvetica Neue"/>
                          <a:ea typeface="Helvetica Neue"/>
                          <a:cs typeface="Helvetica Neue"/>
                        </a:rPr>
                        <a:t>Operators see scope, priority and history</a:t>
                      </a:r>
                    </a:p>
                  </a:txBody>
                  <a:tcPr marL="91440" marR="91440" marT="45720" marB="45720"/>
                </a:tc>
                <a:tc>
                  <a:txBody>
                    <a:bodyPr>
                      <a:normAutofit/>
                    </a:bodyPr>
                    <a:lstStyle/>
                    <a:p>
                      <a:r>
                        <a:rPr sz="675" b="0">
                          <a:solidFill>
                            <a:srgbClr val="08284F"/>
                          </a:solidFill>
                          <a:latin typeface="Helvetica Neue"/>
                          <a:ea typeface="Helvetica Neue"/>
                          <a:cs typeface="Helvetica Neue"/>
                        </a:rPr>
                        <a:t>Live Operations and case queue</a:t>
                      </a:r>
                    </a:p>
                  </a:txBody>
                  <a:tcPr marL="91440" marR="91440" marT="45720" marB="45720"/>
                </a:tc>
              </a:tr>
            </a:tbl>
          </a:graphicData>
        </a:graphic>
      </p:graphicFrame>
    </p:spTree>
    <p:extLst>
      <p:ext uri="{BB962C8B-B14F-4D97-AF65-F5344CB8AC3E}">
        <p14:creationId xmlns:p14="http://schemas.microsoft.com/office/powerpoint/2010/main" val="32985487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Skills and value matrix | Reliability and governance</a:t>
            </a:r>
            <a:endParaRP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Slide Number Placeholder 3">
            <a:extLst xmlns:a="http://schemas.openxmlformats.org/drawingml/2006/main">
              <a:ext uri="{FF2B5EF4-FFF2-40B4-BE49-F238E27FC236}">
                <a16:creationId xmlns:a16="http://schemas.microsoft.com/office/drawing/2014/main" id="{BF440A81-02FE-A94E-7F97-15248A945F3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18</a:t>
            </a:fld>
            <a:endParaRPr sz="1100"/>
          </a:p>
        </p:txBody>
      </p:sp>
      <p:sp>
        <p:nvSpPr>
          <p:cNvPr id="534" name="matrix-subtitle">
            <a:extLst xmlns:a="http://schemas.openxmlformats.org/drawingml/2006/main">
              <a:ext uri="{FF2B5EF4-FFF2-40B4-BE49-F238E27FC236}">
                <a16:creationId xmlns:a16="http://schemas.microsoft.com/office/drawing/2014/main" id="{ECDB138D-BF1B-4AD1-881B-EF54C178ED7B}"/>
              </a:ext>
            </a:extLst>
          </p:cNvPr>
          <p:cNvSpPr>
            <a:spLocks xmlns:a="http://schemas.openxmlformats.org/drawingml/2006/main" noGrp="1"/>
          </p:cNvSpPr>
          <p:nvPr/>
        </p:nvSpPr>
        <p:spPr>
          <a:xfrm xmlns:a="http://schemas.openxmlformats.org/drawingml/2006/main">
            <a:off x="400050" y="914400"/>
            <a:ext cx="1138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52677D"/>
                </a:solidFill>
                <a:latin typeface="Helvetica Neue"/>
                <a:ea typeface="Helvetica Neue"/>
                <a:cs typeface="Helvetica Neue"/>
              </a:defRPr>
            </a:pPr>
            <a:r>
              <a:rPr sz="1125" b="0">
                <a:solidFill>
                  <a:srgbClr val="52677D"/>
                </a:solidFill>
                <a:latin typeface="Helvetica Neue"/>
                <a:ea typeface="Helvetica Neue"/>
                <a:cs typeface="Helvetica Neue"/>
              </a:rPr>
              <a:t>Backup reference. Use during technical Q&amp;A rather than the timed presentation.</a:t>
            </a:r>
          </a:p>
        </p:txBody>
      </p:sp>
      <p:graphicFrame>
        <p:nvGraphicFramePr>
          <p:cNvPr id="540" name=""/>
          <p:cNvGraphicFramePr/>
          <p:nvPr/>
        </p:nvGraphicFramePr>
        <p:xfrm>
          <a:off xmlns:a="http://schemas.openxmlformats.org/drawingml/2006/main" x="400050" y="1409700"/>
          <a:ext xmlns:a="http://schemas.openxmlformats.org/drawingml/2006/main" cx="11391900" cy="4619625"/>
        </p:xfrm>
        <a:graphic xmlns:a="http://schemas.openxmlformats.org/drawingml/2006/main">
          <a:graphicData uri="http://schemas.openxmlformats.org/drawingml/2006/table">
            <a:tbl>
              <a:tblPr firstRow="1" firstCol="1" bandRow="1"/>
              <a:tblGrid>
                <a:gridCol w="1428750"/>
                <a:gridCol w="2143125"/>
                <a:gridCol w="1571625"/>
                <a:gridCol w="1952625"/>
                <a:gridCol w="2095500"/>
                <a:gridCol w="2200275"/>
              </a:tblGrid>
              <a:tr h="769938">
                <a:tc>
                  <a:txBody>
                    <a:bodyPr>
                      <a:normAutofit/>
                    </a:bodyPr>
                    <a:lstStyle/>
                    <a:p>
                      <a:r>
                        <a:rPr sz="750" b="1">
                          <a:solidFill>
                            <a:srgbClr val="FFFFFF"/>
                          </a:solidFill>
                          <a:latin typeface="Helvetica Neue"/>
                          <a:ea typeface="Helvetica Neue"/>
                          <a:cs typeface="Helvetica Neue"/>
                        </a:rPr>
                        <a:t>Skill or technology</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What we implemented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Why selected</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Technical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Customer value</a:t>
                      </a:r>
                    </a:p>
                  </a:txBody>
                  <a:tcPr marL="91440" marR="91440" marT="45720" marB="45720">
                    <a:solidFill>
                      <a:srgbClr val="08284F"/>
                    </a:solidFill>
                  </a:tcPr>
                </a:tc>
                <a:tc>
                  <a:txBody>
                    <a:bodyPr>
                      <a:normAutofit/>
                    </a:bodyPr>
                    <a:lstStyle/>
                    <a:p>
                      <a:r>
                        <a:rPr sz="750" b="1">
                          <a:solidFill>
                            <a:srgbClr val="FFFFFF"/>
                          </a:solidFill>
                          <a:latin typeface="Helvetica Neue"/>
                          <a:ea typeface="Helvetica Neue"/>
                          <a:cs typeface="Helvetica Neue"/>
                        </a:rPr>
                        <a:t>Demo evidence</a:t>
                      </a:r>
                    </a:p>
                  </a:txBody>
                  <a:tcPr marL="91440" marR="91440" marT="45720" marB="45720">
                    <a:solidFill>
                      <a:srgbClr val="08284F"/>
                    </a:solidFill>
                  </a:tcPr>
                </a:tc>
              </a:tr>
              <a:tr h="769938">
                <a:tc>
                  <a:txBody>
                    <a:bodyPr>
                      <a:normAutofit/>
                    </a:bodyPr>
                    <a:lstStyle/>
                    <a:p>
                      <a:r>
                        <a:rPr sz="675" b="1">
                          <a:solidFill>
                            <a:srgbClr val="08284F"/>
                          </a:solidFill>
                          <a:latin typeface="Helvetica Neue"/>
                          <a:ea typeface="Helvetica Neue"/>
                          <a:cs typeface="Helvetica Neue"/>
                        </a:rPr>
                        <a:t>Testing and code quality</a:t>
                      </a:r>
                    </a:p>
                  </a:txBody>
                  <a:tcPr marL="91440" marR="91440" marT="45720" marB="45720"/>
                </a:tc>
                <a:tc>
                  <a:txBody>
                    <a:bodyPr>
                      <a:normAutofit/>
                    </a:bodyPr>
                    <a:lstStyle/>
                    <a:p>
                      <a:r>
                        <a:rPr sz="675" b="0">
                          <a:solidFill>
                            <a:srgbClr val="08284F"/>
                          </a:solidFill>
                          <a:latin typeface="Helvetica Neue"/>
                          <a:ea typeface="Helvetica Neue"/>
                          <a:cs typeface="Helvetica Neue"/>
                        </a:rPr>
                        <a:t>pytest scenario, unit and integration coverage plus Ruff</a:t>
                      </a:r>
                    </a:p>
                  </a:txBody>
                  <a:tcPr marL="91440" marR="91440" marT="45720" marB="45720"/>
                </a:tc>
                <a:tc>
                  <a:txBody>
                    <a:bodyPr>
                      <a:normAutofit/>
                    </a:bodyPr>
                    <a:lstStyle/>
                    <a:p>
                      <a:r>
                        <a:rPr sz="675" b="0">
                          <a:solidFill>
                            <a:srgbClr val="08284F"/>
                          </a:solidFill>
                          <a:latin typeface="Helvetica Neue"/>
                          <a:ea typeface="Helvetica Neue"/>
                          <a:cs typeface="Helvetica Neue"/>
                        </a:rPr>
                        <a:t>Protect complex workflow behavior</a:t>
                      </a:r>
                    </a:p>
                  </a:txBody>
                  <a:tcPr marL="91440" marR="91440" marT="45720" marB="45720"/>
                </a:tc>
                <a:tc>
                  <a:txBody>
                    <a:bodyPr>
                      <a:normAutofit/>
                    </a:bodyPr>
                    <a:lstStyle/>
                    <a:p>
                      <a:r>
                        <a:rPr sz="675" b="0">
                          <a:solidFill>
                            <a:srgbClr val="08284F"/>
                          </a:solidFill>
                          <a:latin typeface="Helvetica Neue"/>
                          <a:ea typeface="Helvetica Neue"/>
                          <a:cs typeface="Helvetica Neue"/>
                        </a:rPr>
                        <a:t>Regression confidence</a:t>
                      </a:r>
                    </a:p>
                  </a:txBody>
                  <a:tcPr marL="91440" marR="91440" marT="45720" marB="45720"/>
                </a:tc>
                <a:tc>
                  <a:txBody>
                    <a:bodyPr>
                      <a:normAutofit/>
                    </a:bodyPr>
                    <a:lstStyle/>
                    <a:p>
                      <a:r>
                        <a:rPr sz="675" b="0">
                          <a:solidFill>
                            <a:srgbClr val="08284F"/>
                          </a:solidFill>
                          <a:latin typeface="Helvetica Neue"/>
                          <a:ea typeface="Helvetica Neue"/>
                          <a:cs typeface="Helvetica Neue"/>
                        </a:rPr>
                        <a:t>Safer iteration during a pilot</a:t>
                      </a:r>
                    </a:p>
                  </a:txBody>
                  <a:tcPr marL="91440" marR="91440" marT="45720" marB="45720"/>
                </a:tc>
                <a:tc>
                  <a:txBody>
                    <a:bodyPr>
                      <a:normAutofit/>
                    </a:bodyPr>
                    <a:lstStyle/>
                    <a:p>
                      <a:r>
                        <a:rPr sz="675" b="0">
                          <a:solidFill>
                            <a:srgbClr val="08284F"/>
                          </a:solidFill>
                          <a:latin typeface="Helvetica Neue"/>
                          <a:ea typeface="Helvetica Neue"/>
                          <a:cs typeface="Helvetica Neue"/>
                        </a:rPr>
                        <a:t>Repeatable scenario tests</a:t>
                      </a:r>
                    </a:p>
                  </a:txBody>
                  <a:tcPr marL="91440" marR="91440" marT="45720" marB="45720"/>
                </a:tc>
              </a:tr>
              <a:tr h="769938">
                <a:tc>
                  <a:txBody>
                    <a:bodyPr>
                      <a:normAutofit/>
                    </a:bodyPr>
                    <a:lstStyle/>
                    <a:p>
                      <a:r>
                        <a:rPr sz="675" b="1">
                          <a:solidFill>
                            <a:srgbClr val="08284F"/>
                          </a:solidFill>
                          <a:latin typeface="Helvetica Neue"/>
                          <a:ea typeface="Helvetica Neue"/>
                          <a:cs typeface="Helvetica Neue"/>
                        </a:rPr>
                        <a:t>Observability and audit</a:t>
                      </a:r>
                    </a:p>
                  </a:txBody>
                  <a:tcPr marL="91440" marR="91440" marT="45720" marB="45720"/>
                </a:tc>
                <a:tc>
                  <a:txBody>
                    <a:bodyPr>
                      <a:normAutofit/>
                    </a:bodyPr>
                    <a:lstStyle/>
                    <a:p>
                      <a:r>
                        <a:rPr sz="675" b="0">
                          <a:solidFill>
                            <a:srgbClr val="08284F"/>
                          </a:solidFill>
                          <a:latin typeface="Helvetica Neue"/>
                          <a:ea typeface="Helvetica Neue"/>
                          <a:cs typeface="Helvetica Neue"/>
                        </a:rPr>
                        <a:t>Request IDs, JSON logs, tool latency and persistent traces</a:t>
                      </a:r>
                    </a:p>
                  </a:txBody>
                  <a:tcPr marL="91440" marR="91440" marT="45720" marB="45720"/>
                </a:tc>
                <a:tc>
                  <a:txBody>
                    <a:bodyPr>
                      <a:normAutofit/>
                    </a:bodyPr>
                    <a:lstStyle/>
                    <a:p>
                      <a:r>
                        <a:rPr sz="675" b="0">
                          <a:solidFill>
                            <a:srgbClr val="08284F"/>
                          </a:solidFill>
                          <a:latin typeface="Helvetica Neue"/>
                          <a:ea typeface="Helvetica Neue"/>
                          <a:cs typeface="Helvetica Neue"/>
                        </a:rPr>
                        <a:t>Diagnose and govern decisions</a:t>
                      </a:r>
                    </a:p>
                  </a:txBody>
                  <a:tcPr marL="91440" marR="91440" marT="45720" marB="45720"/>
                </a:tc>
                <a:tc>
                  <a:txBody>
                    <a:bodyPr>
                      <a:normAutofit/>
                    </a:bodyPr>
                    <a:lstStyle/>
                    <a:p>
                      <a:r>
                        <a:rPr sz="675" b="0">
                          <a:solidFill>
                            <a:srgbClr val="08284F"/>
                          </a:solidFill>
                          <a:latin typeface="Helvetica Neue"/>
                          <a:ea typeface="Helvetica Neue"/>
                          <a:cs typeface="Helvetica Neue"/>
                        </a:rPr>
                        <a:t>End-to-end traceability</a:t>
                      </a:r>
                    </a:p>
                  </a:txBody>
                  <a:tcPr marL="91440" marR="91440" marT="45720" marB="45720"/>
                </a:tc>
                <a:tc>
                  <a:txBody>
                    <a:bodyPr>
                      <a:normAutofit/>
                    </a:bodyPr>
                    <a:lstStyle/>
                    <a:p>
                      <a:r>
                        <a:rPr sz="675" b="0">
                          <a:solidFill>
                            <a:srgbClr val="08284F"/>
                          </a:solidFill>
                          <a:latin typeface="Helvetica Neue"/>
                          <a:ea typeface="Helvetica Neue"/>
                          <a:cs typeface="Helvetica Neue"/>
                        </a:rPr>
                        <a:t>Accountability and faster support</a:t>
                      </a:r>
                    </a:p>
                  </a:txBody>
                  <a:tcPr marL="91440" marR="91440" marT="45720" marB="45720"/>
                </a:tc>
                <a:tc>
                  <a:txBody>
                    <a:bodyPr>
                      <a:normAutofit/>
                    </a:bodyPr>
                    <a:lstStyle/>
                    <a:p>
                      <a:r>
                        <a:rPr sz="675" b="0">
                          <a:solidFill>
                            <a:srgbClr val="08284F"/>
                          </a:solidFill>
                          <a:latin typeface="Helvetica Neue"/>
                          <a:ea typeface="Helvetica Neue"/>
                          <a:cs typeface="Helvetica Neue"/>
                        </a:rPr>
                        <a:t>Case trace and event history</a:t>
                      </a:r>
                    </a:p>
                  </a:txBody>
                  <a:tcPr marL="91440" marR="91440" marT="45720" marB="45720"/>
                </a:tc>
              </a:tr>
              <a:tr h="769938">
                <a:tc>
                  <a:txBody>
                    <a:bodyPr>
                      <a:normAutofit/>
                    </a:bodyPr>
                    <a:lstStyle/>
                    <a:p>
                      <a:r>
                        <a:rPr sz="675" b="1">
                          <a:solidFill>
                            <a:srgbClr val="08284F"/>
                          </a:solidFill>
                          <a:latin typeface="Helvetica Neue"/>
                          <a:ea typeface="Helvetica Neue"/>
                          <a:cs typeface="Helvetica Neue"/>
                        </a:rPr>
                        <a:t>External API integration</a:t>
                      </a:r>
                    </a:p>
                  </a:txBody>
                  <a:tcPr marL="91440" marR="91440" marT="45720" marB="45720"/>
                </a:tc>
                <a:tc>
                  <a:txBody>
                    <a:bodyPr>
                      <a:normAutofit/>
                    </a:bodyPr>
                    <a:lstStyle/>
                    <a:p>
                      <a:r>
                        <a:rPr sz="675" b="0">
                          <a:solidFill>
                            <a:srgbClr val="08284F"/>
                          </a:solidFill>
                          <a:latin typeface="Helvetica Neue"/>
                          <a:ea typeface="Helvetica Neue"/>
                          <a:cs typeface="Helvetica Neue"/>
                        </a:rPr>
                        <a:t>Open-Meteo timeout, one retry and TTL cache</a:t>
                      </a:r>
                    </a:p>
                  </a:txBody>
                  <a:tcPr marL="91440" marR="91440" marT="45720" marB="45720"/>
                </a:tc>
                <a:tc>
                  <a:txBody>
                    <a:bodyPr>
                      <a:normAutofit/>
                    </a:bodyPr>
                    <a:lstStyle/>
                    <a:p>
                      <a:r>
                        <a:rPr sz="675" b="0">
                          <a:solidFill>
                            <a:srgbClr val="08284F"/>
                          </a:solidFill>
                          <a:latin typeface="Helvetica Neue"/>
                          <a:ea typeface="Helvetica Neue"/>
                          <a:cs typeface="Helvetica Neue"/>
                        </a:rPr>
                        <a:t>Add weather context safely</a:t>
                      </a:r>
                    </a:p>
                  </a:txBody>
                  <a:tcPr marL="91440" marR="91440" marT="45720" marB="45720"/>
                </a:tc>
                <a:tc>
                  <a:txBody>
                    <a:bodyPr>
                      <a:normAutofit/>
                    </a:bodyPr>
                    <a:lstStyle/>
                    <a:p>
                      <a:r>
                        <a:rPr sz="675" b="0">
                          <a:solidFill>
                            <a:srgbClr val="08284F"/>
                          </a:solidFill>
                          <a:latin typeface="Helvetica Neue"/>
                          <a:ea typeface="Helvetica Neue"/>
                          <a:cs typeface="Helvetica Neue"/>
                        </a:rPr>
                        <a:t>Bounded failure behavior</a:t>
                      </a:r>
                    </a:p>
                  </a:txBody>
                  <a:tcPr marL="91440" marR="91440" marT="45720" marB="45720"/>
                </a:tc>
                <a:tc>
                  <a:txBody>
                    <a:bodyPr>
                      <a:normAutofit/>
                    </a:bodyPr>
                    <a:lstStyle/>
                    <a:p>
                      <a:r>
                        <a:rPr sz="675" b="0">
                          <a:solidFill>
                            <a:srgbClr val="08284F"/>
                          </a:solidFill>
                          <a:latin typeface="Helvetica Neue"/>
                          <a:ea typeface="Helvetica Neue"/>
                          <a:cs typeface="Helvetica Neue"/>
                        </a:rPr>
                        <a:t>Context without blocking the investigation</a:t>
                      </a:r>
                    </a:p>
                  </a:txBody>
                  <a:tcPr marL="91440" marR="91440" marT="45720" marB="45720"/>
                </a:tc>
                <a:tc>
                  <a:txBody>
                    <a:bodyPr>
                      <a:normAutofit/>
                    </a:bodyPr>
                    <a:lstStyle/>
                    <a:p>
                      <a:r>
                        <a:rPr sz="675" b="0">
                          <a:solidFill>
                            <a:srgbClr val="08284F"/>
                          </a:solidFill>
                          <a:latin typeface="Helvetica Neue"/>
                          <a:ea typeface="Helvetica Neue"/>
                          <a:cs typeface="Helvetica Neue"/>
                        </a:rPr>
                        <a:t>Weather evidence or controlled Unknown</a:t>
                      </a:r>
                    </a:p>
                  </a:txBody>
                  <a:tcPr marL="91440" marR="91440" marT="45720" marB="45720"/>
                </a:tc>
              </a:tr>
              <a:tr h="769938">
                <a:tc>
                  <a:txBody>
                    <a:bodyPr>
                      <a:normAutofit/>
                    </a:bodyPr>
                    <a:lstStyle/>
                    <a:p>
                      <a:r>
                        <a:rPr sz="675" b="1">
                          <a:solidFill>
                            <a:srgbClr val="08284F"/>
                          </a:solidFill>
                          <a:latin typeface="Helvetica Neue"/>
                          <a:ea typeface="Helvetica Neue"/>
                          <a:cs typeface="Helvetica Neue"/>
                        </a:rPr>
                        <a:t>Human in the loop</a:t>
                      </a:r>
                    </a:p>
                  </a:txBody>
                  <a:tcPr marL="91440" marR="91440" marT="45720" marB="45720"/>
                </a:tc>
                <a:tc>
                  <a:txBody>
                    <a:bodyPr>
                      <a:normAutofit/>
                    </a:bodyPr>
                    <a:lstStyle/>
                    <a:p>
                      <a:r>
                        <a:rPr sz="675" b="0">
                          <a:solidFill>
                            <a:srgbClr val="08284F"/>
                          </a:solidFill>
                          <a:latin typeface="Helvetica Neue"/>
                          <a:ea typeface="Helvetica Neue"/>
                          <a:cs typeface="Helvetica Neue"/>
                        </a:rPr>
                        <a:t>Approval gates and recorded decisions</a:t>
                      </a:r>
                    </a:p>
                  </a:txBody>
                  <a:tcPr marL="91440" marR="91440" marT="45720" marB="45720"/>
                </a:tc>
                <a:tc>
                  <a:txBody>
                    <a:bodyPr>
                      <a:normAutofit/>
                    </a:bodyPr>
                    <a:lstStyle/>
                    <a:p>
                      <a:r>
                        <a:rPr sz="675" b="0">
                          <a:solidFill>
                            <a:srgbClr val="08284F"/>
                          </a:solidFill>
                          <a:latin typeface="Helvetica Neue"/>
                          <a:ea typeface="Helvetica Neue"/>
                          <a:cs typeface="Helvetica Neue"/>
                        </a:rPr>
                        <a:t>Keep authority with operators</a:t>
                      </a:r>
                    </a:p>
                  </a:txBody>
                  <a:tcPr marL="91440" marR="91440" marT="45720" marB="45720"/>
                </a:tc>
                <a:tc>
                  <a:txBody>
                    <a:bodyPr>
                      <a:normAutofit/>
                    </a:bodyPr>
                    <a:lstStyle/>
                    <a:p>
                      <a:r>
                        <a:rPr sz="675" b="0">
                          <a:solidFill>
                            <a:srgbClr val="08284F"/>
                          </a:solidFill>
                          <a:latin typeface="Helvetica Neue"/>
                          <a:ea typeface="Helvetica Neue"/>
                          <a:cs typeface="Helvetica Neue"/>
                        </a:rPr>
                        <a:t>Prevents automatic high-impact action</a:t>
                      </a:r>
                    </a:p>
                  </a:txBody>
                  <a:tcPr marL="91440" marR="91440" marT="45720" marB="45720"/>
                </a:tc>
                <a:tc>
                  <a:txBody>
                    <a:bodyPr>
                      <a:normAutofit/>
                    </a:bodyPr>
                    <a:lstStyle/>
                    <a:p>
                      <a:r>
                        <a:rPr sz="675" b="0">
                          <a:solidFill>
                            <a:srgbClr val="08284F"/>
                          </a:solidFill>
                          <a:latin typeface="Helvetica Neue"/>
                          <a:ea typeface="Helvetica Neue"/>
                          <a:cs typeface="Helvetica Neue"/>
                        </a:rPr>
                        <a:t>Safer AI adoption</a:t>
                      </a:r>
                    </a:p>
                  </a:txBody>
                  <a:tcPr marL="91440" marR="91440" marT="45720" marB="45720"/>
                </a:tc>
                <a:tc>
                  <a:txBody>
                    <a:bodyPr>
                      <a:normAutofit/>
                    </a:bodyPr>
                    <a:lstStyle/>
                    <a:p>
                      <a:r>
                        <a:rPr sz="675" b="0">
                          <a:solidFill>
                            <a:srgbClr val="08284F"/>
                          </a:solidFill>
                          <a:latin typeface="Helvetica Neue"/>
                          <a:ea typeface="Helvetica Neue"/>
                          <a:cs typeface="Helvetica Neue"/>
                        </a:rPr>
                        <a:t>Approve or reject control</a:t>
                      </a:r>
                    </a:p>
                  </a:txBody>
                  <a:tcPr marL="91440" marR="91440" marT="45720" marB="45720"/>
                </a:tc>
              </a:tr>
              <a:tr h="769938">
                <a:tc>
                  <a:txBody>
                    <a:bodyPr>
                      <a:normAutofit/>
                    </a:bodyPr>
                    <a:lstStyle/>
                    <a:p>
                      <a:r>
                        <a:rPr sz="675" b="1">
                          <a:solidFill>
                            <a:srgbClr val="08284F"/>
                          </a:solidFill>
                          <a:latin typeface="Helvetica Neue"/>
                          <a:ea typeface="Helvetica Neue"/>
                          <a:cs typeface="Helvetica Neue"/>
                        </a:rPr>
                        <a:t>Post-action verification</a:t>
                      </a:r>
                    </a:p>
                  </a:txBody>
                  <a:tcPr marL="91440" marR="91440" marT="45720" marB="45720"/>
                </a:tc>
                <a:tc>
                  <a:txBody>
                    <a:bodyPr>
                      <a:normAutofit/>
                    </a:bodyPr>
                    <a:lstStyle/>
                    <a:p>
                      <a:r>
                        <a:rPr sz="675" b="0">
                          <a:solidFill>
                            <a:srgbClr val="08284F"/>
                          </a:solidFill>
                          <a:latin typeface="Helvetica Neue"/>
                          <a:ea typeface="Helvetica Neue"/>
                          <a:cs typeface="Helvetica Neue"/>
                        </a:rPr>
                        <a:t>Baseline and peer recovery policy</a:t>
                      </a:r>
                    </a:p>
                  </a:txBody>
                  <a:tcPr marL="91440" marR="91440" marT="45720" marB="45720"/>
                </a:tc>
                <a:tc>
                  <a:txBody>
                    <a:bodyPr>
                      <a:normAutofit/>
                    </a:bodyPr>
                    <a:lstStyle/>
                    <a:p>
                      <a:r>
                        <a:rPr sz="675" b="0">
                          <a:solidFill>
                            <a:srgbClr val="08284F"/>
                          </a:solidFill>
                          <a:latin typeface="Helvetica Neue"/>
                          <a:ea typeface="Helvetica Neue"/>
                          <a:cs typeface="Helvetica Neue"/>
                        </a:rPr>
                        <a:t>Measure outcomes after action</a:t>
                      </a:r>
                    </a:p>
                  </a:txBody>
                  <a:tcPr marL="91440" marR="91440" marT="45720" marB="45720"/>
                </a:tc>
                <a:tc>
                  <a:txBody>
                    <a:bodyPr>
                      <a:normAutofit/>
                    </a:bodyPr>
                    <a:lstStyle/>
                    <a:p>
                      <a:r>
                        <a:rPr sz="675" b="0">
                          <a:solidFill>
                            <a:srgbClr val="08284F"/>
                          </a:solidFill>
                          <a:latin typeface="Helvetica Neue"/>
                          <a:ea typeface="Helvetica Neue"/>
                          <a:cs typeface="Helvetica Neue"/>
                        </a:rPr>
                        <a:t>Explicit recovery states</a:t>
                      </a:r>
                    </a:p>
                  </a:txBody>
                  <a:tcPr marL="91440" marR="91440" marT="45720" marB="45720"/>
                </a:tc>
                <a:tc>
                  <a:txBody>
                    <a:bodyPr>
                      <a:normAutofit/>
                    </a:bodyPr>
                    <a:lstStyle/>
                    <a:p>
                      <a:r>
                        <a:rPr sz="675" b="0">
                          <a:solidFill>
                            <a:srgbClr val="08284F"/>
                          </a:solidFill>
                          <a:latin typeface="Helvetica Neue"/>
                          <a:ea typeface="Helvetica Neue"/>
                          <a:cs typeface="Helvetica Neue"/>
                        </a:rPr>
                        <a:t>Prevents premature closure</a:t>
                      </a:r>
                    </a:p>
                  </a:txBody>
                  <a:tcPr marL="91440" marR="91440" marT="45720" marB="45720"/>
                </a:tc>
                <a:tc>
                  <a:txBody>
                    <a:bodyPr>
                      <a:normAutofit/>
                    </a:bodyPr>
                    <a:lstStyle/>
                    <a:p>
                      <a:r>
                        <a:rPr sz="675" b="0">
                          <a:solidFill>
                            <a:srgbClr val="08284F"/>
                          </a:solidFill>
                          <a:latin typeface="Helvetica Neue"/>
                          <a:ea typeface="Helvetica Neue"/>
                          <a:cs typeface="Helvetica Neue"/>
                        </a:rPr>
                        <a:t>Recovered, persistent, ambiguous or insufficient</a:t>
                      </a:r>
                    </a:p>
                  </a:txBody>
                  <a:tcPr marL="91440" marR="91440" marT="45720" marB="45720"/>
                </a:tc>
              </a:tr>
            </a:tbl>
          </a:graphicData>
        </a:graphic>
      </p:graphicFrame>
    </p:spTree>
    <p:extLst>
      <p:ext uri="{BB962C8B-B14F-4D97-AF65-F5344CB8AC3E}">
        <p14:creationId xmlns:p14="http://schemas.microsoft.com/office/powerpoint/2010/main" val="32985487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4D765FCF-56FA-8EE2-65DF-D8A5321F3C29}"/>
              </a:ext>
            </a:extLst>
          </p:cNvPr>
          <p:cNvSpPr>
            <a:spLocks xmlns:a="http://schemas.openxmlformats.org/drawingml/2006/main" noGrp="1"/>
          </p:cNvSpPr>
          <p:nvPr>
            <p:ph idx="1"/>
          </p:nvPr>
        </p:nvSpPr>
        <p:spPr>
          <a:xfrm xmlns:a="http://schemas.openxmlformats.org/drawingml/2006/main">
            <a:off x="3937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Isolation Forest</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An unsupervised model that isolates unusual observations faster than common ones.</a:t>
            </a:r>
          </a:p>
        </p:txBody>
      </p:sp>
      <p:sp>
        <p:nvSpPr>
          <p:cNvPr id="559" name="Google Shape;559;p61">
            <a:extLst xmlns:a="http://schemas.openxmlformats.org/drawingml/2006/main">
              <a:ext uri="{FF2B5EF4-FFF2-40B4-BE49-F238E27FC236}">
                <a16:creationId xmlns:a16="http://schemas.microsoft.com/office/drawing/2014/main" id="{BFA1AD57-2515-3263-71AA-F5510D72450E}"/>
              </a:ext>
            </a:extLst>
          </p:cNvPr>
          <p:cNvSpPr>
            <a:spLocks xmlns:a="http://schemas.openxmlformats.org/drawingml/2006/main" noGrp="1"/>
          </p:cNvSpPr>
          <p:nvPr>
            <p:ph idx="10"/>
          </p:nvPr>
        </p:nvSpPr>
        <p:spPr>
          <a:xfrm xmlns:a="http://schemas.openxmlformats.org/drawingml/2006/main">
            <a:off x="43180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Unsupervised learning</a:t>
            </a:r>
            <a:endParaRPr sz="1600">
              <a:solidFill>
                <a:prstClr val="black"/>
              </a:solidFill>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Finds patterns without requiring a labeled answer for every historical example.</a:t>
            </a:r>
            <a:endParaRPr sz="1600">
              <a:solidFill>
                <a:prstClr val="black"/>
              </a:solidFill>
              <a:latin typeface="Helvetica Neue"/>
              <a:ea typeface="Helvetica Neue"/>
              <a:cs typeface="Helvetica Neue"/>
            </a:endParaRPr>
          </a:p>
        </p:txBody>
      </p:sp>
      <p:sp>
        <p:nvSpPr>
          <p:cNvPr id="560" name="Google Shape;560;p61">
            <a:extLst xmlns:a="http://schemas.openxmlformats.org/drawingml/2006/main">
              <a:ext uri="{FF2B5EF4-FFF2-40B4-BE49-F238E27FC236}">
                <a16:creationId xmlns:a16="http://schemas.microsoft.com/office/drawing/2014/main" id="{F4CF59D7-297B-30C8-431E-585575A55EC7}"/>
              </a:ext>
            </a:extLst>
          </p:cNvPr>
          <p:cNvSpPr>
            <a:spLocks xmlns:a="http://schemas.openxmlformats.org/drawingml/2006/main" noGrp="1"/>
          </p:cNvSpPr>
          <p:nvPr>
            <p:ph idx="11"/>
          </p:nvPr>
        </p:nvSpPr>
        <p:spPr>
          <a:xfrm xmlns:a="http://schemas.openxmlformats.org/drawingml/2006/main">
            <a:off x="8232273"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Deterministic analytics</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The same validated inputs and method version produce the same numerical result.</a:t>
            </a:r>
          </a:p>
        </p:txBody>
      </p:sp>
      <p:sp>
        <p:nvSpPr>
          <p:cNvPr id="557" name="Google Shape;557;p61">
            <a:extLst xmlns:a="http://schemas.openxmlformats.org/drawingml/2006/main">
              <a:ext uri="{FF2B5EF4-FFF2-40B4-BE49-F238E27FC236}">
                <a16:creationId xmlns:a16="http://schemas.microsoft.com/office/drawing/2014/main" id="{252743B9-4592-4663-CAD2-40CC23D409B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Plain-language glossary | AI and analytics</a:t>
            </a:r>
            <a:endParaRPr/>
          </a:p>
        </p:txBody>
      </p:sp>
      <p:sp>
        <p:nvSpPr>
          <p:cNvPr id="2" name="Google Shape;558;p61">
            <a:extLst xmlns:a="http://schemas.openxmlformats.org/drawingml/2006/main">
              <a:ext uri="{FF2B5EF4-FFF2-40B4-BE49-F238E27FC236}">
                <a16:creationId xmlns:a16="http://schemas.microsoft.com/office/drawing/2014/main" id="{0018B0C7-DC20-D7FE-2D99-C8372B90AC3A}"/>
              </a:ext>
            </a:extLst>
          </p:cNvPr>
          <p:cNvSpPr>
            <a:spLocks xmlns:a="http://schemas.openxmlformats.org/drawingml/2006/main" noGrp="1"/>
          </p:cNvSpPr>
          <p:nvPr/>
        </p:nvSpPr>
        <p:spPr>
          <a:xfrm xmlns:a="http://schemas.openxmlformats.org/drawingml/2006/main">
            <a:off x="3937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RAG</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The system looks up relevant approved material and carries the citation into its answer.</a:t>
            </a:r>
          </a:p>
        </p:txBody>
      </p:sp>
      <p:sp>
        <p:nvSpPr>
          <p:cNvPr id="3" name="Google Shape;559;p61">
            <a:extLst xmlns:a="http://schemas.openxmlformats.org/drawingml/2006/main">
              <a:ext uri="{FF2B5EF4-FFF2-40B4-BE49-F238E27FC236}">
                <a16:creationId xmlns:a16="http://schemas.microsoft.com/office/drawing/2014/main" id="{142AC269-69D2-161D-AD16-2E5D7B8A96F1}"/>
              </a:ext>
            </a:extLst>
          </p:cNvPr>
          <p:cNvSpPr>
            <a:spLocks xmlns:a="http://schemas.openxmlformats.org/drawingml/2006/main" noGrp="1"/>
          </p:cNvSpPr>
          <p:nvPr/>
        </p:nvSpPr>
        <p:spPr>
          <a:xfrm xmlns:a="http://schemas.openxmlformats.org/drawingml/2006/main">
            <a:off x="43180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Embeddings</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Numbers that represent text features so related passages can be compared.</a:t>
            </a:r>
          </a:p>
        </p:txBody>
      </p:sp>
      <p:sp>
        <p:nvSpPr>
          <p:cNvPr id="4" name="Google Shape;560;p61">
            <a:extLst xmlns:a="http://schemas.openxmlformats.org/drawingml/2006/main">
              <a:ext uri="{FF2B5EF4-FFF2-40B4-BE49-F238E27FC236}">
                <a16:creationId xmlns:a16="http://schemas.microsoft.com/office/drawing/2014/main" id="{7E988850-5A60-A9C4-B928-BDFEC4FE498E}"/>
              </a:ext>
            </a:extLst>
          </p:cNvPr>
          <p:cNvSpPr>
            <a:spLocks xmlns:a="http://schemas.openxmlformats.org/drawingml/2006/main" noGrp="1"/>
          </p:cNvSpPr>
          <p:nvPr/>
        </p:nvSpPr>
        <p:spPr>
          <a:xfrm xmlns:a="http://schemas.openxmlformats.org/drawingml/2006/main">
            <a:off x="8232273"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Vector search</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Ranks stored passages by mathematical similarity to the investigation question.</a:t>
            </a:r>
          </a:p>
        </p:txBody>
      </p:sp>
      <p:sp>
        <p:nvSpPr>
          <p:cNvPr id="5" name="Google Shape;561;p61">
            <a:extLst xmlns:a="http://schemas.openxmlformats.org/drawingml/2006/main">
              <a:ext uri="{FF2B5EF4-FFF2-40B4-BE49-F238E27FC236}">
                <a16:creationId xmlns:a16="http://schemas.microsoft.com/office/drawing/2014/main" id="{43830694-5B70-1E3A-562E-A57DE1DE0273}"/>
              </a:ext>
            </a:extLst>
          </p:cNvPr>
          <p:cNvSpPr>
            <a:spLocks xmlns:a="http://schemas.openxmlformats.org/drawingml/2006/main" noGrp="1"/>
          </p:cNvSpPr>
          <p:nvPr/>
        </p:nvSpPr>
        <p:spPr>
          <a:xfrm xmlns:a="http://schemas.openxmlformats.org/drawingml/2006/main">
            <a:off x="4279904" y="2022554"/>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6" name="Google Shape;562;p61">
            <a:extLst xmlns:a="http://schemas.openxmlformats.org/drawingml/2006/main">
              <a:ext uri="{FF2B5EF4-FFF2-40B4-BE49-F238E27FC236}">
                <a16:creationId xmlns:a16="http://schemas.microsoft.com/office/drawing/2014/main" id="{7C8ADA23-5610-C31E-B048-A0886EDC2B08}"/>
              </a:ext>
            </a:extLst>
          </p:cNvPr>
          <p:cNvSpPr>
            <a:spLocks xmlns:a="http://schemas.openxmlformats.org/drawingml/2006/main" noGrp="1"/>
          </p:cNvSpPr>
          <p:nvPr/>
        </p:nvSpPr>
        <p:spPr>
          <a:xfrm xmlns:a="http://schemas.openxmlformats.org/drawingml/2006/main">
            <a:off x="401398" y="2018463"/>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1" name="Google Shape;1369;p101">
            <a:extLst xmlns:a="http://schemas.openxmlformats.org/drawingml/2006/main">
              <a:ext uri="{FF2B5EF4-FFF2-40B4-BE49-F238E27FC236}">
                <a16:creationId xmlns:a16="http://schemas.microsoft.com/office/drawing/2014/main" id="{41FBCA7C-C2E7-AFB5-3B6C-4D9C9E154570}"/>
              </a:ext>
            </a:extLst>
          </p:cNvPr>
          <p:cNvSpPr>
            <a:spLocks xmlns:a="http://schemas.openxmlformats.org/drawingml/2006/main" noGrp="1"/>
          </p:cNvSpPr>
          <p:nvPr/>
        </p:nvSpPr>
        <p:spPr>
          <a:xfrm xmlns:a="http://schemas.openxmlformats.org/drawingml/2006/main">
            <a:off x="8229600" y="2030146"/>
            <a:ext cx="338580" cy="338688"/>
          </a:xfrm>
          <a:custGeom xmlns:a="http://schemas.openxmlformats.org/drawingml/2006/main">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784" y="2163"/>
                </a:moveTo>
                <a:cubicBezTo>
                  <a:pt x="10772" y="2167"/>
                  <a:pt x="10749" y="2175"/>
                  <a:pt x="10715" y="2196"/>
                </a:cubicBezTo>
                <a:cubicBezTo>
                  <a:pt x="10574" y="2281"/>
                  <a:pt x="10340" y="2510"/>
                  <a:pt x="10071" y="2999"/>
                </a:cubicBezTo>
                <a:cubicBezTo>
                  <a:pt x="9811" y="3472"/>
                  <a:pt x="9560" y="4109"/>
                  <a:pt x="9344" y="4895"/>
                </a:cubicBezTo>
                <a:cubicBezTo>
                  <a:pt x="8980" y="6213"/>
                  <a:pt x="8731" y="7875"/>
                  <a:pt x="8661" y="9720"/>
                </a:cubicBezTo>
                <a:lnTo>
                  <a:pt x="12939" y="9720"/>
                </a:lnTo>
                <a:cubicBezTo>
                  <a:pt x="12869" y="7875"/>
                  <a:pt x="12620" y="6213"/>
                  <a:pt x="12256" y="4895"/>
                </a:cubicBezTo>
                <a:cubicBezTo>
                  <a:pt x="12040" y="4109"/>
                  <a:pt x="11789" y="3472"/>
                  <a:pt x="11529" y="2999"/>
                </a:cubicBezTo>
                <a:cubicBezTo>
                  <a:pt x="11260" y="2510"/>
                  <a:pt x="11026" y="2281"/>
                  <a:pt x="10885" y="2196"/>
                </a:cubicBezTo>
                <a:cubicBezTo>
                  <a:pt x="10851" y="2175"/>
                  <a:pt x="10828" y="2167"/>
                  <a:pt x="10816" y="2163"/>
                </a:cubicBezTo>
                <a:cubicBezTo>
                  <a:pt x="10807" y="2161"/>
                  <a:pt x="10801" y="2160"/>
                  <a:pt x="10800" y="2160"/>
                </a:cubicBezTo>
                <a:cubicBezTo>
                  <a:pt x="10798" y="2160"/>
                  <a:pt x="10793" y="2161"/>
                  <a:pt x="10784" y="2163"/>
                </a:cubicBezTo>
                <a:close/>
                <a:moveTo>
                  <a:pt x="6499" y="9720"/>
                </a:moveTo>
                <a:cubicBezTo>
                  <a:pt x="6571" y="7704"/>
                  <a:pt x="6841" y="5845"/>
                  <a:pt x="7261" y="4321"/>
                </a:cubicBezTo>
                <a:cubicBezTo>
                  <a:pt x="7424" y="3732"/>
                  <a:pt x="7611" y="3182"/>
                  <a:pt x="7825" y="2686"/>
                </a:cubicBezTo>
                <a:cubicBezTo>
                  <a:pt x="4843" y="3779"/>
                  <a:pt x="2632" y="6469"/>
                  <a:pt x="2227" y="9720"/>
                </a:cubicBezTo>
                <a:lnTo>
                  <a:pt x="6499" y="9720"/>
                </a:lnTo>
                <a:close/>
                <a:moveTo>
                  <a:pt x="2227" y="11880"/>
                </a:moveTo>
                <a:lnTo>
                  <a:pt x="6499" y="11880"/>
                </a:lnTo>
                <a:cubicBezTo>
                  <a:pt x="6582" y="14228"/>
                  <a:pt x="6936" y="16368"/>
                  <a:pt x="7484" y="18014"/>
                </a:cubicBezTo>
                <a:cubicBezTo>
                  <a:pt x="7589" y="18327"/>
                  <a:pt x="7702" y="18628"/>
                  <a:pt x="7825" y="18914"/>
                </a:cubicBezTo>
                <a:cubicBezTo>
                  <a:pt x="4843" y="17821"/>
                  <a:pt x="2632" y="15131"/>
                  <a:pt x="2227" y="11880"/>
                </a:cubicBezTo>
                <a:close/>
                <a:moveTo>
                  <a:pt x="8661" y="11880"/>
                </a:moveTo>
                <a:cubicBezTo>
                  <a:pt x="8743" y="14037"/>
                  <a:pt x="9069" y="15938"/>
                  <a:pt x="9534" y="17332"/>
                </a:cubicBezTo>
                <a:cubicBezTo>
                  <a:pt x="9806" y="18148"/>
                  <a:pt x="10106" y="18732"/>
                  <a:pt x="10387" y="19088"/>
                </a:cubicBezTo>
                <a:cubicBezTo>
                  <a:pt x="10525" y="19263"/>
                  <a:pt x="10637" y="19356"/>
                  <a:pt x="10712" y="19402"/>
                </a:cubicBezTo>
                <a:cubicBezTo>
                  <a:pt x="10748" y="19424"/>
                  <a:pt x="10771" y="19434"/>
                  <a:pt x="10783" y="19437"/>
                </a:cubicBezTo>
                <a:cubicBezTo>
                  <a:pt x="10794" y="19440"/>
                  <a:pt x="10800" y="19440"/>
                  <a:pt x="10800" y="19440"/>
                </a:cubicBezTo>
                <a:cubicBezTo>
                  <a:pt x="10800" y="19440"/>
                  <a:pt x="10805" y="19440"/>
                  <a:pt x="10817" y="19437"/>
                </a:cubicBezTo>
                <a:cubicBezTo>
                  <a:pt x="10829" y="19434"/>
                  <a:pt x="10852" y="19424"/>
                  <a:pt x="10888" y="19402"/>
                </a:cubicBezTo>
                <a:cubicBezTo>
                  <a:pt x="10963" y="19356"/>
                  <a:pt x="11075" y="19263"/>
                  <a:pt x="11213" y="19088"/>
                </a:cubicBezTo>
                <a:cubicBezTo>
                  <a:pt x="11494" y="18732"/>
                  <a:pt x="11794" y="18148"/>
                  <a:pt x="12066" y="17332"/>
                </a:cubicBezTo>
                <a:cubicBezTo>
                  <a:pt x="12531" y="15938"/>
                  <a:pt x="12857" y="14037"/>
                  <a:pt x="12939" y="11880"/>
                </a:cubicBezTo>
                <a:lnTo>
                  <a:pt x="8661" y="11880"/>
                </a:lnTo>
                <a:close/>
                <a:moveTo>
                  <a:pt x="15101" y="11880"/>
                </a:moveTo>
                <a:cubicBezTo>
                  <a:pt x="15018" y="14228"/>
                  <a:pt x="14664" y="16368"/>
                  <a:pt x="14116" y="18014"/>
                </a:cubicBezTo>
                <a:cubicBezTo>
                  <a:pt x="14011" y="18327"/>
                  <a:pt x="13898" y="18628"/>
                  <a:pt x="13775" y="18914"/>
                </a:cubicBezTo>
                <a:cubicBezTo>
                  <a:pt x="16757" y="17821"/>
                  <a:pt x="18968" y="15131"/>
                  <a:pt x="19373" y="11880"/>
                </a:cubicBezTo>
                <a:lnTo>
                  <a:pt x="15101" y="11880"/>
                </a:lnTo>
                <a:close/>
                <a:moveTo>
                  <a:pt x="19373" y="9720"/>
                </a:moveTo>
                <a:cubicBezTo>
                  <a:pt x="18968" y="6469"/>
                  <a:pt x="16757" y="3779"/>
                  <a:pt x="13775" y="2686"/>
                </a:cubicBezTo>
                <a:cubicBezTo>
                  <a:pt x="13989" y="3182"/>
                  <a:pt x="14176" y="3732"/>
                  <a:pt x="14339" y="4321"/>
                </a:cubicBezTo>
                <a:cubicBezTo>
                  <a:pt x="14759" y="5845"/>
                  <a:pt x="15029" y="7704"/>
                  <a:pt x="15101" y="9720"/>
                </a:cubicBezTo>
                <a:lnTo>
                  <a:pt x="19373" y="9720"/>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3" name="Google Shape;1415;p101">
            <a:extLst xmlns:a="http://schemas.openxmlformats.org/drawingml/2006/main">
              <a:ext uri="{FF2B5EF4-FFF2-40B4-BE49-F238E27FC236}">
                <a16:creationId xmlns:a16="http://schemas.microsoft.com/office/drawing/2014/main" id="{8574D0ED-7640-B4E7-7B56-C1CA61B9EC01}"/>
              </a:ext>
            </a:extLst>
          </p:cNvPr>
          <p:cNvSpPr>
            <a:spLocks xmlns:a="http://schemas.openxmlformats.org/drawingml/2006/main" noGrp="1"/>
          </p:cNvSpPr>
          <p:nvPr/>
        </p:nvSpPr>
        <p:spPr>
          <a:xfrm xmlns:a="http://schemas.openxmlformats.org/drawingml/2006/main">
            <a:off x="371885" y="4050316"/>
            <a:ext cx="389340" cy="304776"/>
          </a:xfrm>
          <a:custGeom xmlns:a="http://schemas.openxmlformats.org/drawingml/2006/main">
            <a:rect l="l" t="t" r="r" b="b"/>
            <a:pathLst>
              <a:path w="21600" h="21600">
                <a:moveTo>
                  <a:pt x="6574" y="2400"/>
                </a:moveTo>
                <a:cubicBezTo>
                  <a:pt x="5277" y="2400"/>
                  <a:pt x="4226" y="3743"/>
                  <a:pt x="4226" y="5400"/>
                </a:cubicBezTo>
                <a:cubicBezTo>
                  <a:pt x="4226" y="7057"/>
                  <a:pt x="5277" y="8400"/>
                  <a:pt x="6574" y="8400"/>
                </a:cubicBezTo>
                <a:cubicBezTo>
                  <a:pt x="7871" y="8400"/>
                  <a:pt x="8922" y="7057"/>
                  <a:pt x="8922" y="5400"/>
                </a:cubicBezTo>
                <a:cubicBezTo>
                  <a:pt x="8922" y="3743"/>
                  <a:pt x="7871" y="2400"/>
                  <a:pt x="6574" y="2400"/>
                </a:cubicBezTo>
                <a:close/>
                <a:moveTo>
                  <a:pt x="2348" y="5400"/>
                </a:moveTo>
                <a:cubicBezTo>
                  <a:pt x="2348" y="2418"/>
                  <a:pt x="4240" y="0"/>
                  <a:pt x="6574" y="0"/>
                </a:cubicBezTo>
                <a:cubicBezTo>
                  <a:pt x="8908" y="0"/>
                  <a:pt x="10800" y="2418"/>
                  <a:pt x="10800" y="5400"/>
                </a:cubicBezTo>
                <a:cubicBezTo>
                  <a:pt x="10800" y="8382"/>
                  <a:pt x="8908" y="10800"/>
                  <a:pt x="6574" y="10800"/>
                </a:cubicBezTo>
                <a:cubicBezTo>
                  <a:pt x="4240" y="10800"/>
                  <a:pt x="2348" y="8382"/>
                  <a:pt x="2348" y="5400"/>
                </a:cubicBezTo>
                <a:close/>
                <a:moveTo>
                  <a:pt x="15496" y="3600"/>
                </a:moveTo>
                <a:cubicBezTo>
                  <a:pt x="14458" y="3600"/>
                  <a:pt x="13617" y="4674"/>
                  <a:pt x="13617" y="6000"/>
                </a:cubicBezTo>
                <a:cubicBezTo>
                  <a:pt x="13617" y="7326"/>
                  <a:pt x="14458" y="8400"/>
                  <a:pt x="15496" y="8400"/>
                </a:cubicBezTo>
                <a:cubicBezTo>
                  <a:pt x="16533" y="8400"/>
                  <a:pt x="17374" y="7326"/>
                  <a:pt x="17374" y="6000"/>
                </a:cubicBezTo>
                <a:cubicBezTo>
                  <a:pt x="17374" y="4674"/>
                  <a:pt x="16533" y="3600"/>
                  <a:pt x="15496" y="3600"/>
                </a:cubicBezTo>
                <a:close/>
                <a:moveTo>
                  <a:pt x="11739" y="6000"/>
                </a:moveTo>
                <a:cubicBezTo>
                  <a:pt x="11739" y="3349"/>
                  <a:pt x="13421" y="1200"/>
                  <a:pt x="15496" y="1200"/>
                </a:cubicBezTo>
                <a:cubicBezTo>
                  <a:pt x="17570" y="1200"/>
                  <a:pt x="19252" y="3349"/>
                  <a:pt x="19252" y="6000"/>
                </a:cubicBezTo>
                <a:cubicBezTo>
                  <a:pt x="19252" y="8651"/>
                  <a:pt x="17570" y="10800"/>
                  <a:pt x="15496" y="10800"/>
                </a:cubicBezTo>
                <a:cubicBezTo>
                  <a:pt x="13421" y="10800"/>
                  <a:pt x="11739" y="8651"/>
                  <a:pt x="11739" y="6000"/>
                </a:cubicBezTo>
                <a:close/>
                <a:moveTo>
                  <a:pt x="3324" y="15896"/>
                </a:moveTo>
                <a:cubicBezTo>
                  <a:pt x="2477" y="16858"/>
                  <a:pt x="1878" y="18325"/>
                  <a:pt x="1878" y="20400"/>
                </a:cubicBezTo>
                <a:cubicBezTo>
                  <a:pt x="1878" y="21062"/>
                  <a:pt x="1458" y="21600"/>
                  <a:pt x="939" y="21600"/>
                </a:cubicBezTo>
                <a:cubicBezTo>
                  <a:pt x="421" y="21600"/>
                  <a:pt x="0" y="21062"/>
                  <a:pt x="0" y="20400"/>
                </a:cubicBezTo>
                <a:cubicBezTo>
                  <a:pt x="0" y="17675"/>
                  <a:pt x="810" y="15542"/>
                  <a:pt x="2076" y="14102"/>
                </a:cubicBezTo>
                <a:cubicBezTo>
                  <a:pt x="3325" y="12684"/>
                  <a:pt x="4965" y="12000"/>
                  <a:pt x="6574" y="12000"/>
                </a:cubicBezTo>
                <a:cubicBezTo>
                  <a:pt x="8183" y="12000"/>
                  <a:pt x="9822" y="12684"/>
                  <a:pt x="11071" y="14102"/>
                </a:cubicBezTo>
                <a:cubicBezTo>
                  <a:pt x="12338" y="15542"/>
                  <a:pt x="13148" y="17675"/>
                  <a:pt x="13148" y="20400"/>
                </a:cubicBezTo>
                <a:cubicBezTo>
                  <a:pt x="13148" y="21062"/>
                  <a:pt x="12727" y="21600"/>
                  <a:pt x="12209" y="21600"/>
                </a:cubicBezTo>
                <a:cubicBezTo>
                  <a:pt x="11690" y="21600"/>
                  <a:pt x="11270" y="21062"/>
                  <a:pt x="11270" y="20400"/>
                </a:cubicBezTo>
                <a:cubicBezTo>
                  <a:pt x="11270" y="18325"/>
                  <a:pt x="10670" y="16858"/>
                  <a:pt x="9824" y="15896"/>
                </a:cubicBezTo>
                <a:cubicBezTo>
                  <a:pt x="8960" y="14916"/>
                  <a:pt x="7783" y="14400"/>
                  <a:pt x="6574" y="14400"/>
                </a:cubicBezTo>
                <a:cubicBezTo>
                  <a:pt x="5365" y="14400"/>
                  <a:pt x="4188" y="14916"/>
                  <a:pt x="3324" y="15896"/>
                </a:cubicBezTo>
                <a:close/>
                <a:moveTo>
                  <a:pt x="18122" y="15168"/>
                </a:moveTo>
                <a:cubicBezTo>
                  <a:pt x="17175" y="14402"/>
                  <a:pt x="15927" y="14200"/>
                  <a:pt x="14811" y="14602"/>
                </a:cubicBezTo>
                <a:cubicBezTo>
                  <a:pt x="14312" y="14782"/>
                  <a:pt x="13793" y="14411"/>
                  <a:pt x="13653" y="13772"/>
                </a:cubicBezTo>
                <a:cubicBezTo>
                  <a:pt x="13512" y="13134"/>
                  <a:pt x="13802" y="12472"/>
                  <a:pt x="14302" y="12292"/>
                </a:cubicBezTo>
                <a:cubicBezTo>
                  <a:pt x="15894" y="11718"/>
                  <a:pt x="17698" y="11986"/>
                  <a:pt x="19125" y="13139"/>
                </a:cubicBezTo>
                <a:cubicBezTo>
                  <a:pt x="20589" y="14320"/>
                  <a:pt x="21600" y="16387"/>
                  <a:pt x="21600" y="19200"/>
                </a:cubicBezTo>
                <a:cubicBezTo>
                  <a:pt x="21600" y="19862"/>
                  <a:pt x="21179" y="20400"/>
                  <a:pt x="20661" y="20400"/>
                </a:cubicBezTo>
                <a:cubicBezTo>
                  <a:pt x="20142" y="20400"/>
                  <a:pt x="19722" y="19862"/>
                  <a:pt x="19722" y="19200"/>
                </a:cubicBezTo>
                <a:cubicBezTo>
                  <a:pt x="19722" y="17202"/>
                  <a:pt x="19034" y="15905"/>
                  <a:pt x="18122" y="15168"/>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5" name="Google Shape;1512;p103">
            <a:extLst xmlns:a="http://schemas.openxmlformats.org/drawingml/2006/main">
              <a:ext uri="{FF2B5EF4-FFF2-40B4-BE49-F238E27FC236}">
                <a16:creationId xmlns:a16="http://schemas.microsoft.com/office/drawing/2014/main" id="{D015E4E0-1777-A560-A6C2-AEDA1FADFC50}"/>
              </a:ext>
            </a:extLst>
          </p:cNvPr>
          <p:cNvSpPr>
            <a:spLocks xmlns:a="http://schemas.openxmlformats.org/drawingml/2006/main" noGrp="1"/>
          </p:cNvSpPr>
          <p:nvPr/>
        </p:nvSpPr>
        <p:spPr>
          <a:xfrm xmlns:a="http://schemas.openxmlformats.org/drawingml/2006/main">
            <a:off x="4291936" y="4025768"/>
            <a:ext cx="305570" cy="338652"/>
          </a:xfrm>
          <a:custGeom xmlns:a="http://schemas.openxmlformats.org/drawingml/2006/main">
            <a:rect l="l" t="t" r="r" b="b"/>
            <a:pathLst>
              <a:path w="21538" h="21553">
                <a:moveTo>
                  <a:pt x="10897" y="543"/>
                </a:moveTo>
                <a:cubicBezTo>
                  <a:pt x="11135" y="165"/>
                  <a:pt x="11603" y="-46"/>
                  <a:pt x="12081" y="8"/>
                </a:cubicBezTo>
                <a:lnTo>
                  <a:pt x="12622" y="69"/>
                </a:lnTo>
                <a:cubicBezTo>
                  <a:pt x="15566" y="401"/>
                  <a:pt x="17464" y="3053"/>
                  <a:pt x="16592" y="5614"/>
                </a:cubicBezTo>
                <a:lnTo>
                  <a:pt x="15932" y="7551"/>
                </a:lnTo>
                <a:cubicBezTo>
                  <a:pt x="16337" y="7557"/>
                  <a:pt x="16701" y="7570"/>
                  <a:pt x="17029" y="7593"/>
                </a:cubicBezTo>
                <a:cubicBezTo>
                  <a:pt x="17750" y="7644"/>
                  <a:pt x="18413" y="7753"/>
                  <a:pt x="19016" y="8039"/>
                </a:cubicBezTo>
                <a:cubicBezTo>
                  <a:pt x="20257" y="8629"/>
                  <a:pt x="21148" y="9683"/>
                  <a:pt x="21451" y="10920"/>
                </a:cubicBezTo>
                <a:cubicBezTo>
                  <a:pt x="21599" y="11520"/>
                  <a:pt x="21541" y="12127"/>
                  <a:pt x="21406" y="12769"/>
                </a:cubicBezTo>
                <a:cubicBezTo>
                  <a:pt x="21273" y="13395"/>
                  <a:pt x="21043" y="14161"/>
                  <a:pt x="20759" y="15099"/>
                </a:cubicBezTo>
                <a:lnTo>
                  <a:pt x="20202" y="16946"/>
                </a:lnTo>
                <a:cubicBezTo>
                  <a:pt x="20181" y="17013"/>
                  <a:pt x="20161" y="17078"/>
                  <a:pt x="20142" y="17143"/>
                </a:cubicBezTo>
                <a:cubicBezTo>
                  <a:pt x="19789" y="18315"/>
                  <a:pt x="19524" y="19196"/>
                  <a:pt x="18943" y="19876"/>
                </a:cubicBezTo>
                <a:cubicBezTo>
                  <a:pt x="18432" y="20473"/>
                  <a:pt x="17757" y="20939"/>
                  <a:pt x="16986" y="21226"/>
                </a:cubicBezTo>
                <a:cubicBezTo>
                  <a:pt x="16107" y="21554"/>
                  <a:pt x="15095" y="21553"/>
                  <a:pt x="13750" y="21552"/>
                </a:cubicBezTo>
                <a:cubicBezTo>
                  <a:pt x="11456" y="21551"/>
                  <a:pt x="9164" y="21552"/>
                  <a:pt x="6872" y="21552"/>
                </a:cubicBezTo>
                <a:cubicBezTo>
                  <a:pt x="5911" y="21552"/>
                  <a:pt x="5118" y="21552"/>
                  <a:pt x="4472" y="21505"/>
                </a:cubicBezTo>
                <a:cubicBezTo>
                  <a:pt x="3802" y="21455"/>
                  <a:pt x="3185" y="21349"/>
                  <a:pt x="2606" y="21082"/>
                </a:cubicBezTo>
                <a:cubicBezTo>
                  <a:pt x="1708" y="20669"/>
                  <a:pt x="979" y="20010"/>
                  <a:pt x="520" y="19199"/>
                </a:cubicBezTo>
                <a:cubicBezTo>
                  <a:pt x="226" y="18676"/>
                  <a:pt x="108" y="18119"/>
                  <a:pt x="53" y="17513"/>
                </a:cubicBezTo>
                <a:cubicBezTo>
                  <a:pt x="0" y="16930"/>
                  <a:pt x="0" y="16214"/>
                  <a:pt x="0" y="15346"/>
                </a:cubicBezTo>
                <a:lnTo>
                  <a:pt x="0" y="12931"/>
                </a:lnTo>
                <a:cubicBezTo>
                  <a:pt x="0" y="12881"/>
                  <a:pt x="0" y="12832"/>
                  <a:pt x="0" y="12783"/>
                </a:cubicBezTo>
                <a:cubicBezTo>
                  <a:pt x="0" y="11926"/>
                  <a:pt x="-1" y="11289"/>
                  <a:pt x="162" y="10738"/>
                </a:cubicBezTo>
                <a:cubicBezTo>
                  <a:pt x="604" y="9250"/>
                  <a:pt x="1890" y="8088"/>
                  <a:pt x="3538" y="7690"/>
                </a:cubicBezTo>
                <a:cubicBezTo>
                  <a:pt x="4148" y="7542"/>
                  <a:pt x="4853" y="7542"/>
                  <a:pt x="5803" y="7543"/>
                </a:cubicBezTo>
                <a:cubicBezTo>
                  <a:pt x="5857" y="7543"/>
                  <a:pt x="5911" y="7543"/>
                  <a:pt x="5966" y="7543"/>
                </a:cubicBezTo>
                <a:cubicBezTo>
                  <a:pt x="6277" y="7543"/>
                  <a:pt x="6562" y="7393"/>
                  <a:pt x="6716" y="7150"/>
                </a:cubicBezTo>
                <a:lnTo>
                  <a:pt x="10897" y="543"/>
                </a:lnTo>
                <a:close/>
                <a:moveTo>
                  <a:pt x="5407" y="19388"/>
                </a:moveTo>
                <a:cubicBezTo>
                  <a:pt x="5204" y="19068"/>
                  <a:pt x="5044" y="18723"/>
                  <a:pt x="4935" y="18357"/>
                </a:cubicBezTo>
                <a:cubicBezTo>
                  <a:pt x="4772" y="17806"/>
                  <a:pt x="4773" y="17169"/>
                  <a:pt x="4773" y="16312"/>
                </a:cubicBezTo>
                <a:cubicBezTo>
                  <a:pt x="4773" y="16264"/>
                  <a:pt x="4773" y="16214"/>
                  <a:pt x="4773" y="16164"/>
                </a:cubicBezTo>
                <a:lnTo>
                  <a:pt x="4773" y="9709"/>
                </a:lnTo>
                <a:cubicBezTo>
                  <a:pt x="4466" y="9719"/>
                  <a:pt x="4297" y="9737"/>
                  <a:pt x="4155" y="9772"/>
                </a:cubicBezTo>
                <a:cubicBezTo>
                  <a:pt x="3332" y="9971"/>
                  <a:pt x="2689" y="10552"/>
                  <a:pt x="2468" y="11296"/>
                </a:cubicBezTo>
                <a:cubicBezTo>
                  <a:pt x="2397" y="11535"/>
                  <a:pt x="2387" y="11860"/>
                  <a:pt x="2387" y="12931"/>
                </a:cubicBezTo>
                <a:lnTo>
                  <a:pt x="2387" y="15302"/>
                </a:lnTo>
                <a:cubicBezTo>
                  <a:pt x="2387" y="16225"/>
                  <a:pt x="2388" y="16853"/>
                  <a:pt x="2432" y="17338"/>
                </a:cubicBezTo>
                <a:cubicBezTo>
                  <a:pt x="2474" y="17810"/>
                  <a:pt x="2551" y="18052"/>
                  <a:pt x="2647" y="18220"/>
                </a:cubicBezTo>
                <a:cubicBezTo>
                  <a:pt x="2876" y="18626"/>
                  <a:pt x="3241" y="18955"/>
                  <a:pt x="3690" y="19162"/>
                </a:cubicBezTo>
                <a:cubicBezTo>
                  <a:pt x="3877" y="19248"/>
                  <a:pt x="4144" y="19318"/>
                  <a:pt x="4667" y="19356"/>
                </a:cubicBezTo>
                <a:cubicBezTo>
                  <a:pt x="4884" y="19372"/>
                  <a:pt x="5128" y="19382"/>
                  <a:pt x="5407" y="19388"/>
                </a:cubicBezTo>
                <a:close/>
                <a:moveTo>
                  <a:pt x="7160" y="9493"/>
                </a:moveTo>
                <a:lnTo>
                  <a:pt x="7160" y="16164"/>
                </a:lnTo>
                <a:cubicBezTo>
                  <a:pt x="7160" y="17236"/>
                  <a:pt x="7170" y="17560"/>
                  <a:pt x="7241" y="17799"/>
                </a:cubicBezTo>
                <a:cubicBezTo>
                  <a:pt x="7462" y="18543"/>
                  <a:pt x="8105" y="19124"/>
                  <a:pt x="8928" y="19324"/>
                </a:cubicBezTo>
                <a:cubicBezTo>
                  <a:pt x="9194" y="19388"/>
                  <a:pt x="9553" y="19397"/>
                  <a:pt x="10739" y="19397"/>
                </a:cubicBezTo>
                <a:lnTo>
                  <a:pt x="13524" y="19397"/>
                </a:lnTo>
                <a:cubicBezTo>
                  <a:pt x="15200" y="19397"/>
                  <a:pt x="15691" y="19377"/>
                  <a:pt x="16076" y="19234"/>
                </a:cubicBezTo>
                <a:cubicBezTo>
                  <a:pt x="16461" y="19090"/>
                  <a:pt x="16799" y="18857"/>
                  <a:pt x="17054" y="18559"/>
                </a:cubicBezTo>
                <a:cubicBezTo>
                  <a:pt x="17307" y="18262"/>
                  <a:pt x="17458" y="17839"/>
                  <a:pt x="17899" y="16379"/>
                </a:cubicBezTo>
                <a:lnTo>
                  <a:pt x="18444" y="14575"/>
                </a:lnTo>
                <a:cubicBezTo>
                  <a:pt x="18744" y="13583"/>
                  <a:pt x="18949" y="12899"/>
                  <a:pt x="19061" y="12366"/>
                </a:cubicBezTo>
                <a:cubicBezTo>
                  <a:pt x="19172" y="11837"/>
                  <a:pt x="19166" y="11567"/>
                  <a:pt x="19122" y="11387"/>
                </a:cubicBezTo>
                <a:cubicBezTo>
                  <a:pt x="18970" y="10768"/>
                  <a:pt x="18524" y="10241"/>
                  <a:pt x="17904" y="9946"/>
                </a:cubicBezTo>
                <a:cubicBezTo>
                  <a:pt x="17722" y="9860"/>
                  <a:pt x="17436" y="9783"/>
                  <a:pt x="16842" y="9741"/>
                </a:cubicBezTo>
                <a:cubicBezTo>
                  <a:pt x="16243" y="9699"/>
                  <a:pt x="15457" y="9698"/>
                  <a:pt x="14319" y="9698"/>
                </a:cubicBezTo>
                <a:cubicBezTo>
                  <a:pt x="13941" y="9698"/>
                  <a:pt x="13584" y="9536"/>
                  <a:pt x="13360" y="9261"/>
                </a:cubicBezTo>
                <a:cubicBezTo>
                  <a:pt x="13134" y="8986"/>
                  <a:pt x="13067" y="8631"/>
                  <a:pt x="13178" y="8304"/>
                </a:cubicBezTo>
                <a:lnTo>
                  <a:pt x="14311" y="4980"/>
                </a:lnTo>
                <a:cubicBezTo>
                  <a:pt x="14722" y="3771"/>
                  <a:pt x="13900" y="2522"/>
                  <a:pt x="12567" y="2246"/>
                </a:cubicBezTo>
                <a:lnTo>
                  <a:pt x="8787" y="8220"/>
                </a:lnTo>
                <a:cubicBezTo>
                  <a:pt x="8415" y="8808"/>
                  <a:pt x="7836" y="9252"/>
                  <a:pt x="7160" y="949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8" name="Google Shape;1266;p99">
            <a:extLst xmlns:a="http://schemas.openxmlformats.org/drawingml/2006/main">
              <a:ext uri="{FF2B5EF4-FFF2-40B4-BE49-F238E27FC236}">
                <a16:creationId xmlns:a16="http://schemas.microsoft.com/office/drawing/2014/main" id="{A7463D0C-45D0-FAD2-0C32-032165767122}"/>
              </a:ext>
            </a:extLst>
          </p:cNvPr>
          <p:cNvSpPr>
            <a:spLocks xmlns:a="http://schemas.openxmlformats.org/drawingml/2006/main" noGrp="1"/>
          </p:cNvSpPr>
          <p:nvPr/>
        </p:nvSpPr>
        <p:spPr>
          <a:xfrm xmlns:a="http://schemas.openxmlformats.org/drawingml/2006/main">
            <a:off x="8234485" y="4029083"/>
            <a:ext cx="321663" cy="321771"/>
          </a:xfrm>
          <a:custGeom xmlns:a="http://schemas.openxmlformats.org/drawingml/2006/main">
            <a:rect l="l" t="t" r="r" b="b"/>
            <a:pathLst>
              <a:path w="21599" h="21599">
                <a:moveTo>
                  <a:pt x="6252" y="0"/>
                </a:moveTo>
                <a:cubicBezTo>
                  <a:pt x="6880" y="0"/>
                  <a:pt x="7389" y="509"/>
                  <a:pt x="7389" y="1137"/>
                </a:cubicBezTo>
                <a:lnTo>
                  <a:pt x="14210" y="1137"/>
                </a:lnTo>
                <a:cubicBezTo>
                  <a:pt x="14210" y="509"/>
                  <a:pt x="14719" y="0"/>
                  <a:pt x="15347" y="0"/>
                </a:cubicBezTo>
                <a:cubicBezTo>
                  <a:pt x="15974" y="0"/>
                  <a:pt x="16483" y="509"/>
                  <a:pt x="16483" y="1137"/>
                </a:cubicBezTo>
                <a:lnTo>
                  <a:pt x="16483" y="1146"/>
                </a:lnTo>
                <a:cubicBezTo>
                  <a:pt x="16839" y="1155"/>
                  <a:pt x="17162" y="1170"/>
                  <a:pt x="17456" y="1197"/>
                </a:cubicBezTo>
                <a:cubicBezTo>
                  <a:pt x="18049" y="1254"/>
                  <a:pt x="18598" y="1369"/>
                  <a:pt x="19116" y="1632"/>
                </a:cubicBezTo>
                <a:cubicBezTo>
                  <a:pt x="19972" y="2068"/>
                  <a:pt x="20668" y="2764"/>
                  <a:pt x="21103" y="3620"/>
                </a:cubicBezTo>
                <a:cubicBezTo>
                  <a:pt x="21384" y="4171"/>
                  <a:pt x="21497" y="4759"/>
                  <a:pt x="21549" y="5397"/>
                </a:cubicBezTo>
                <a:cubicBezTo>
                  <a:pt x="21599" y="6012"/>
                  <a:pt x="21599" y="6768"/>
                  <a:pt x="21599" y="7684"/>
                </a:cubicBezTo>
                <a:lnTo>
                  <a:pt x="21599" y="13655"/>
                </a:lnTo>
                <a:cubicBezTo>
                  <a:pt x="21599" y="13694"/>
                  <a:pt x="21599" y="13732"/>
                  <a:pt x="21599" y="13771"/>
                </a:cubicBezTo>
                <a:cubicBezTo>
                  <a:pt x="21599" y="14493"/>
                  <a:pt x="21600" y="15037"/>
                  <a:pt x="21473" y="15564"/>
                </a:cubicBezTo>
                <a:cubicBezTo>
                  <a:pt x="21361" y="16027"/>
                  <a:pt x="21178" y="16471"/>
                  <a:pt x="20929" y="16878"/>
                </a:cubicBezTo>
                <a:cubicBezTo>
                  <a:pt x="20646" y="17339"/>
                  <a:pt x="20261" y="17725"/>
                  <a:pt x="19749" y="18235"/>
                </a:cubicBezTo>
                <a:cubicBezTo>
                  <a:pt x="19723" y="18262"/>
                  <a:pt x="19696" y="18290"/>
                  <a:pt x="19667" y="18317"/>
                </a:cubicBezTo>
                <a:lnTo>
                  <a:pt x="18317" y="19667"/>
                </a:lnTo>
                <a:cubicBezTo>
                  <a:pt x="18290" y="19696"/>
                  <a:pt x="18262" y="19723"/>
                  <a:pt x="18235" y="19749"/>
                </a:cubicBezTo>
                <a:cubicBezTo>
                  <a:pt x="17725" y="20260"/>
                  <a:pt x="17339" y="20646"/>
                  <a:pt x="16878" y="20929"/>
                </a:cubicBezTo>
                <a:cubicBezTo>
                  <a:pt x="16471" y="21178"/>
                  <a:pt x="16027" y="21361"/>
                  <a:pt x="15564" y="21473"/>
                </a:cubicBezTo>
                <a:cubicBezTo>
                  <a:pt x="15037" y="21600"/>
                  <a:pt x="14493" y="21599"/>
                  <a:pt x="13771" y="21599"/>
                </a:cubicBezTo>
                <a:cubicBezTo>
                  <a:pt x="13732" y="21599"/>
                  <a:pt x="13694" y="21599"/>
                  <a:pt x="13655" y="21599"/>
                </a:cubicBezTo>
                <a:lnTo>
                  <a:pt x="6547" y="21599"/>
                </a:lnTo>
                <a:cubicBezTo>
                  <a:pt x="5632" y="21599"/>
                  <a:pt x="4876" y="21599"/>
                  <a:pt x="4261" y="21549"/>
                </a:cubicBezTo>
                <a:cubicBezTo>
                  <a:pt x="3622" y="21497"/>
                  <a:pt x="3034" y="21384"/>
                  <a:pt x="2483" y="21103"/>
                </a:cubicBezTo>
                <a:cubicBezTo>
                  <a:pt x="1627" y="20668"/>
                  <a:pt x="931" y="19972"/>
                  <a:pt x="496" y="19116"/>
                </a:cubicBezTo>
                <a:cubicBezTo>
                  <a:pt x="215" y="18565"/>
                  <a:pt x="102" y="17977"/>
                  <a:pt x="50" y="17338"/>
                </a:cubicBezTo>
                <a:cubicBezTo>
                  <a:pt x="0" y="16723"/>
                  <a:pt x="0" y="15967"/>
                  <a:pt x="0" y="15052"/>
                </a:cubicBezTo>
                <a:lnTo>
                  <a:pt x="0" y="7684"/>
                </a:lnTo>
                <a:cubicBezTo>
                  <a:pt x="0" y="6768"/>
                  <a:pt x="0" y="6012"/>
                  <a:pt x="50" y="5397"/>
                </a:cubicBezTo>
                <a:cubicBezTo>
                  <a:pt x="102" y="4759"/>
                  <a:pt x="215" y="4171"/>
                  <a:pt x="496" y="3620"/>
                </a:cubicBezTo>
                <a:cubicBezTo>
                  <a:pt x="931" y="2764"/>
                  <a:pt x="1627" y="2068"/>
                  <a:pt x="2483" y="1632"/>
                </a:cubicBezTo>
                <a:cubicBezTo>
                  <a:pt x="3001" y="1369"/>
                  <a:pt x="3550" y="1254"/>
                  <a:pt x="4142" y="1197"/>
                </a:cubicBezTo>
                <a:cubicBezTo>
                  <a:pt x="4437" y="1170"/>
                  <a:pt x="4760" y="1155"/>
                  <a:pt x="5116" y="1146"/>
                </a:cubicBezTo>
                <a:lnTo>
                  <a:pt x="5116" y="1137"/>
                </a:lnTo>
                <a:cubicBezTo>
                  <a:pt x="5116" y="509"/>
                  <a:pt x="5625" y="0"/>
                  <a:pt x="6252" y="0"/>
                </a:cubicBezTo>
                <a:close/>
                <a:moveTo>
                  <a:pt x="5116" y="3421"/>
                </a:moveTo>
                <a:cubicBezTo>
                  <a:pt x="4822" y="3427"/>
                  <a:pt x="4576" y="3440"/>
                  <a:pt x="4358" y="3460"/>
                </a:cubicBezTo>
                <a:cubicBezTo>
                  <a:pt x="3916" y="3502"/>
                  <a:pt x="3681" y="3573"/>
                  <a:pt x="3515" y="3658"/>
                </a:cubicBezTo>
                <a:cubicBezTo>
                  <a:pt x="3088" y="3876"/>
                  <a:pt x="2740" y="4224"/>
                  <a:pt x="2521" y="4652"/>
                </a:cubicBezTo>
                <a:cubicBezTo>
                  <a:pt x="2430" y="4829"/>
                  <a:pt x="2357" y="5085"/>
                  <a:pt x="2317" y="5583"/>
                </a:cubicBezTo>
                <a:cubicBezTo>
                  <a:pt x="2275" y="6094"/>
                  <a:pt x="2274" y="6756"/>
                  <a:pt x="2274" y="7730"/>
                </a:cubicBezTo>
                <a:lnTo>
                  <a:pt x="2274" y="15006"/>
                </a:lnTo>
                <a:cubicBezTo>
                  <a:pt x="2274" y="15980"/>
                  <a:pt x="2275" y="16641"/>
                  <a:pt x="2317" y="17153"/>
                </a:cubicBezTo>
                <a:cubicBezTo>
                  <a:pt x="2357" y="17651"/>
                  <a:pt x="2430" y="17907"/>
                  <a:pt x="2521" y="18084"/>
                </a:cubicBezTo>
                <a:cubicBezTo>
                  <a:pt x="2740" y="18511"/>
                  <a:pt x="3088" y="18859"/>
                  <a:pt x="3515" y="19077"/>
                </a:cubicBezTo>
                <a:cubicBezTo>
                  <a:pt x="3692" y="19168"/>
                  <a:pt x="3948" y="19242"/>
                  <a:pt x="4446" y="19282"/>
                </a:cubicBezTo>
                <a:cubicBezTo>
                  <a:pt x="4958" y="19324"/>
                  <a:pt x="5619" y="19325"/>
                  <a:pt x="6593" y="19325"/>
                </a:cubicBezTo>
                <a:lnTo>
                  <a:pt x="13073" y="19325"/>
                </a:lnTo>
                <a:lnTo>
                  <a:pt x="13073" y="18189"/>
                </a:lnTo>
                <a:cubicBezTo>
                  <a:pt x="13073" y="15677"/>
                  <a:pt x="15109" y="13641"/>
                  <a:pt x="17620" y="13641"/>
                </a:cubicBezTo>
                <a:lnTo>
                  <a:pt x="18757" y="13641"/>
                </a:lnTo>
                <a:cubicBezTo>
                  <a:pt x="18964" y="13641"/>
                  <a:pt x="19158" y="13697"/>
                  <a:pt x="19325" y="13794"/>
                </a:cubicBezTo>
                <a:cubicBezTo>
                  <a:pt x="19325" y="13749"/>
                  <a:pt x="19325" y="13703"/>
                  <a:pt x="19325" y="13655"/>
                </a:cubicBezTo>
                <a:lnTo>
                  <a:pt x="19325" y="7730"/>
                </a:lnTo>
                <a:cubicBezTo>
                  <a:pt x="19325" y="6756"/>
                  <a:pt x="19324" y="6094"/>
                  <a:pt x="19282" y="5583"/>
                </a:cubicBezTo>
                <a:cubicBezTo>
                  <a:pt x="19242" y="5085"/>
                  <a:pt x="19168" y="4829"/>
                  <a:pt x="19077" y="4652"/>
                </a:cubicBezTo>
                <a:cubicBezTo>
                  <a:pt x="18859" y="4224"/>
                  <a:pt x="18511" y="3876"/>
                  <a:pt x="18084" y="3658"/>
                </a:cubicBezTo>
                <a:cubicBezTo>
                  <a:pt x="17918" y="3573"/>
                  <a:pt x="17683" y="3502"/>
                  <a:pt x="17240" y="3460"/>
                </a:cubicBezTo>
                <a:cubicBezTo>
                  <a:pt x="17023" y="3440"/>
                  <a:pt x="16777" y="3427"/>
                  <a:pt x="16483" y="3421"/>
                </a:cubicBezTo>
                <a:lnTo>
                  <a:pt x="16483" y="4547"/>
                </a:lnTo>
                <a:cubicBezTo>
                  <a:pt x="16483" y="5175"/>
                  <a:pt x="15974" y="5684"/>
                  <a:pt x="15347" y="5684"/>
                </a:cubicBezTo>
                <a:cubicBezTo>
                  <a:pt x="14719" y="5684"/>
                  <a:pt x="14210" y="5175"/>
                  <a:pt x="14210" y="4547"/>
                </a:cubicBezTo>
                <a:lnTo>
                  <a:pt x="14210" y="3410"/>
                </a:lnTo>
                <a:lnTo>
                  <a:pt x="7389" y="3410"/>
                </a:lnTo>
                <a:lnTo>
                  <a:pt x="7389" y="4547"/>
                </a:lnTo>
                <a:cubicBezTo>
                  <a:pt x="7389" y="5175"/>
                  <a:pt x="6880" y="5684"/>
                  <a:pt x="6252" y="5684"/>
                </a:cubicBezTo>
                <a:cubicBezTo>
                  <a:pt x="5625" y="5684"/>
                  <a:pt x="5116" y="5175"/>
                  <a:pt x="5116" y="4547"/>
                </a:cubicBezTo>
                <a:lnTo>
                  <a:pt x="5116" y="3421"/>
                </a:lnTo>
                <a:close/>
                <a:moveTo>
                  <a:pt x="18827" y="15913"/>
                </a:moveTo>
                <a:cubicBezTo>
                  <a:pt x="18804" y="15914"/>
                  <a:pt x="18781" y="15915"/>
                  <a:pt x="18757" y="15915"/>
                </a:cubicBezTo>
                <a:lnTo>
                  <a:pt x="17620" y="15915"/>
                </a:lnTo>
                <a:cubicBezTo>
                  <a:pt x="16364" y="15915"/>
                  <a:pt x="15347" y="16932"/>
                  <a:pt x="15347" y="18189"/>
                </a:cubicBezTo>
                <a:lnTo>
                  <a:pt x="15347" y="19163"/>
                </a:lnTo>
                <a:cubicBezTo>
                  <a:pt x="15466" y="19115"/>
                  <a:pt x="15581" y="19057"/>
                  <a:pt x="15690" y="18990"/>
                </a:cubicBezTo>
                <a:cubicBezTo>
                  <a:pt x="15893" y="18866"/>
                  <a:pt x="16081" y="18689"/>
                  <a:pt x="16710" y="18060"/>
                </a:cubicBezTo>
                <a:lnTo>
                  <a:pt x="18060" y="16710"/>
                </a:lnTo>
                <a:cubicBezTo>
                  <a:pt x="18472" y="16297"/>
                  <a:pt x="18690" y="16074"/>
                  <a:pt x="18827" y="1591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9" name="Footer Placeholder 18">
            <a:extLst xmlns:a="http://schemas.openxmlformats.org/drawingml/2006/main">
              <a:ext uri="{FF2B5EF4-FFF2-40B4-BE49-F238E27FC236}">
                <a16:creationId xmlns:a16="http://schemas.microsoft.com/office/drawing/2014/main" id="{A7C685AE-794E-F9C0-C7B3-7E956842DD9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Slide Number Placeholder 6">
            <a:extLst xmlns:a="http://schemas.openxmlformats.org/drawingml/2006/main">
              <a:ext uri="{FF2B5EF4-FFF2-40B4-BE49-F238E27FC236}">
                <a16:creationId xmlns:a16="http://schemas.microsoft.com/office/drawing/2014/main" id="{9892F439-FAFA-E9E4-AA65-F7A04500A779}"/>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14</a:t>
            </a:fld>
            <a:endParaRPr sz="1100"/>
          </a:p>
        </p:txBody>
      </p:sp>
    </p:spTree>
    <p:extLst>
      <p:ext uri="{BB962C8B-B14F-4D97-AF65-F5344CB8AC3E}">
        <p14:creationId xmlns:p14="http://schemas.microsoft.com/office/powerpoint/2010/main" val="234210516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4D765FCF-56FA-8EE2-65DF-D8A5321F3C29}"/>
              </a:ext>
            </a:extLst>
          </p:cNvPr>
          <p:cNvSpPr>
            <a:spLocks xmlns:a="http://schemas.openxmlformats.org/drawingml/2006/main" noGrp="1"/>
          </p:cNvSpPr>
          <p:nvPr>
            <p:ph idx="1"/>
          </p:nvPr>
        </p:nvSpPr>
        <p:spPr>
          <a:xfrm xmlns:a="http://schemas.openxmlformats.org/drawingml/2006/main">
            <a:off x="3937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Auditability</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The organization can inspect what data, tool and policy produced each conclusion.</a:t>
            </a:r>
          </a:p>
        </p:txBody>
      </p:sp>
      <p:sp>
        <p:nvSpPr>
          <p:cNvPr id="559" name="Google Shape;559;p61">
            <a:extLst xmlns:a="http://schemas.openxmlformats.org/drawingml/2006/main">
              <a:ext uri="{FF2B5EF4-FFF2-40B4-BE49-F238E27FC236}">
                <a16:creationId xmlns:a16="http://schemas.microsoft.com/office/drawing/2014/main" id="{BFA1AD57-2515-3263-71AA-F5510D72450E}"/>
              </a:ext>
            </a:extLst>
          </p:cNvPr>
          <p:cNvSpPr>
            <a:spLocks xmlns:a="http://schemas.openxmlformats.org/drawingml/2006/main" noGrp="1"/>
          </p:cNvSpPr>
          <p:nvPr>
            <p:ph idx="10"/>
          </p:nvPr>
        </p:nvSpPr>
        <p:spPr>
          <a:xfrm xmlns:a="http://schemas.openxmlformats.org/drawingml/2006/main">
            <a:off x="4318000"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Post-action verification</a:t>
            </a:r>
            <a:endParaRPr sz="1600">
              <a:solidFill>
                <a:prstClr val="black"/>
              </a:solidFill>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New readings test whether the condition recovered after an approved action.</a:t>
            </a:r>
            <a:endParaRPr sz="1600">
              <a:solidFill>
                <a:prstClr val="black"/>
              </a:solidFill>
              <a:latin typeface="Helvetica Neue"/>
              <a:ea typeface="Helvetica Neue"/>
              <a:cs typeface="Helvetica Neue"/>
            </a:endParaRPr>
          </a:p>
        </p:txBody>
      </p:sp>
      <p:sp>
        <p:nvSpPr>
          <p:cNvPr id="560" name="Google Shape;560;p61">
            <a:extLst xmlns:a="http://schemas.openxmlformats.org/drawingml/2006/main">
              <a:ext uri="{FF2B5EF4-FFF2-40B4-BE49-F238E27FC236}">
                <a16:creationId xmlns:a16="http://schemas.microsoft.com/office/drawing/2014/main" id="{F4CF59D7-297B-30C8-431E-585575A55EC7}"/>
              </a:ext>
            </a:extLst>
          </p:cNvPr>
          <p:cNvSpPr>
            <a:spLocks xmlns:a="http://schemas.openxmlformats.org/drawingml/2006/main" noGrp="1"/>
          </p:cNvSpPr>
          <p:nvPr>
            <p:ph idx="11"/>
          </p:nvPr>
        </p:nvSpPr>
        <p:spPr>
          <a:xfrm xmlns:a="http://schemas.openxmlformats.org/drawingml/2006/main">
            <a:off x="8232273" y="4656666"/>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Containerization</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Docker packages the application and runtime dependencies into a repeatable environment.</a:t>
            </a:r>
          </a:p>
        </p:txBody>
      </p:sp>
      <p:sp>
        <p:nvSpPr>
          <p:cNvPr id="557" name="Google Shape;557;p61">
            <a:extLst xmlns:a="http://schemas.openxmlformats.org/drawingml/2006/main">
              <a:ext uri="{FF2B5EF4-FFF2-40B4-BE49-F238E27FC236}">
                <a16:creationId xmlns:a16="http://schemas.microsoft.com/office/drawing/2014/main" id="{252743B9-4592-4663-CAD2-40CC23D409B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Plain-language glossary | Operations and delivery</a:t>
            </a:r>
            <a:endParaRPr/>
          </a:p>
        </p:txBody>
      </p:sp>
      <p:sp>
        <p:nvSpPr>
          <p:cNvPr id="2" name="Google Shape;558;p61">
            <a:extLst xmlns:a="http://schemas.openxmlformats.org/drawingml/2006/main">
              <a:ext uri="{FF2B5EF4-FFF2-40B4-BE49-F238E27FC236}">
                <a16:creationId xmlns:a16="http://schemas.microsoft.com/office/drawing/2014/main" id="{0018B0C7-DC20-D7FE-2D99-C8372B90AC3A}"/>
              </a:ext>
            </a:extLst>
          </p:cNvPr>
          <p:cNvSpPr>
            <a:spLocks xmlns:a="http://schemas.openxmlformats.org/drawingml/2006/main" noGrp="1"/>
          </p:cNvSpPr>
          <p:nvPr/>
        </p:nvSpPr>
        <p:spPr>
          <a:xfrm xmlns:a="http://schemas.openxmlformats.org/drawingml/2006/main">
            <a:off x="3937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Agentic workflow</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 stateful process chooses useful tools, stores results and changes its plan when evidence changes.</a:t>
            </a:r>
          </a:p>
        </p:txBody>
      </p:sp>
      <p:sp>
        <p:nvSpPr>
          <p:cNvPr id="3" name="Google Shape;559;p61">
            <a:extLst xmlns:a="http://schemas.openxmlformats.org/drawingml/2006/main">
              <a:ext uri="{FF2B5EF4-FFF2-40B4-BE49-F238E27FC236}">
                <a16:creationId xmlns:a16="http://schemas.microsoft.com/office/drawing/2014/main" id="{142AC269-69D2-161D-AD16-2E5D7B8A96F1}"/>
              </a:ext>
            </a:extLst>
          </p:cNvPr>
          <p:cNvSpPr>
            <a:spLocks xmlns:a="http://schemas.openxmlformats.org/drawingml/2006/main" noGrp="1"/>
          </p:cNvSpPr>
          <p:nvPr/>
        </p:nvSpPr>
        <p:spPr>
          <a:xfrm xmlns:a="http://schemas.openxmlformats.org/drawingml/2006/main">
            <a:off x="4318000"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Human in the loop</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 person reviews and approves consequential recommendations before action.</a:t>
            </a:r>
          </a:p>
        </p:txBody>
      </p:sp>
      <p:sp>
        <p:nvSpPr>
          <p:cNvPr id="4" name="Google Shape;560;p61">
            <a:extLst xmlns:a="http://schemas.openxmlformats.org/drawingml/2006/main">
              <a:ext uri="{FF2B5EF4-FFF2-40B4-BE49-F238E27FC236}">
                <a16:creationId xmlns:a16="http://schemas.microsoft.com/office/drawing/2014/main" id="{7E988850-5A60-A9C4-B928-BDFEC4FE498E}"/>
              </a:ext>
            </a:extLst>
          </p:cNvPr>
          <p:cNvSpPr>
            <a:spLocks xmlns:a="http://schemas.openxmlformats.org/drawingml/2006/main" noGrp="1"/>
          </p:cNvSpPr>
          <p:nvPr/>
        </p:nvSpPr>
        <p:spPr>
          <a:xfrm xmlns:a="http://schemas.openxmlformats.org/drawingml/2006/main">
            <a:off x="8232273" y="2653452"/>
            <a:ext cx="3568700" cy="1102394"/>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Idempotency</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Repeating the same event does not create duplicate cases, readings or decisions.</a:t>
            </a:r>
          </a:p>
        </p:txBody>
      </p:sp>
      <p:sp>
        <p:nvSpPr>
          <p:cNvPr id="5" name="Google Shape;561;p61">
            <a:extLst xmlns:a="http://schemas.openxmlformats.org/drawingml/2006/main">
              <a:ext uri="{FF2B5EF4-FFF2-40B4-BE49-F238E27FC236}">
                <a16:creationId xmlns:a16="http://schemas.microsoft.com/office/drawing/2014/main" id="{43830694-5B70-1E3A-562E-A57DE1DE0273}"/>
              </a:ext>
            </a:extLst>
          </p:cNvPr>
          <p:cNvSpPr>
            <a:spLocks xmlns:a="http://schemas.openxmlformats.org/drawingml/2006/main" noGrp="1"/>
          </p:cNvSpPr>
          <p:nvPr/>
        </p:nvSpPr>
        <p:spPr>
          <a:xfrm xmlns:a="http://schemas.openxmlformats.org/drawingml/2006/main">
            <a:off x="4279904" y="2022554"/>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6" name="Google Shape;562;p61">
            <a:extLst xmlns:a="http://schemas.openxmlformats.org/drawingml/2006/main">
              <a:ext uri="{FF2B5EF4-FFF2-40B4-BE49-F238E27FC236}">
                <a16:creationId xmlns:a16="http://schemas.microsoft.com/office/drawing/2014/main" id="{7C8ADA23-5610-C31E-B048-A0886EDC2B08}"/>
              </a:ext>
            </a:extLst>
          </p:cNvPr>
          <p:cNvSpPr>
            <a:spLocks xmlns:a="http://schemas.openxmlformats.org/drawingml/2006/main" noGrp="1"/>
          </p:cNvSpPr>
          <p:nvPr/>
        </p:nvSpPr>
        <p:spPr>
          <a:xfrm xmlns:a="http://schemas.openxmlformats.org/drawingml/2006/main">
            <a:off x="401398" y="2018463"/>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1" name="Google Shape;1369;p101">
            <a:extLst xmlns:a="http://schemas.openxmlformats.org/drawingml/2006/main">
              <a:ext uri="{FF2B5EF4-FFF2-40B4-BE49-F238E27FC236}">
                <a16:creationId xmlns:a16="http://schemas.microsoft.com/office/drawing/2014/main" id="{41FBCA7C-C2E7-AFB5-3B6C-4D9C9E154570}"/>
              </a:ext>
            </a:extLst>
          </p:cNvPr>
          <p:cNvSpPr>
            <a:spLocks xmlns:a="http://schemas.openxmlformats.org/drawingml/2006/main" noGrp="1"/>
          </p:cNvSpPr>
          <p:nvPr/>
        </p:nvSpPr>
        <p:spPr>
          <a:xfrm xmlns:a="http://schemas.openxmlformats.org/drawingml/2006/main">
            <a:off x="8229600" y="2030146"/>
            <a:ext cx="338580" cy="338688"/>
          </a:xfrm>
          <a:custGeom xmlns:a="http://schemas.openxmlformats.org/drawingml/2006/main">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784" y="2163"/>
                </a:moveTo>
                <a:cubicBezTo>
                  <a:pt x="10772" y="2167"/>
                  <a:pt x="10749" y="2175"/>
                  <a:pt x="10715" y="2196"/>
                </a:cubicBezTo>
                <a:cubicBezTo>
                  <a:pt x="10574" y="2281"/>
                  <a:pt x="10340" y="2510"/>
                  <a:pt x="10071" y="2999"/>
                </a:cubicBezTo>
                <a:cubicBezTo>
                  <a:pt x="9811" y="3472"/>
                  <a:pt x="9560" y="4109"/>
                  <a:pt x="9344" y="4895"/>
                </a:cubicBezTo>
                <a:cubicBezTo>
                  <a:pt x="8980" y="6213"/>
                  <a:pt x="8731" y="7875"/>
                  <a:pt x="8661" y="9720"/>
                </a:cubicBezTo>
                <a:lnTo>
                  <a:pt x="12939" y="9720"/>
                </a:lnTo>
                <a:cubicBezTo>
                  <a:pt x="12869" y="7875"/>
                  <a:pt x="12620" y="6213"/>
                  <a:pt x="12256" y="4895"/>
                </a:cubicBezTo>
                <a:cubicBezTo>
                  <a:pt x="12040" y="4109"/>
                  <a:pt x="11789" y="3472"/>
                  <a:pt x="11529" y="2999"/>
                </a:cubicBezTo>
                <a:cubicBezTo>
                  <a:pt x="11260" y="2510"/>
                  <a:pt x="11026" y="2281"/>
                  <a:pt x="10885" y="2196"/>
                </a:cubicBezTo>
                <a:cubicBezTo>
                  <a:pt x="10851" y="2175"/>
                  <a:pt x="10828" y="2167"/>
                  <a:pt x="10816" y="2163"/>
                </a:cubicBezTo>
                <a:cubicBezTo>
                  <a:pt x="10807" y="2161"/>
                  <a:pt x="10801" y="2160"/>
                  <a:pt x="10800" y="2160"/>
                </a:cubicBezTo>
                <a:cubicBezTo>
                  <a:pt x="10798" y="2160"/>
                  <a:pt x="10793" y="2161"/>
                  <a:pt x="10784" y="2163"/>
                </a:cubicBezTo>
                <a:close/>
                <a:moveTo>
                  <a:pt x="6499" y="9720"/>
                </a:moveTo>
                <a:cubicBezTo>
                  <a:pt x="6571" y="7704"/>
                  <a:pt x="6841" y="5845"/>
                  <a:pt x="7261" y="4321"/>
                </a:cubicBezTo>
                <a:cubicBezTo>
                  <a:pt x="7424" y="3732"/>
                  <a:pt x="7611" y="3182"/>
                  <a:pt x="7825" y="2686"/>
                </a:cubicBezTo>
                <a:cubicBezTo>
                  <a:pt x="4843" y="3779"/>
                  <a:pt x="2632" y="6469"/>
                  <a:pt x="2227" y="9720"/>
                </a:cubicBezTo>
                <a:lnTo>
                  <a:pt x="6499" y="9720"/>
                </a:lnTo>
                <a:close/>
                <a:moveTo>
                  <a:pt x="2227" y="11880"/>
                </a:moveTo>
                <a:lnTo>
                  <a:pt x="6499" y="11880"/>
                </a:lnTo>
                <a:cubicBezTo>
                  <a:pt x="6582" y="14228"/>
                  <a:pt x="6936" y="16368"/>
                  <a:pt x="7484" y="18014"/>
                </a:cubicBezTo>
                <a:cubicBezTo>
                  <a:pt x="7589" y="18327"/>
                  <a:pt x="7702" y="18628"/>
                  <a:pt x="7825" y="18914"/>
                </a:cubicBezTo>
                <a:cubicBezTo>
                  <a:pt x="4843" y="17821"/>
                  <a:pt x="2632" y="15131"/>
                  <a:pt x="2227" y="11880"/>
                </a:cubicBezTo>
                <a:close/>
                <a:moveTo>
                  <a:pt x="8661" y="11880"/>
                </a:moveTo>
                <a:cubicBezTo>
                  <a:pt x="8743" y="14037"/>
                  <a:pt x="9069" y="15938"/>
                  <a:pt x="9534" y="17332"/>
                </a:cubicBezTo>
                <a:cubicBezTo>
                  <a:pt x="9806" y="18148"/>
                  <a:pt x="10106" y="18732"/>
                  <a:pt x="10387" y="19088"/>
                </a:cubicBezTo>
                <a:cubicBezTo>
                  <a:pt x="10525" y="19263"/>
                  <a:pt x="10637" y="19356"/>
                  <a:pt x="10712" y="19402"/>
                </a:cubicBezTo>
                <a:cubicBezTo>
                  <a:pt x="10748" y="19424"/>
                  <a:pt x="10771" y="19434"/>
                  <a:pt x="10783" y="19437"/>
                </a:cubicBezTo>
                <a:cubicBezTo>
                  <a:pt x="10794" y="19440"/>
                  <a:pt x="10800" y="19440"/>
                  <a:pt x="10800" y="19440"/>
                </a:cubicBezTo>
                <a:cubicBezTo>
                  <a:pt x="10800" y="19440"/>
                  <a:pt x="10805" y="19440"/>
                  <a:pt x="10817" y="19437"/>
                </a:cubicBezTo>
                <a:cubicBezTo>
                  <a:pt x="10829" y="19434"/>
                  <a:pt x="10852" y="19424"/>
                  <a:pt x="10888" y="19402"/>
                </a:cubicBezTo>
                <a:cubicBezTo>
                  <a:pt x="10963" y="19356"/>
                  <a:pt x="11075" y="19263"/>
                  <a:pt x="11213" y="19088"/>
                </a:cubicBezTo>
                <a:cubicBezTo>
                  <a:pt x="11494" y="18732"/>
                  <a:pt x="11794" y="18148"/>
                  <a:pt x="12066" y="17332"/>
                </a:cubicBezTo>
                <a:cubicBezTo>
                  <a:pt x="12531" y="15938"/>
                  <a:pt x="12857" y="14037"/>
                  <a:pt x="12939" y="11880"/>
                </a:cubicBezTo>
                <a:lnTo>
                  <a:pt x="8661" y="11880"/>
                </a:lnTo>
                <a:close/>
                <a:moveTo>
                  <a:pt x="15101" y="11880"/>
                </a:moveTo>
                <a:cubicBezTo>
                  <a:pt x="15018" y="14228"/>
                  <a:pt x="14664" y="16368"/>
                  <a:pt x="14116" y="18014"/>
                </a:cubicBezTo>
                <a:cubicBezTo>
                  <a:pt x="14011" y="18327"/>
                  <a:pt x="13898" y="18628"/>
                  <a:pt x="13775" y="18914"/>
                </a:cubicBezTo>
                <a:cubicBezTo>
                  <a:pt x="16757" y="17821"/>
                  <a:pt x="18968" y="15131"/>
                  <a:pt x="19373" y="11880"/>
                </a:cubicBezTo>
                <a:lnTo>
                  <a:pt x="15101" y="11880"/>
                </a:lnTo>
                <a:close/>
                <a:moveTo>
                  <a:pt x="19373" y="9720"/>
                </a:moveTo>
                <a:cubicBezTo>
                  <a:pt x="18968" y="6469"/>
                  <a:pt x="16757" y="3779"/>
                  <a:pt x="13775" y="2686"/>
                </a:cubicBezTo>
                <a:cubicBezTo>
                  <a:pt x="13989" y="3182"/>
                  <a:pt x="14176" y="3732"/>
                  <a:pt x="14339" y="4321"/>
                </a:cubicBezTo>
                <a:cubicBezTo>
                  <a:pt x="14759" y="5845"/>
                  <a:pt x="15029" y="7704"/>
                  <a:pt x="15101" y="9720"/>
                </a:cubicBezTo>
                <a:lnTo>
                  <a:pt x="19373" y="9720"/>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3" name="Google Shape;1415;p101">
            <a:extLst xmlns:a="http://schemas.openxmlformats.org/drawingml/2006/main">
              <a:ext uri="{FF2B5EF4-FFF2-40B4-BE49-F238E27FC236}">
                <a16:creationId xmlns:a16="http://schemas.microsoft.com/office/drawing/2014/main" id="{8574D0ED-7640-B4E7-7B56-C1CA61B9EC01}"/>
              </a:ext>
            </a:extLst>
          </p:cNvPr>
          <p:cNvSpPr>
            <a:spLocks xmlns:a="http://schemas.openxmlformats.org/drawingml/2006/main" noGrp="1"/>
          </p:cNvSpPr>
          <p:nvPr/>
        </p:nvSpPr>
        <p:spPr>
          <a:xfrm xmlns:a="http://schemas.openxmlformats.org/drawingml/2006/main">
            <a:off x="371885" y="4050316"/>
            <a:ext cx="389340" cy="304776"/>
          </a:xfrm>
          <a:custGeom xmlns:a="http://schemas.openxmlformats.org/drawingml/2006/main">
            <a:rect l="l" t="t" r="r" b="b"/>
            <a:pathLst>
              <a:path w="21600" h="21600">
                <a:moveTo>
                  <a:pt x="6574" y="2400"/>
                </a:moveTo>
                <a:cubicBezTo>
                  <a:pt x="5277" y="2400"/>
                  <a:pt x="4226" y="3743"/>
                  <a:pt x="4226" y="5400"/>
                </a:cubicBezTo>
                <a:cubicBezTo>
                  <a:pt x="4226" y="7057"/>
                  <a:pt x="5277" y="8400"/>
                  <a:pt x="6574" y="8400"/>
                </a:cubicBezTo>
                <a:cubicBezTo>
                  <a:pt x="7871" y="8400"/>
                  <a:pt x="8922" y="7057"/>
                  <a:pt x="8922" y="5400"/>
                </a:cubicBezTo>
                <a:cubicBezTo>
                  <a:pt x="8922" y="3743"/>
                  <a:pt x="7871" y="2400"/>
                  <a:pt x="6574" y="2400"/>
                </a:cubicBezTo>
                <a:close/>
                <a:moveTo>
                  <a:pt x="2348" y="5400"/>
                </a:moveTo>
                <a:cubicBezTo>
                  <a:pt x="2348" y="2418"/>
                  <a:pt x="4240" y="0"/>
                  <a:pt x="6574" y="0"/>
                </a:cubicBezTo>
                <a:cubicBezTo>
                  <a:pt x="8908" y="0"/>
                  <a:pt x="10800" y="2418"/>
                  <a:pt x="10800" y="5400"/>
                </a:cubicBezTo>
                <a:cubicBezTo>
                  <a:pt x="10800" y="8382"/>
                  <a:pt x="8908" y="10800"/>
                  <a:pt x="6574" y="10800"/>
                </a:cubicBezTo>
                <a:cubicBezTo>
                  <a:pt x="4240" y="10800"/>
                  <a:pt x="2348" y="8382"/>
                  <a:pt x="2348" y="5400"/>
                </a:cubicBezTo>
                <a:close/>
                <a:moveTo>
                  <a:pt x="15496" y="3600"/>
                </a:moveTo>
                <a:cubicBezTo>
                  <a:pt x="14458" y="3600"/>
                  <a:pt x="13617" y="4674"/>
                  <a:pt x="13617" y="6000"/>
                </a:cubicBezTo>
                <a:cubicBezTo>
                  <a:pt x="13617" y="7326"/>
                  <a:pt x="14458" y="8400"/>
                  <a:pt x="15496" y="8400"/>
                </a:cubicBezTo>
                <a:cubicBezTo>
                  <a:pt x="16533" y="8400"/>
                  <a:pt x="17374" y="7326"/>
                  <a:pt x="17374" y="6000"/>
                </a:cubicBezTo>
                <a:cubicBezTo>
                  <a:pt x="17374" y="4674"/>
                  <a:pt x="16533" y="3600"/>
                  <a:pt x="15496" y="3600"/>
                </a:cubicBezTo>
                <a:close/>
                <a:moveTo>
                  <a:pt x="11739" y="6000"/>
                </a:moveTo>
                <a:cubicBezTo>
                  <a:pt x="11739" y="3349"/>
                  <a:pt x="13421" y="1200"/>
                  <a:pt x="15496" y="1200"/>
                </a:cubicBezTo>
                <a:cubicBezTo>
                  <a:pt x="17570" y="1200"/>
                  <a:pt x="19252" y="3349"/>
                  <a:pt x="19252" y="6000"/>
                </a:cubicBezTo>
                <a:cubicBezTo>
                  <a:pt x="19252" y="8651"/>
                  <a:pt x="17570" y="10800"/>
                  <a:pt x="15496" y="10800"/>
                </a:cubicBezTo>
                <a:cubicBezTo>
                  <a:pt x="13421" y="10800"/>
                  <a:pt x="11739" y="8651"/>
                  <a:pt x="11739" y="6000"/>
                </a:cubicBezTo>
                <a:close/>
                <a:moveTo>
                  <a:pt x="3324" y="15896"/>
                </a:moveTo>
                <a:cubicBezTo>
                  <a:pt x="2477" y="16858"/>
                  <a:pt x="1878" y="18325"/>
                  <a:pt x="1878" y="20400"/>
                </a:cubicBezTo>
                <a:cubicBezTo>
                  <a:pt x="1878" y="21062"/>
                  <a:pt x="1458" y="21600"/>
                  <a:pt x="939" y="21600"/>
                </a:cubicBezTo>
                <a:cubicBezTo>
                  <a:pt x="421" y="21600"/>
                  <a:pt x="0" y="21062"/>
                  <a:pt x="0" y="20400"/>
                </a:cubicBezTo>
                <a:cubicBezTo>
                  <a:pt x="0" y="17675"/>
                  <a:pt x="810" y="15542"/>
                  <a:pt x="2076" y="14102"/>
                </a:cubicBezTo>
                <a:cubicBezTo>
                  <a:pt x="3325" y="12684"/>
                  <a:pt x="4965" y="12000"/>
                  <a:pt x="6574" y="12000"/>
                </a:cubicBezTo>
                <a:cubicBezTo>
                  <a:pt x="8183" y="12000"/>
                  <a:pt x="9822" y="12684"/>
                  <a:pt x="11071" y="14102"/>
                </a:cubicBezTo>
                <a:cubicBezTo>
                  <a:pt x="12338" y="15542"/>
                  <a:pt x="13148" y="17675"/>
                  <a:pt x="13148" y="20400"/>
                </a:cubicBezTo>
                <a:cubicBezTo>
                  <a:pt x="13148" y="21062"/>
                  <a:pt x="12727" y="21600"/>
                  <a:pt x="12209" y="21600"/>
                </a:cubicBezTo>
                <a:cubicBezTo>
                  <a:pt x="11690" y="21600"/>
                  <a:pt x="11270" y="21062"/>
                  <a:pt x="11270" y="20400"/>
                </a:cubicBezTo>
                <a:cubicBezTo>
                  <a:pt x="11270" y="18325"/>
                  <a:pt x="10670" y="16858"/>
                  <a:pt x="9824" y="15896"/>
                </a:cubicBezTo>
                <a:cubicBezTo>
                  <a:pt x="8960" y="14916"/>
                  <a:pt x="7783" y="14400"/>
                  <a:pt x="6574" y="14400"/>
                </a:cubicBezTo>
                <a:cubicBezTo>
                  <a:pt x="5365" y="14400"/>
                  <a:pt x="4188" y="14916"/>
                  <a:pt x="3324" y="15896"/>
                </a:cubicBezTo>
                <a:close/>
                <a:moveTo>
                  <a:pt x="18122" y="15168"/>
                </a:moveTo>
                <a:cubicBezTo>
                  <a:pt x="17175" y="14402"/>
                  <a:pt x="15927" y="14200"/>
                  <a:pt x="14811" y="14602"/>
                </a:cubicBezTo>
                <a:cubicBezTo>
                  <a:pt x="14312" y="14782"/>
                  <a:pt x="13793" y="14411"/>
                  <a:pt x="13653" y="13772"/>
                </a:cubicBezTo>
                <a:cubicBezTo>
                  <a:pt x="13512" y="13134"/>
                  <a:pt x="13802" y="12472"/>
                  <a:pt x="14302" y="12292"/>
                </a:cubicBezTo>
                <a:cubicBezTo>
                  <a:pt x="15894" y="11718"/>
                  <a:pt x="17698" y="11986"/>
                  <a:pt x="19125" y="13139"/>
                </a:cubicBezTo>
                <a:cubicBezTo>
                  <a:pt x="20589" y="14320"/>
                  <a:pt x="21600" y="16387"/>
                  <a:pt x="21600" y="19200"/>
                </a:cubicBezTo>
                <a:cubicBezTo>
                  <a:pt x="21600" y="19862"/>
                  <a:pt x="21179" y="20400"/>
                  <a:pt x="20661" y="20400"/>
                </a:cubicBezTo>
                <a:cubicBezTo>
                  <a:pt x="20142" y="20400"/>
                  <a:pt x="19722" y="19862"/>
                  <a:pt x="19722" y="19200"/>
                </a:cubicBezTo>
                <a:cubicBezTo>
                  <a:pt x="19722" y="17202"/>
                  <a:pt x="19034" y="15905"/>
                  <a:pt x="18122" y="15168"/>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5" name="Google Shape;1512;p103">
            <a:extLst xmlns:a="http://schemas.openxmlformats.org/drawingml/2006/main">
              <a:ext uri="{FF2B5EF4-FFF2-40B4-BE49-F238E27FC236}">
                <a16:creationId xmlns:a16="http://schemas.microsoft.com/office/drawing/2014/main" id="{D015E4E0-1777-A560-A6C2-AEDA1FADFC50}"/>
              </a:ext>
            </a:extLst>
          </p:cNvPr>
          <p:cNvSpPr>
            <a:spLocks xmlns:a="http://schemas.openxmlformats.org/drawingml/2006/main" noGrp="1"/>
          </p:cNvSpPr>
          <p:nvPr/>
        </p:nvSpPr>
        <p:spPr>
          <a:xfrm xmlns:a="http://schemas.openxmlformats.org/drawingml/2006/main">
            <a:off x="4291936" y="4025768"/>
            <a:ext cx="305570" cy="338652"/>
          </a:xfrm>
          <a:custGeom xmlns:a="http://schemas.openxmlformats.org/drawingml/2006/main">
            <a:rect l="l" t="t" r="r" b="b"/>
            <a:pathLst>
              <a:path w="21538" h="21553">
                <a:moveTo>
                  <a:pt x="10897" y="543"/>
                </a:moveTo>
                <a:cubicBezTo>
                  <a:pt x="11135" y="165"/>
                  <a:pt x="11603" y="-46"/>
                  <a:pt x="12081" y="8"/>
                </a:cubicBezTo>
                <a:lnTo>
                  <a:pt x="12622" y="69"/>
                </a:lnTo>
                <a:cubicBezTo>
                  <a:pt x="15566" y="401"/>
                  <a:pt x="17464" y="3053"/>
                  <a:pt x="16592" y="5614"/>
                </a:cubicBezTo>
                <a:lnTo>
                  <a:pt x="15932" y="7551"/>
                </a:lnTo>
                <a:cubicBezTo>
                  <a:pt x="16337" y="7557"/>
                  <a:pt x="16701" y="7570"/>
                  <a:pt x="17029" y="7593"/>
                </a:cubicBezTo>
                <a:cubicBezTo>
                  <a:pt x="17750" y="7644"/>
                  <a:pt x="18413" y="7753"/>
                  <a:pt x="19016" y="8039"/>
                </a:cubicBezTo>
                <a:cubicBezTo>
                  <a:pt x="20257" y="8629"/>
                  <a:pt x="21148" y="9683"/>
                  <a:pt x="21451" y="10920"/>
                </a:cubicBezTo>
                <a:cubicBezTo>
                  <a:pt x="21599" y="11520"/>
                  <a:pt x="21541" y="12127"/>
                  <a:pt x="21406" y="12769"/>
                </a:cubicBezTo>
                <a:cubicBezTo>
                  <a:pt x="21273" y="13395"/>
                  <a:pt x="21043" y="14161"/>
                  <a:pt x="20759" y="15099"/>
                </a:cubicBezTo>
                <a:lnTo>
                  <a:pt x="20202" y="16946"/>
                </a:lnTo>
                <a:cubicBezTo>
                  <a:pt x="20181" y="17013"/>
                  <a:pt x="20161" y="17078"/>
                  <a:pt x="20142" y="17143"/>
                </a:cubicBezTo>
                <a:cubicBezTo>
                  <a:pt x="19789" y="18315"/>
                  <a:pt x="19524" y="19196"/>
                  <a:pt x="18943" y="19876"/>
                </a:cubicBezTo>
                <a:cubicBezTo>
                  <a:pt x="18432" y="20473"/>
                  <a:pt x="17757" y="20939"/>
                  <a:pt x="16986" y="21226"/>
                </a:cubicBezTo>
                <a:cubicBezTo>
                  <a:pt x="16107" y="21554"/>
                  <a:pt x="15095" y="21553"/>
                  <a:pt x="13750" y="21552"/>
                </a:cubicBezTo>
                <a:cubicBezTo>
                  <a:pt x="11456" y="21551"/>
                  <a:pt x="9164" y="21552"/>
                  <a:pt x="6872" y="21552"/>
                </a:cubicBezTo>
                <a:cubicBezTo>
                  <a:pt x="5911" y="21552"/>
                  <a:pt x="5118" y="21552"/>
                  <a:pt x="4472" y="21505"/>
                </a:cubicBezTo>
                <a:cubicBezTo>
                  <a:pt x="3802" y="21455"/>
                  <a:pt x="3185" y="21349"/>
                  <a:pt x="2606" y="21082"/>
                </a:cubicBezTo>
                <a:cubicBezTo>
                  <a:pt x="1708" y="20669"/>
                  <a:pt x="979" y="20010"/>
                  <a:pt x="520" y="19199"/>
                </a:cubicBezTo>
                <a:cubicBezTo>
                  <a:pt x="226" y="18676"/>
                  <a:pt x="108" y="18119"/>
                  <a:pt x="53" y="17513"/>
                </a:cubicBezTo>
                <a:cubicBezTo>
                  <a:pt x="0" y="16930"/>
                  <a:pt x="0" y="16214"/>
                  <a:pt x="0" y="15346"/>
                </a:cubicBezTo>
                <a:lnTo>
                  <a:pt x="0" y="12931"/>
                </a:lnTo>
                <a:cubicBezTo>
                  <a:pt x="0" y="12881"/>
                  <a:pt x="0" y="12832"/>
                  <a:pt x="0" y="12783"/>
                </a:cubicBezTo>
                <a:cubicBezTo>
                  <a:pt x="0" y="11926"/>
                  <a:pt x="-1" y="11289"/>
                  <a:pt x="162" y="10738"/>
                </a:cubicBezTo>
                <a:cubicBezTo>
                  <a:pt x="604" y="9250"/>
                  <a:pt x="1890" y="8088"/>
                  <a:pt x="3538" y="7690"/>
                </a:cubicBezTo>
                <a:cubicBezTo>
                  <a:pt x="4148" y="7542"/>
                  <a:pt x="4853" y="7542"/>
                  <a:pt x="5803" y="7543"/>
                </a:cubicBezTo>
                <a:cubicBezTo>
                  <a:pt x="5857" y="7543"/>
                  <a:pt x="5911" y="7543"/>
                  <a:pt x="5966" y="7543"/>
                </a:cubicBezTo>
                <a:cubicBezTo>
                  <a:pt x="6277" y="7543"/>
                  <a:pt x="6562" y="7393"/>
                  <a:pt x="6716" y="7150"/>
                </a:cubicBezTo>
                <a:lnTo>
                  <a:pt x="10897" y="543"/>
                </a:lnTo>
                <a:close/>
                <a:moveTo>
                  <a:pt x="5407" y="19388"/>
                </a:moveTo>
                <a:cubicBezTo>
                  <a:pt x="5204" y="19068"/>
                  <a:pt x="5044" y="18723"/>
                  <a:pt x="4935" y="18357"/>
                </a:cubicBezTo>
                <a:cubicBezTo>
                  <a:pt x="4772" y="17806"/>
                  <a:pt x="4773" y="17169"/>
                  <a:pt x="4773" y="16312"/>
                </a:cubicBezTo>
                <a:cubicBezTo>
                  <a:pt x="4773" y="16264"/>
                  <a:pt x="4773" y="16214"/>
                  <a:pt x="4773" y="16164"/>
                </a:cubicBezTo>
                <a:lnTo>
                  <a:pt x="4773" y="9709"/>
                </a:lnTo>
                <a:cubicBezTo>
                  <a:pt x="4466" y="9719"/>
                  <a:pt x="4297" y="9737"/>
                  <a:pt x="4155" y="9772"/>
                </a:cubicBezTo>
                <a:cubicBezTo>
                  <a:pt x="3332" y="9971"/>
                  <a:pt x="2689" y="10552"/>
                  <a:pt x="2468" y="11296"/>
                </a:cubicBezTo>
                <a:cubicBezTo>
                  <a:pt x="2397" y="11535"/>
                  <a:pt x="2387" y="11860"/>
                  <a:pt x="2387" y="12931"/>
                </a:cubicBezTo>
                <a:lnTo>
                  <a:pt x="2387" y="15302"/>
                </a:lnTo>
                <a:cubicBezTo>
                  <a:pt x="2387" y="16225"/>
                  <a:pt x="2388" y="16853"/>
                  <a:pt x="2432" y="17338"/>
                </a:cubicBezTo>
                <a:cubicBezTo>
                  <a:pt x="2474" y="17810"/>
                  <a:pt x="2551" y="18052"/>
                  <a:pt x="2647" y="18220"/>
                </a:cubicBezTo>
                <a:cubicBezTo>
                  <a:pt x="2876" y="18626"/>
                  <a:pt x="3241" y="18955"/>
                  <a:pt x="3690" y="19162"/>
                </a:cubicBezTo>
                <a:cubicBezTo>
                  <a:pt x="3877" y="19248"/>
                  <a:pt x="4144" y="19318"/>
                  <a:pt x="4667" y="19356"/>
                </a:cubicBezTo>
                <a:cubicBezTo>
                  <a:pt x="4884" y="19372"/>
                  <a:pt x="5128" y="19382"/>
                  <a:pt x="5407" y="19388"/>
                </a:cubicBezTo>
                <a:close/>
                <a:moveTo>
                  <a:pt x="7160" y="9493"/>
                </a:moveTo>
                <a:lnTo>
                  <a:pt x="7160" y="16164"/>
                </a:lnTo>
                <a:cubicBezTo>
                  <a:pt x="7160" y="17236"/>
                  <a:pt x="7170" y="17560"/>
                  <a:pt x="7241" y="17799"/>
                </a:cubicBezTo>
                <a:cubicBezTo>
                  <a:pt x="7462" y="18543"/>
                  <a:pt x="8105" y="19124"/>
                  <a:pt x="8928" y="19324"/>
                </a:cubicBezTo>
                <a:cubicBezTo>
                  <a:pt x="9194" y="19388"/>
                  <a:pt x="9553" y="19397"/>
                  <a:pt x="10739" y="19397"/>
                </a:cubicBezTo>
                <a:lnTo>
                  <a:pt x="13524" y="19397"/>
                </a:lnTo>
                <a:cubicBezTo>
                  <a:pt x="15200" y="19397"/>
                  <a:pt x="15691" y="19377"/>
                  <a:pt x="16076" y="19234"/>
                </a:cubicBezTo>
                <a:cubicBezTo>
                  <a:pt x="16461" y="19090"/>
                  <a:pt x="16799" y="18857"/>
                  <a:pt x="17054" y="18559"/>
                </a:cubicBezTo>
                <a:cubicBezTo>
                  <a:pt x="17307" y="18262"/>
                  <a:pt x="17458" y="17839"/>
                  <a:pt x="17899" y="16379"/>
                </a:cubicBezTo>
                <a:lnTo>
                  <a:pt x="18444" y="14575"/>
                </a:lnTo>
                <a:cubicBezTo>
                  <a:pt x="18744" y="13583"/>
                  <a:pt x="18949" y="12899"/>
                  <a:pt x="19061" y="12366"/>
                </a:cubicBezTo>
                <a:cubicBezTo>
                  <a:pt x="19172" y="11837"/>
                  <a:pt x="19166" y="11567"/>
                  <a:pt x="19122" y="11387"/>
                </a:cubicBezTo>
                <a:cubicBezTo>
                  <a:pt x="18970" y="10768"/>
                  <a:pt x="18524" y="10241"/>
                  <a:pt x="17904" y="9946"/>
                </a:cubicBezTo>
                <a:cubicBezTo>
                  <a:pt x="17722" y="9860"/>
                  <a:pt x="17436" y="9783"/>
                  <a:pt x="16842" y="9741"/>
                </a:cubicBezTo>
                <a:cubicBezTo>
                  <a:pt x="16243" y="9699"/>
                  <a:pt x="15457" y="9698"/>
                  <a:pt x="14319" y="9698"/>
                </a:cubicBezTo>
                <a:cubicBezTo>
                  <a:pt x="13941" y="9698"/>
                  <a:pt x="13584" y="9536"/>
                  <a:pt x="13360" y="9261"/>
                </a:cubicBezTo>
                <a:cubicBezTo>
                  <a:pt x="13134" y="8986"/>
                  <a:pt x="13067" y="8631"/>
                  <a:pt x="13178" y="8304"/>
                </a:cubicBezTo>
                <a:lnTo>
                  <a:pt x="14311" y="4980"/>
                </a:lnTo>
                <a:cubicBezTo>
                  <a:pt x="14722" y="3771"/>
                  <a:pt x="13900" y="2522"/>
                  <a:pt x="12567" y="2246"/>
                </a:cubicBezTo>
                <a:lnTo>
                  <a:pt x="8787" y="8220"/>
                </a:lnTo>
                <a:cubicBezTo>
                  <a:pt x="8415" y="8808"/>
                  <a:pt x="7836" y="9252"/>
                  <a:pt x="7160" y="949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8" name="Google Shape;1266;p99">
            <a:extLst xmlns:a="http://schemas.openxmlformats.org/drawingml/2006/main">
              <a:ext uri="{FF2B5EF4-FFF2-40B4-BE49-F238E27FC236}">
                <a16:creationId xmlns:a16="http://schemas.microsoft.com/office/drawing/2014/main" id="{A7463D0C-45D0-FAD2-0C32-032165767122}"/>
              </a:ext>
            </a:extLst>
          </p:cNvPr>
          <p:cNvSpPr>
            <a:spLocks xmlns:a="http://schemas.openxmlformats.org/drawingml/2006/main" noGrp="1"/>
          </p:cNvSpPr>
          <p:nvPr/>
        </p:nvSpPr>
        <p:spPr>
          <a:xfrm xmlns:a="http://schemas.openxmlformats.org/drawingml/2006/main">
            <a:off x="8234485" y="4029083"/>
            <a:ext cx="321663" cy="321771"/>
          </a:xfrm>
          <a:custGeom xmlns:a="http://schemas.openxmlformats.org/drawingml/2006/main">
            <a:rect l="l" t="t" r="r" b="b"/>
            <a:pathLst>
              <a:path w="21599" h="21599">
                <a:moveTo>
                  <a:pt x="6252" y="0"/>
                </a:moveTo>
                <a:cubicBezTo>
                  <a:pt x="6880" y="0"/>
                  <a:pt x="7389" y="509"/>
                  <a:pt x="7389" y="1137"/>
                </a:cubicBezTo>
                <a:lnTo>
                  <a:pt x="14210" y="1137"/>
                </a:lnTo>
                <a:cubicBezTo>
                  <a:pt x="14210" y="509"/>
                  <a:pt x="14719" y="0"/>
                  <a:pt x="15347" y="0"/>
                </a:cubicBezTo>
                <a:cubicBezTo>
                  <a:pt x="15974" y="0"/>
                  <a:pt x="16483" y="509"/>
                  <a:pt x="16483" y="1137"/>
                </a:cubicBezTo>
                <a:lnTo>
                  <a:pt x="16483" y="1146"/>
                </a:lnTo>
                <a:cubicBezTo>
                  <a:pt x="16839" y="1155"/>
                  <a:pt x="17162" y="1170"/>
                  <a:pt x="17456" y="1197"/>
                </a:cubicBezTo>
                <a:cubicBezTo>
                  <a:pt x="18049" y="1254"/>
                  <a:pt x="18598" y="1369"/>
                  <a:pt x="19116" y="1632"/>
                </a:cubicBezTo>
                <a:cubicBezTo>
                  <a:pt x="19972" y="2068"/>
                  <a:pt x="20668" y="2764"/>
                  <a:pt x="21103" y="3620"/>
                </a:cubicBezTo>
                <a:cubicBezTo>
                  <a:pt x="21384" y="4171"/>
                  <a:pt x="21497" y="4759"/>
                  <a:pt x="21549" y="5397"/>
                </a:cubicBezTo>
                <a:cubicBezTo>
                  <a:pt x="21599" y="6012"/>
                  <a:pt x="21599" y="6768"/>
                  <a:pt x="21599" y="7684"/>
                </a:cubicBezTo>
                <a:lnTo>
                  <a:pt x="21599" y="13655"/>
                </a:lnTo>
                <a:cubicBezTo>
                  <a:pt x="21599" y="13694"/>
                  <a:pt x="21599" y="13732"/>
                  <a:pt x="21599" y="13771"/>
                </a:cubicBezTo>
                <a:cubicBezTo>
                  <a:pt x="21599" y="14493"/>
                  <a:pt x="21600" y="15037"/>
                  <a:pt x="21473" y="15564"/>
                </a:cubicBezTo>
                <a:cubicBezTo>
                  <a:pt x="21361" y="16027"/>
                  <a:pt x="21178" y="16471"/>
                  <a:pt x="20929" y="16878"/>
                </a:cubicBezTo>
                <a:cubicBezTo>
                  <a:pt x="20646" y="17339"/>
                  <a:pt x="20261" y="17725"/>
                  <a:pt x="19749" y="18235"/>
                </a:cubicBezTo>
                <a:cubicBezTo>
                  <a:pt x="19723" y="18262"/>
                  <a:pt x="19696" y="18290"/>
                  <a:pt x="19667" y="18317"/>
                </a:cubicBezTo>
                <a:lnTo>
                  <a:pt x="18317" y="19667"/>
                </a:lnTo>
                <a:cubicBezTo>
                  <a:pt x="18290" y="19696"/>
                  <a:pt x="18262" y="19723"/>
                  <a:pt x="18235" y="19749"/>
                </a:cubicBezTo>
                <a:cubicBezTo>
                  <a:pt x="17725" y="20260"/>
                  <a:pt x="17339" y="20646"/>
                  <a:pt x="16878" y="20929"/>
                </a:cubicBezTo>
                <a:cubicBezTo>
                  <a:pt x="16471" y="21178"/>
                  <a:pt x="16027" y="21361"/>
                  <a:pt x="15564" y="21473"/>
                </a:cubicBezTo>
                <a:cubicBezTo>
                  <a:pt x="15037" y="21600"/>
                  <a:pt x="14493" y="21599"/>
                  <a:pt x="13771" y="21599"/>
                </a:cubicBezTo>
                <a:cubicBezTo>
                  <a:pt x="13732" y="21599"/>
                  <a:pt x="13694" y="21599"/>
                  <a:pt x="13655" y="21599"/>
                </a:cubicBezTo>
                <a:lnTo>
                  <a:pt x="6547" y="21599"/>
                </a:lnTo>
                <a:cubicBezTo>
                  <a:pt x="5632" y="21599"/>
                  <a:pt x="4876" y="21599"/>
                  <a:pt x="4261" y="21549"/>
                </a:cubicBezTo>
                <a:cubicBezTo>
                  <a:pt x="3622" y="21497"/>
                  <a:pt x="3034" y="21384"/>
                  <a:pt x="2483" y="21103"/>
                </a:cubicBezTo>
                <a:cubicBezTo>
                  <a:pt x="1627" y="20668"/>
                  <a:pt x="931" y="19972"/>
                  <a:pt x="496" y="19116"/>
                </a:cubicBezTo>
                <a:cubicBezTo>
                  <a:pt x="215" y="18565"/>
                  <a:pt x="102" y="17977"/>
                  <a:pt x="50" y="17338"/>
                </a:cubicBezTo>
                <a:cubicBezTo>
                  <a:pt x="0" y="16723"/>
                  <a:pt x="0" y="15967"/>
                  <a:pt x="0" y="15052"/>
                </a:cubicBezTo>
                <a:lnTo>
                  <a:pt x="0" y="7684"/>
                </a:lnTo>
                <a:cubicBezTo>
                  <a:pt x="0" y="6768"/>
                  <a:pt x="0" y="6012"/>
                  <a:pt x="50" y="5397"/>
                </a:cubicBezTo>
                <a:cubicBezTo>
                  <a:pt x="102" y="4759"/>
                  <a:pt x="215" y="4171"/>
                  <a:pt x="496" y="3620"/>
                </a:cubicBezTo>
                <a:cubicBezTo>
                  <a:pt x="931" y="2764"/>
                  <a:pt x="1627" y="2068"/>
                  <a:pt x="2483" y="1632"/>
                </a:cubicBezTo>
                <a:cubicBezTo>
                  <a:pt x="3001" y="1369"/>
                  <a:pt x="3550" y="1254"/>
                  <a:pt x="4142" y="1197"/>
                </a:cubicBezTo>
                <a:cubicBezTo>
                  <a:pt x="4437" y="1170"/>
                  <a:pt x="4760" y="1155"/>
                  <a:pt x="5116" y="1146"/>
                </a:cubicBezTo>
                <a:lnTo>
                  <a:pt x="5116" y="1137"/>
                </a:lnTo>
                <a:cubicBezTo>
                  <a:pt x="5116" y="509"/>
                  <a:pt x="5625" y="0"/>
                  <a:pt x="6252" y="0"/>
                </a:cubicBezTo>
                <a:close/>
                <a:moveTo>
                  <a:pt x="5116" y="3421"/>
                </a:moveTo>
                <a:cubicBezTo>
                  <a:pt x="4822" y="3427"/>
                  <a:pt x="4576" y="3440"/>
                  <a:pt x="4358" y="3460"/>
                </a:cubicBezTo>
                <a:cubicBezTo>
                  <a:pt x="3916" y="3502"/>
                  <a:pt x="3681" y="3573"/>
                  <a:pt x="3515" y="3658"/>
                </a:cubicBezTo>
                <a:cubicBezTo>
                  <a:pt x="3088" y="3876"/>
                  <a:pt x="2740" y="4224"/>
                  <a:pt x="2521" y="4652"/>
                </a:cubicBezTo>
                <a:cubicBezTo>
                  <a:pt x="2430" y="4829"/>
                  <a:pt x="2357" y="5085"/>
                  <a:pt x="2317" y="5583"/>
                </a:cubicBezTo>
                <a:cubicBezTo>
                  <a:pt x="2275" y="6094"/>
                  <a:pt x="2274" y="6756"/>
                  <a:pt x="2274" y="7730"/>
                </a:cubicBezTo>
                <a:lnTo>
                  <a:pt x="2274" y="15006"/>
                </a:lnTo>
                <a:cubicBezTo>
                  <a:pt x="2274" y="15980"/>
                  <a:pt x="2275" y="16641"/>
                  <a:pt x="2317" y="17153"/>
                </a:cubicBezTo>
                <a:cubicBezTo>
                  <a:pt x="2357" y="17651"/>
                  <a:pt x="2430" y="17907"/>
                  <a:pt x="2521" y="18084"/>
                </a:cubicBezTo>
                <a:cubicBezTo>
                  <a:pt x="2740" y="18511"/>
                  <a:pt x="3088" y="18859"/>
                  <a:pt x="3515" y="19077"/>
                </a:cubicBezTo>
                <a:cubicBezTo>
                  <a:pt x="3692" y="19168"/>
                  <a:pt x="3948" y="19242"/>
                  <a:pt x="4446" y="19282"/>
                </a:cubicBezTo>
                <a:cubicBezTo>
                  <a:pt x="4958" y="19324"/>
                  <a:pt x="5619" y="19325"/>
                  <a:pt x="6593" y="19325"/>
                </a:cubicBezTo>
                <a:lnTo>
                  <a:pt x="13073" y="19325"/>
                </a:lnTo>
                <a:lnTo>
                  <a:pt x="13073" y="18189"/>
                </a:lnTo>
                <a:cubicBezTo>
                  <a:pt x="13073" y="15677"/>
                  <a:pt x="15109" y="13641"/>
                  <a:pt x="17620" y="13641"/>
                </a:cubicBezTo>
                <a:lnTo>
                  <a:pt x="18757" y="13641"/>
                </a:lnTo>
                <a:cubicBezTo>
                  <a:pt x="18964" y="13641"/>
                  <a:pt x="19158" y="13697"/>
                  <a:pt x="19325" y="13794"/>
                </a:cubicBezTo>
                <a:cubicBezTo>
                  <a:pt x="19325" y="13749"/>
                  <a:pt x="19325" y="13703"/>
                  <a:pt x="19325" y="13655"/>
                </a:cubicBezTo>
                <a:lnTo>
                  <a:pt x="19325" y="7730"/>
                </a:lnTo>
                <a:cubicBezTo>
                  <a:pt x="19325" y="6756"/>
                  <a:pt x="19324" y="6094"/>
                  <a:pt x="19282" y="5583"/>
                </a:cubicBezTo>
                <a:cubicBezTo>
                  <a:pt x="19242" y="5085"/>
                  <a:pt x="19168" y="4829"/>
                  <a:pt x="19077" y="4652"/>
                </a:cubicBezTo>
                <a:cubicBezTo>
                  <a:pt x="18859" y="4224"/>
                  <a:pt x="18511" y="3876"/>
                  <a:pt x="18084" y="3658"/>
                </a:cubicBezTo>
                <a:cubicBezTo>
                  <a:pt x="17918" y="3573"/>
                  <a:pt x="17683" y="3502"/>
                  <a:pt x="17240" y="3460"/>
                </a:cubicBezTo>
                <a:cubicBezTo>
                  <a:pt x="17023" y="3440"/>
                  <a:pt x="16777" y="3427"/>
                  <a:pt x="16483" y="3421"/>
                </a:cubicBezTo>
                <a:lnTo>
                  <a:pt x="16483" y="4547"/>
                </a:lnTo>
                <a:cubicBezTo>
                  <a:pt x="16483" y="5175"/>
                  <a:pt x="15974" y="5684"/>
                  <a:pt x="15347" y="5684"/>
                </a:cubicBezTo>
                <a:cubicBezTo>
                  <a:pt x="14719" y="5684"/>
                  <a:pt x="14210" y="5175"/>
                  <a:pt x="14210" y="4547"/>
                </a:cubicBezTo>
                <a:lnTo>
                  <a:pt x="14210" y="3410"/>
                </a:lnTo>
                <a:lnTo>
                  <a:pt x="7389" y="3410"/>
                </a:lnTo>
                <a:lnTo>
                  <a:pt x="7389" y="4547"/>
                </a:lnTo>
                <a:cubicBezTo>
                  <a:pt x="7389" y="5175"/>
                  <a:pt x="6880" y="5684"/>
                  <a:pt x="6252" y="5684"/>
                </a:cubicBezTo>
                <a:cubicBezTo>
                  <a:pt x="5625" y="5684"/>
                  <a:pt x="5116" y="5175"/>
                  <a:pt x="5116" y="4547"/>
                </a:cubicBezTo>
                <a:lnTo>
                  <a:pt x="5116" y="3421"/>
                </a:lnTo>
                <a:close/>
                <a:moveTo>
                  <a:pt x="18827" y="15913"/>
                </a:moveTo>
                <a:cubicBezTo>
                  <a:pt x="18804" y="15914"/>
                  <a:pt x="18781" y="15915"/>
                  <a:pt x="18757" y="15915"/>
                </a:cubicBezTo>
                <a:lnTo>
                  <a:pt x="17620" y="15915"/>
                </a:lnTo>
                <a:cubicBezTo>
                  <a:pt x="16364" y="15915"/>
                  <a:pt x="15347" y="16932"/>
                  <a:pt x="15347" y="18189"/>
                </a:cubicBezTo>
                <a:lnTo>
                  <a:pt x="15347" y="19163"/>
                </a:lnTo>
                <a:cubicBezTo>
                  <a:pt x="15466" y="19115"/>
                  <a:pt x="15581" y="19057"/>
                  <a:pt x="15690" y="18990"/>
                </a:cubicBezTo>
                <a:cubicBezTo>
                  <a:pt x="15893" y="18866"/>
                  <a:pt x="16081" y="18689"/>
                  <a:pt x="16710" y="18060"/>
                </a:cubicBezTo>
                <a:lnTo>
                  <a:pt x="18060" y="16710"/>
                </a:lnTo>
                <a:cubicBezTo>
                  <a:pt x="18472" y="16297"/>
                  <a:pt x="18690" y="16074"/>
                  <a:pt x="18827" y="15913"/>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300"/>
              <a:buFont typeface="Arial"/>
              <a:buNone/>
            </a:pPr>
            <a:endParaRPr sz="4300" b="0" i="0" u="none" cap="none">
              <a:solidFill>
                <a:srgbClr val="FFFFFF"/>
              </a:solidFill>
              <a:latin typeface="Arial"/>
              <a:ea typeface="Arial"/>
              <a:cs typeface="Arial"/>
            </a:endParaRPr>
          </a:p>
        </p:txBody>
      </p:sp>
      <p:sp>
        <p:nvSpPr>
          <p:cNvPr id="19" name="Footer Placeholder 18">
            <a:extLst xmlns:a="http://schemas.openxmlformats.org/drawingml/2006/main">
              <a:ext uri="{FF2B5EF4-FFF2-40B4-BE49-F238E27FC236}">
                <a16:creationId xmlns:a16="http://schemas.microsoft.com/office/drawing/2014/main" id="{A7C685AE-794E-F9C0-C7B3-7E956842DD9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Slide Number Placeholder 6">
            <a:extLst xmlns:a="http://schemas.openxmlformats.org/drawingml/2006/main">
              <a:ext uri="{FF2B5EF4-FFF2-40B4-BE49-F238E27FC236}">
                <a16:creationId xmlns:a16="http://schemas.microsoft.com/office/drawing/2014/main" id="{9892F439-FAFA-E9E4-AA65-F7A04500A779}"/>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14</a:t>
            </a:fld>
            <a:endParaRPr sz="1100"/>
          </a:p>
        </p:txBody>
      </p:sp>
    </p:spTree>
    <p:extLst>
      <p:ext uri="{BB962C8B-B14F-4D97-AF65-F5344CB8AC3E}">
        <p14:creationId xmlns:p14="http://schemas.microsoft.com/office/powerpoint/2010/main" val="23421051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is this AI rather than ordinary rules?</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It combines an unsupervised model, evidence retrieval and a stateful tool workflow. Rules remain where safety and explainability matter.</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combine machine learning and deterministic methods?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ML broadens anomaly detection. Deterministic tools expose formulas, thresholds and evidence that operators can defend.</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was the model trained and evaluated?</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Isolation Forest fits historical behavior without fraud labels. Scenario tests and held-out labels evaluate behavior. Production calibration remains pilot work.</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Judge Q&amp;A | 1 of 5</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do you reduce false positives?</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The workflow checks quality, seasonal history, peers, topology and scope before recommending action. Uncertainty remains visible.</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do you prevent data leakage?</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Baselines and peers use pre-event readings only. Evaluation labels live outside the runtime data available to tools.</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Answer directly. State the implemented boundary, then explain the production path.</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use RAG?</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It adds cited technical context without retraining the system or hiding the source.</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Is feature hashing semantic retrieval?</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No. It is a reproducible lexical-feature baseline for offline demonstration. A production semantic embedding provider is on the roadmap.</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if RAG retrieves an irrelevant passage?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Relevance thresholds, visible citations and a no-result state limit the impact. Retrieved text cannot overwrite numerical evidence.</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Judge Q&amp;A | 2 of 5</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Can the LLM hallucinate numbers?</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Validation prevents the LLM from being the sole source of numerical answers. Deterministic tools own calculations, and the LLM is optional.</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not fine-tune a model?</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The prototype needs traceable facts and repeatability more than new model behavior. Retrieval and typed tools are easier to audit and update.</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Answer directly. State the implemented boundary, then explain the production path.</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happens when the weather API fails?</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The client uses a timeout, one retry and a cache. Failure becomes a controlled Unknown while safe investigation steps continue.</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PostgreSQL and pgvector?</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PostgreSQL gives transactions and relational integrity. pgvector keeps retrieval data close to the audit record.</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Why a modular monolith?</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It keeps early deployment and transactions simple while preserving clear modules that can separate when scale requires it.</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Judge Q&amp;A | 3 of 5</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would this scale to millions of meters?</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Add partitioned time-series storage, streaming ingestion, queues, workers and horizontal services. The prototype proves workflow logic, not that scale.</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happens if the database fails?</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The workflow stops because it cannot preserve the audit history. Health checks return a sanitized failure rather than pretending the run succeeded.</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Answer directly. State the implemented boundary, then explain the production path.</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do you protect customer privacy?</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The demo uses synthetic data. Production needs data minimization, encryption, access control, retention rules and a customer security review.</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secure is it today?</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Input validation, sanitized errors and approval gates exist. Authentication, RBAC, secrets management and security testing remain production work.</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Does it accuse customers of fraud?</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No. An anomaly is evidence to investigate. The system compares several plausible technical and behavioral explanations.</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Judge Q&amp;A | 4 of 5</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Can it control real equipment?</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No. All actions are simulated. Real integration would require separate authority, controls and utility safety certification.</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proves an action worked?</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A separate policy compares follow-up readings with the pre-event baseline and peers, then resolves, reopens or continues monitoring.</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Answer directly. State the implemented boundary, then explain the production path.</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is still prototype-level?</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Real utility integration, authenticated identities, RBAC, semantic embeddings, production calibration, security hardening and high-scale infrastructure.</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Who would buy it?</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Distribution utilities, operations centers, metering teams, revenue-protection groups and other large smart-meter operators.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would it generate revenue?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Start with a paid pilot, then offer enterprise SaaS or private deployment priced by meters or investigation volume, plus integration services.</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Judge Q&amp;A | 5 of 5</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How would you prove ROI?</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Measure investigation time, alert reduction, false positives, resolution time and validated exposure against the customer's current baseline.</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What did the team learn?</a:t>
            </a:r>
          </a:p>
          <a:p xmlns:a="http://schemas.openxmlformats.org/drawingml/2006/main">
            <a:pPr marL="0" indent="0">
              <a:lnSpc>
                <a:spcPct val="114000"/>
              </a:lnSpc>
              <a:spcBef>
                <a:spcPts val="0"/>
              </a:spcBef>
              <a:spcAft>
                <a:spcPts val="800"/>
              </a:spcAft>
              <a:buFont typeface="Arial"/>
              <a:buNone/>
              <a:defRPr sz="1050" b="0">
                <a:solidFill>
                  <a:srgbClr val="08284F"/>
                </a:solidFill>
                <a:latin typeface="Helvetica Neue"/>
                <a:ea typeface="Helvetica Neue"/>
                <a:cs typeface="Helvetica Neue"/>
              </a:defRPr>
            </a:pPr>
            <a:r>
              <a:rPr sz="1050" b="0">
                <a:solidFill>
                  <a:srgbClr val="08284F"/>
                </a:solidFill>
                <a:latin typeface="Helvetica Neue"/>
                <a:ea typeface="Helvetica Neue"/>
                <a:cs typeface="Helvetica Neue"/>
              </a:rPr>
              <a:t>We combined data engineering, ML, RAG, backend APIs, databases, Docker, UI design, testing, observability and responsible AI into one working workflow.</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Answer directly. State the implemented boundary, then explain the production path.</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Internet failure</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Use the local workflow. Only optional weather and external LLM context need a network.</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Weather API failure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Show the controlled Unknown and continue.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Database or API failure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Switch to the local recording. Explain that the workflow stops when it cannot preserve its audit history.</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Slow or unexpected UI</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Use the prepared case-detail tab. Avoid repeated clicks.</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Live demo contingency plan</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Insufficient time</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Show the anomaly, changing hypotheses, human approval and the verification principle.</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Complete demo failure</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Play a 60-90 second recording and answer from saved screenshots.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Prepare these screenshots</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Normal stream</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Anomaly and evidence</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Changing hypotheses</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JOD risk and priority</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Approval and verification</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Keep the sales story moving when a dependency fails. Store every backup on the presentation laptop.</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13D6EE8-7D1B-4117-A9AE-07C8504201F0}"/>
              </a:ext>
            </a:extLst>
          </p:cNvPr>
          <p:cNvSpPr>
            <a:spLocks xmlns:a="http://schemas.openxmlformats.org/drawingml/2006/main" noGrp="1"/>
          </p:cNvSpPr>
          <p:nvPr>
            <p:ph idx="1"/>
          </p:nvPr>
        </p:nvSpPr>
        <p:spPr>
          <a:xfrm xmlns:a="http://schemas.openxmlformats.org/drawingml/2006/main">
            <a:off x="393700"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Evening before</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Run the presentation twice. Target 14:15 to keep buffer. Rehearse both handoffs. Start Docker from a clean state. Run and reset the scenario. Capture the backup recording and screenshots. Confirm the deck and demo work offline. Review the hard Q&amp;A together.</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Presenter ownership</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Presenter 1 owns timing and business value. Presenter 2 owns technical readiness and the live demo.</a:t>
            </a:r>
            <a:endParaRPr sz="1400">
              <a:latin typeface="Helvetica Neue"/>
              <a:ea typeface="Helvetica Neue"/>
              <a:cs typeface="Helvetica Neue"/>
            </a:endParaRPr>
          </a:p>
        </p:txBody>
      </p:sp>
      <p:sp>
        <p:nvSpPr>
          <p:cNvPr id="533" name="Google Shape;533;p58">
            <a:extLst xmlns:a="http://schemas.openxmlformats.org/drawingml/2006/main">
              <a:ext uri="{FF2B5EF4-FFF2-40B4-BE49-F238E27FC236}">
                <a16:creationId xmlns:a16="http://schemas.microsoft.com/office/drawing/2014/main" id="{A23536E5-007B-460D-90E2-7ACF0D091598}"/>
              </a:ext>
            </a:extLst>
          </p:cNvPr>
          <p:cNvSpPr>
            <a:spLocks xmlns:a="http://schemas.openxmlformats.org/drawingml/2006/main" noGrp="1"/>
          </p:cNvSpPr>
          <p:nvPr>
            <p:ph type="title" idx="0"/>
          </p:nvPr>
        </p:nvSpPr>
        <p:spPr>
          <a:xfrm xmlns:a="http://schemas.openxmlformats.org/drawingml/2006/main">
            <a:off x="393700" y="344008"/>
            <a:ext cx="11404600" cy="519593"/>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400" b="0">
                <a:solidFill>
                  <a:srgbClr val="08284F"/>
                </a:solidFill>
                <a:latin typeface="Helvetica Neue"/>
                <a:ea typeface="Helvetica Neue"/>
                <a:cs typeface="Helvetica Neue"/>
              </a:defRPr>
            </a:pPr>
            <a:r>
              <a:rPr sz="2400" b="0">
                <a:solidFill>
                  <a:srgbClr val="08284F"/>
                </a:solidFill>
                <a:latin typeface="Helvetica Neue"/>
                <a:ea typeface="Helvetica Neue"/>
                <a:cs typeface="Helvetica Neue"/>
              </a:rPr>
              <a:t>Rehearsal and presentation checklist</a:t>
            </a:r>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92F29C0-5282-B0D3-9A41-B81C78619DCF}"/>
              </a:ext>
            </a:extLst>
          </p:cNvPr>
          <p:cNvSpPr>
            <a:spLocks xmlns:a="http://schemas.openxmlformats.org/drawingml/2006/main" noGrp="1"/>
          </p:cNvSpPr>
          <p:nvPr/>
        </p:nvSpPr>
        <p:spPr>
          <a:xfrm xmlns:a="http://schemas.openxmlformats.org/drawingml/2006/main">
            <a:off x="6265111" y="2176040"/>
            <a:ext cx="5537200" cy="381835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Morning of the presentation</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Confirm power, display ratio, audio and network. Start Docker Compose and check /api/health. Reset the scenario. Open the deck, browser, case queue and backup files. Disable notifications, updates and sleep. Use 100% browser zoom.</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Five minutes before</a:t>
            </a:r>
          </a:p>
          <a:p xmlns:a="http://schemas.openxmlformats.org/drawingml/2006/main">
            <a:pPr marL="0" indent="0">
              <a:lnSpc>
                <a:spcPct val="114000"/>
              </a:lnSpc>
              <a:spcBef>
                <a:spcPts val="0"/>
              </a:spcBef>
              <a:spcAft>
                <a:spcPts val="800"/>
              </a:spcAft>
              <a:buFont typeface="Arial"/>
              <a:buNone/>
              <a:defRPr sz="1125" b="0">
                <a:solidFill>
                  <a:srgbClr val="08284F"/>
                </a:solidFill>
                <a:latin typeface="Helvetica Neue"/>
                <a:ea typeface="Helvetica Neue"/>
                <a:cs typeface="Helvetica Neue"/>
              </a:defRPr>
            </a:pPr>
            <a:r>
              <a:rPr sz="1125" b="0">
                <a:solidFill>
                  <a:srgbClr val="08284F"/>
                </a:solidFill>
                <a:latin typeface="Helvetica Neue"/>
                <a:ea typeface="Helvetica Neue"/>
                <a:cs typeface="Helvetica Neue"/>
              </a:rPr>
              <a:t>Confirm Ready to demonstrate. Use the operator label Demo Operator. Close unrelated tabs. Place the cursor on Play demonstration stream. Do not change code unless the demo is broken.</a:t>
            </a:r>
          </a:p>
        </p:txBody>
      </p:sp>
      <p:sp>
        <p:nvSpPr>
          <p:cNvPr id="6" name="Content Placeholder 15">
            <a:extLst xmlns:a="http://schemas.openxmlformats.org/drawingml/2006/main">
              <a:ext uri="{FF2B5EF4-FFF2-40B4-BE49-F238E27FC236}">
                <a16:creationId xmlns:a16="http://schemas.microsoft.com/office/drawing/2014/main" id="{3D21D033-8C76-8D5C-A558-DE01C3FB5E5B}"/>
              </a:ext>
            </a:extLst>
          </p:cNvPr>
          <p:cNvSpPr>
            <a:spLocks xmlns:a="http://schemas.openxmlformats.org/drawingml/2006/main" noGrp="1"/>
          </p:cNvSpPr>
          <p:nvPr/>
        </p:nvSpPr>
        <p:spPr>
          <a:xfrm xmlns:a="http://schemas.openxmlformats.org/drawingml/2006/main">
            <a:off x="400939" y="1041400"/>
            <a:ext cx="11404599" cy="84527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275" b="0">
                <a:solidFill>
                  <a:srgbClr val="52677D"/>
                </a:solidFill>
                <a:latin typeface="Helvetica Neue"/>
                <a:ea typeface="Helvetica Neue"/>
                <a:cs typeface="Helvetica Neue"/>
              </a:defRPr>
            </a:pPr>
            <a:r>
              <a:rPr sz="1275" b="0">
                <a:solidFill>
                  <a:srgbClr val="52677D"/>
                </a:solidFill>
                <a:latin typeface="Helvetica Neue"/>
                <a:ea typeface="Helvetica Neue"/>
                <a:cs typeface="Helvetica Neue"/>
              </a:rPr>
              <a:t>Protect the first minute, the demo handoff and the final call to action.</a:t>
            </a:r>
          </a:p>
        </p:txBody>
      </p:sp>
      <p:sp>
        <p:nvSpPr>
          <p:cNvPr id="7" name="Slide Number Placeholder 6">
            <a:extLst xmlns:a="http://schemas.openxmlformats.org/drawingml/2006/main">
              <a:ext uri="{FF2B5EF4-FFF2-40B4-BE49-F238E27FC236}">
                <a16:creationId xmlns:a16="http://schemas.microsoft.com/office/drawing/2014/main" id="{9052B884-F5EA-F39C-367B-9C19F62CC46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Tree>
    <p:extLst>
      <p:ext uri="{BB962C8B-B14F-4D97-AF65-F5344CB8AC3E}">
        <p14:creationId xmlns:p14="http://schemas.microsoft.com/office/powerpoint/2010/main" val="38062571"/>
      </p:ext>
    </p:extLst>
  </p:cSld>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BOT Color Palette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2026-09-29T22:53:17.9750000Z</dcterms:created>
  <dcterms:modified xsi:type="dcterms:W3CDTF">2026-09-29T22:53:17.9750000Z</dcterms:modified>
</coreProperties>
</file>